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09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9CC9CD-E67C-A81E-CD69-C421C4209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71A0980-74E1-9BB3-5F17-52E93898C0D7}"/>
              </a:ext>
            </a:extLst>
          </p:cNvPr>
          <p:cNvSpPr txBox="1">
            <a:spLocks/>
          </p:cNvSpPr>
          <p:nvPr/>
        </p:nvSpPr>
        <p:spPr>
          <a:xfrm>
            <a:off x="5265079" y="2571750"/>
            <a:ext cx="6734175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bg1"/>
                </a:solidFill>
              </a:rPr>
              <a:t>AI-Integrated Multi-Modal Academic Evaluation, Performance Intelligence, and Automated Viva Assessment System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F0B4C-6759-2E42-175D-AC61034D6828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179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Team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660" y="2011958"/>
            <a:ext cx="3490130" cy="12615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565" y="2236788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01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79565" y="2729508"/>
            <a:ext cx="27724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</a:t>
            </a:r>
            <a:r>
              <a:rPr lang="en-US" sz="15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A.M.Senarathna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/ IT22262554]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6214" y="2011958"/>
            <a:ext cx="3539536" cy="12615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2636" y="2236788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02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502636" y="2729508"/>
            <a:ext cx="27724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[L.S.B </a:t>
            </a:r>
            <a:r>
              <a:rPr lang="en-US" sz="15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Hemarathne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/ IT22134776]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660" y="3472954"/>
            <a:ext cx="3490130" cy="12615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79565" y="3697784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03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979565" y="4190504"/>
            <a:ext cx="27724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[Herath B.K.H.M.B.L / IT22557056]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6214" y="3472954"/>
            <a:ext cx="3539536" cy="12615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02636" y="3697784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Member 04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8502636" y="4190504"/>
            <a:ext cx="27724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</a:t>
            </a:r>
            <a:r>
              <a:rPr lang="en-US" sz="15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Wickramarathne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H.I.B / IT22239198]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718D66-0881-B36B-8777-54EC6C94F5BF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62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Gradex AI?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7510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9843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AI-assisted academic assessment across multiple modalities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94985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94985" y="2984302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Written Exams • Viva • Diagrams • Analytics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7510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510" y="4633912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• Subjective • Slow • Limited insights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94985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4985" y="463391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Faster, consistent, context-aware assessment for every student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42FECB-4180-F78D-2B05-ED464A22A600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058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Assessment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1474589"/>
            <a:ext cx="392698" cy="39270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43477" y="1534517"/>
            <a:ext cx="632265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Grading Overload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3477" y="1943894"/>
            <a:ext cx="632265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workload for educators and significantly delayed feedback for students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8086" y="2511028"/>
            <a:ext cx="392698" cy="39270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43477" y="2570956"/>
            <a:ext cx="632265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Viva Inconsistency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3477" y="2980333"/>
            <a:ext cx="632265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Examiner variation and subjective judgment produce unequal outcomes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8086" y="3547467"/>
            <a:ext cx="392698" cy="39270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43477" y="3607395"/>
            <a:ext cx="632265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Diagram Complexity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3477" y="4016772"/>
            <a:ext cx="632265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visual structures are difficult to evaluate objectively at scale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8086" y="4583906"/>
            <a:ext cx="392698" cy="39270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3477" y="4643834"/>
            <a:ext cx="632265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Shallow Analytics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3477" y="5053211"/>
            <a:ext cx="632265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marks alone do not reveal learning gaps or conceptual weaknesses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8086" y="5658445"/>
            <a:ext cx="10795524" cy="638969"/>
          </a:xfrm>
          <a:prstGeom prst="roundRect">
            <a:avLst>
              <a:gd name="adj" fmla="val 4097"/>
            </a:avLst>
          </a:prstGeom>
          <a:solidFill>
            <a:srgbClr val="7906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5879703"/>
            <a:ext cx="218177" cy="1745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65305" y="5854700"/>
            <a:ext cx="10663368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Need:</a:t>
            </a: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Automated + Consistent + Multi-Modal + Data-Driven assessment</a:t>
            </a:r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74CDEA-3574-21A0-CDAE-FC5E1F871409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1877" y="274312"/>
            <a:ext cx="5795862" cy="48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Gap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922" r="7320"/>
          <a:stretch>
            <a:fillRect/>
          </a:stretch>
        </p:blipFill>
        <p:spPr>
          <a:xfrm>
            <a:off x="0" y="0"/>
            <a:ext cx="5949694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913" y="957323"/>
            <a:ext cx="5801043" cy="11592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5244" y="1015391"/>
            <a:ext cx="1995969" cy="302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 Modality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385244" y="1623408"/>
            <a:ext cx="5151149" cy="253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Written </a:t>
            </a:r>
            <a:r>
              <a:rPr lang="en-US" sz="12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Viva </a:t>
            </a:r>
            <a:r>
              <a:rPr lang="en-US" sz="12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Diagram in isolation →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Unified approach needed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915" y="2262776"/>
            <a:ext cx="5801042" cy="12896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2599" y="2359552"/>
            <a:ext cx="325884" cy="33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385244" y="2344979"/>
            <a:ext cx="1712624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Generic LLM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385244" y="2847043"/>
            <a:ext cx="5560724" cy="48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Answer → Score without context →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RAG + Course Context required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913" y="3728912"/>
            <a:ext cx="5800825" cy="13609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85244" y="3825729"/>
            <a:ext cx="2679074" cy="376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Viva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Judgment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385244" y="4467982"/>
            <a:ext cx="4951124" cy="44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Pure observation →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Video + Audio + Speech analysis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6915" y="5213265"/>
            <a:ext cx="5800824" cy="1341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85244" y="5315970"/>
            <a:ext cx="5288029" cy="28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Limited Analytics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6385243" y="5940873"/>
            <a:ext cx="5288029" cy="22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 only →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Bloom + Topics + Learning Gaps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FB20E8-7A4E-B4EE-F740-5EA5B62A5DFD}"/>
              </a:ext>
            </a:extLst>
          </p:cNvPr>
          <p:cNvSpPr/>
          <p:nvPr/>
        </p:nvSpPr>
        <p:spPr>
          <a:xfrm>
            <a:off x="10922480" y="6583688"/>
            <a:ext cx="1227826" cy="248434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5" y="20637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Intelligent Engines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06581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92D05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Written Engine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98086" y="1445916"/>
            <a:ext cx="9360314" cy="8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OCR → RAG → LLM → Score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handwritten answers, retrieves course context, and generates a rubric-aligned score.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97985" y="3755819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92D05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Viva Engine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97985" y="4138107"/>
            <a:ext cx="8283568" cy="86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Whisper + MediaPipe + Audio → Analysis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Transcribes speech, tracks facial cues, and analyses verbal response quality.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98086" y="2394048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92D05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Diagram Engine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698085" y="2770783"/>
            <a:ext cx="10795523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+ OCR → Validation → Grade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components, validates structure, and grades against expected diagram schema.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98086" y="5168945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92D05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Engine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698086" y="5497607"/>
            <a:ext cx="9741314" cy="100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Bloom + Topics → Learning Insights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Maps scores to Bloom's taxonomy levels and surfaces per-topic learning gaps.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6FEF7A-B405-6E12-1920-74A86961F555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3881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307530"/>
            <a:ext cx="6870727" cy="29678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7626" y="4502592"/>
            <a:ext cx="1020175" cy="17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337626" y="4730210"/>
            <a:ext cx="1020175" cy="27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FastAPI, Python, Async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57173" y="4364473"/>
            <a:ext cx="1020175" cy="17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57173" y="4592091"/>
            <a:ext cx="1020175" cy="41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MongoDB, ChromaDB, File Storage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1104" y="2575329"/>
            <a:ext cx="1020175" cy="17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1104" y="2802946"/>
            <a:ext cx="1020175" cy="2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19, TypeScript, Tailwind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24779" y="2575329"/>
            <a:ext cx="1020175" cy="349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 Dashboard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24779" y="2977711"/>
            <a:ext cx="1020175" cy="2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Visualize insights and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63658" y="2575329"/>
            <a:ext cx="1020175" cy="17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Engines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63658" y="2802946"/>
            <a:ext cx="1020175" cy="2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OCR/RAG/LLM, Whisper, YOLOv8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210" y="1445617"/>
            <a:ext cx="3525650" cy="9474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02705" y="1464667"/>
            <a:ext cx="3297155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Layer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202705" y="1864023"/>
            <a:ext cx="3297155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19 • TypeScript • Vite • Tailwind • shadcn/ui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4210" y="2649538"/>
            <a:ext cx="3525650" cy="692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2705" y="2668588"/>
            <a:ext cx="3297155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Layer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02705" y="3067943"/>
            <a:ext cx="329715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• Python • Async Processing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210" y="3598466"/>
            <a:ext cx="3525650" cy="947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02705" y="3617516"/>
            <a:ext cx="3297155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Layer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202705" y="4016871"/>
            <a:ext cx="3297155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OCR/RAG/LLM • Whisper/MediaPipe • YOLOv8/OCR • Analytics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4210" y="4802386"/>
            <a:ext cx="3525650" cy="692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02705" y="4821436"/>
            <a:ext cx="3297155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8202705" y="5220791"/>
            <a:ext cx="329715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 • File Storage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993259" y="5641479"/>
            <a:ext cx="3506601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flow: </a:t>
            </a: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User → Frontend → API → AI Engine → Data → Results → Review</a:t>
            </a:r>
            <a:endParaRPr lang="en-US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5E9960-85D8-6218-128F-02315A6E4CBD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928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Commercialization Strategy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3454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Markets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227263"/>
            <a:ext cx="5154484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Universities &amp; Academic Institutions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Learning Platforms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Corporate Training Programs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523754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4016474"/>
            <a:ext cx="5154484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SaaS Subscriptions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Consulting &amp; Implementation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/ LMS Integration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345476" y="173454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Pricing Tiers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45476" y="2252166"/>
            <a:ext cx="5154484" cy="2740720"/>
          </a:xfrm>
          <a:prstGeom prst="roundRect">
            <a:avLst>
              <a:gd name="adj" fmla="val 109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45476" y="2252166"/>
            <a:ext cx="2577242" cy="1529953"/>
          </a:xfrm>
          <a:custGeom>
            <a:avLst/>
            <a:gdLst/>
            <a:ahLst/>
            <a:cxnLst/>
            <a:rect l="l" t="t" r="r" b="b"/>
            <a:pathLst>
              <a:path w="2577242" h="1529953">
                <a:moveTo>
                  <a:pt x="24935" y="0"/>
                </a:moveTo>
                <a:lnTo>
                  <a:pt x="2577242" y="0"/>
                </a:lnTo>
                <a:lnTo>
                  <a:pt x="2577242" y="1529953"/>
                </a:lnTo>
                <a:lnTo>
                  <a:pt x="0" y="1529953"/>
                </a:lnTo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44900" y="2451596"/>
            <a:ext cx="21783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4900" y="2944316"/>
            <a:ext cx="217839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written &amp; basic analytics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22717" y="2252166"/>
            <a:ext cx="2577242" cy="1529953"/>
          </a:xfrm>
          <a:custGeom>
            <a:avLst/>
            <a:gdLst/>
            <a:ahLst/>
            <a:cxnLst/>
            <a:rect l="l" t="t" r="r" b="b"/>
            <a:pathLst>
              <a:path w="2577242" h="1529953">
                <a:moveTo>
                  <a:pt x="0" y="0"/>
                </a:moveTo>
                <a:lnTo>
                  <a:pt x="2552307" y="0"/>
                </a:lnTo>
                <a:arcTo wR="24935" hR="24935" stAng="16200000" swAng="5400000"/>
                <a:lnTo>
                  <a:pt x="2577242" y="1529953"/>
                </a:lnTo>
                <a:lnTo>
                  <a:pt x="0" y="1529953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22717" y="2252166"/>
            <a:ext cx="25399" cy="1529953"/>
          </a:xfrm>
          <a:prstGeom prst="roundRect">
            <a:avLst>
              <a:gd name="adj" fmla="val 50001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22142" y="2451596"/>
            <a:ext cx="21783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22142" y="2944316"/>
            <a:ext cx="217839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engines + viva + diagrams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345476" y="3782120"/>
            <a:ext cx="5154484" cy="1210766"/>
          </a:xfrm>
          <a:custGeom>
            <a:avLst/>
            <a:gdLst/>
            <a:ahLst/>
            <a:cxnLst/>
            <a:rect l="l" t="t" r="r" b="b"/>
            <a:pathLst>
              <a:path w="5154484" h="1210766">
                <a:moveTo>
                  <a:pt x="0" y="0"/>
                </a:moveTo>
                <a:lnTo>
                  <a:pt x="5154484" y="0"/>
                </a:lnTo>
                <a:lnTo>
                  <a:pt x="5154484" y="1185831"/>
                </a:lnTo>
                <a:arcTo wR="24935" hR="24935" stAng="0" swAng="5400000"/>
                <a:lnTo>
                  <a:pt x="24935" y="1210766"/>
                </a:lnTo>
                <a:arcTo wR="24935" h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45476" y="3782120"/>
            <a:ext cx="5154484" cy="254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44900" y="3981549"/>
            <a:ext cx="475563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4900" y="4474270"/>
            <a:ext cx="47556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LMS integration + custom analytics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45476" y="5217220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Roadmap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476" y="5709940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MVP → Multi-language → Advanced Analytics → LMS/Enterprise</a:t>
            </a:r>
            <a:endParaRPr lang="en-US" sz="15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75DAC4-A13A-74FF-87F3-88472B1A8503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1521"/>
            <a:ext cx="10795524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Grading Answers to Understanding Learning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461393"/>
            <a:ext cx="5397762" cy="735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933" y="2366367"/>
            <a:ext cx="503006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81933" y="2738537"/>
            <a:ext cx="5030066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Manual, subjective, slow assessment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461393"/>
            <a:ext cx="5397762" cy="7355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9695" y="2366367"/>
            <a:ext cx="503006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Gap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279695" y="2738537"/>
            <a:ext cx="5030066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unified multi-modal approach existed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3204964"/>
            <a:ext cx="5397762" cy="7355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1933" y="4109938"/>
            <a:ext cx="503006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81933" y="4482108"/>
            <a:ext cx="5030066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Written + Viva + Diagram + Analytics engines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204964"/>
            <a:ext cx="5397762" cy="7355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9695" y="4109938"/>
            <a:ext cx="503006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Outcome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279695" y="4482108"/>
            <a:ext cx="5030066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Scores + Feedback + Learning Insights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73907" y="5329932"/>
            <a:ext cx="11129287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"From grading answers to understanding learning."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98086" y="5139234"/>
            <a:ext cx="25399" cy="663972"/>
          </a:xfrm>
          <a:prstGeom prst="roundRect">
            <a:avLst>
              <a:gd name="adj" fmla="val 50001"/>
            </a:avLst>
          </a:prstGeom>
          <a:solidFill>
            <a:srgbClr val="F98A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51DBEB-3D2B-0511-3CE7-92069968BA93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2721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3157934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Questions &amp; Discussion</a:t>
            </a:r>
            <a:endParaRPr lang="en-US" sz="5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67557-AA6C-8503-A2D0-E3BBC0161743}"/>
              </a:ext>
            </a:extLst>
          </p:cNvPr>
          <p:cNvSpPr/>
          <p:nvPr/>
        </p:nvSpPr>
        <p:spPr>
          <a:xfrm>
            <a:off x="10922480" y="6340416"/>
            <a:ext cx="1227826" cy="491706"/>
          </a:xfrm>
          <a:prstGeom prst="rect">
            <a:avLst/>
          </a:prstGeom>
          <a:solidFill>
            <a:srgbClr val="252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528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Source Sans 3</vt:lpstr>
      <vt:lpstr>Source Sans 3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Akila Senarathna</dc:creator>
  <cp:lastModifiedBy>SENARATHNA A.M it22262554</cp:lastModifiedBy>
  <cp:revision>5</cp:revision>
  <dcterms:created xsi:type="dcterms:W3CDTF">2026-08-30T14:05:36Z</dcterms:created>
  <dcterms:modified xsi:type="dcterms:W3CDTF">2026-10-10T09:08:01Z</dcterms:modified>
</cp:coreProperties>
</file>