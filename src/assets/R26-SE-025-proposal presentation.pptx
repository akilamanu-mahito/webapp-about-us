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97" r:id="rId5"/>
    <p:sldId id="333" r:id="rId6"/>
    <p:sldId id="271" r:id="rId7"/>
    <p:sldId id="295" r:id="rId8"/>
    <p:sldId id="264" r:id="rId9"/>
    <p:sldId id="310" r:id="rId10"/>
    <p:sldId id="312" r:id="rId11"/>
    <p:sldId id="322" r:id="rId12"/>
    <p:sldId id="313" r:id="rId13"/>
    <p:sldId id="323" r:id="rId14"/>
    <p:sldId id="300" r:id="rId15"/>
    <p:sldId id="301" r:id="rId16"/>
    <p:sldId id="302" r:id="rId17"/>
    <p:sldId id="303" r:id="rId18"/>
    <p:sldId id="305" r:id="rId19"/>
    <p:sldId id="308" r:id="rId20"/>
    <p:sldId id="311" r:id="rId21"/>
    <p:sldId id="314" r:id="rId22"/>
    <p:sldId id="326" r:id="rId23"/>
    <p:sldId id="324" r:id="rId24"/>
    <p:sldId id="329" r:id="rId25"/>
    <p:sldId id="325" r:id="rId26"/>
    <p:sldId id="319" r:id="rId27"/>
    <p:sldId id="328" r:id="rId28"/>
    <p:sldId id="327" r:id="rId29"/>
    <p:sldId id="331" r:id="rId30"/>
    <p:sldId id="334" r:id="rId31"/>
    <p:sldId id="330" r:id="rId32"/>
    <p:sldId id="318" r:id="rId33"/>
    <p:sldId id="294" r:id="rId34"/>
    <p:sldId id="296" r:id="rId35"/>
    <p:sldId id="33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4E6"/>
    <a:srgbClr val="69D446"/>
    <a:srgbClr val="94BD86"/>
    <a:srgbClr val="478C30"/>
    <a:srgbClr val="274D1A"/>
    <a:srgbClr val="F0B65F"/>
    <a:srgbClr val="748B96"/>
    <a:srgbClr val="3E4E5D"/>
    <a:srgbClr val="FFFFFF"/>
    <a:srgbClr val="BB63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30E61-14D8-AD8E-0E5F-CC8FB03B6AF3}" v="15" dt="2026-03-15T17:37:24.420"/>
    <p1510:client id="{21B2431F-65A8-2A0B-F18D-E5D106BBE61A}" v="58" dt="2026-03-16T07:51:32.958"/>
    <p1510:client id="{3D7103BE-8F05-405D-8E28-C7C06E072CF9}" v="124" dt="2026-03-15T18:53:27.287"/>
    <p1510:client id="{4316C04D-9ADA-40A6-B9A8-85DA41774316}" v="1866" dt="2026-03-16T09:52:23.237"/>
    <p1510:client id="{46C14DC1-2C06-4B3B-82AF-E4DBF7E061AC}" v="1552" dt="2026-03-16T06:57:27.101"/>
    <p1510:client id="{5F1EB0C1-B5A7-49C3-687B-36C4B7E51A21}" v="66" dt="2026-03-16T08:09:58.897"/>
    <p1510:client id="{793B4183-4BAC-4A55-B9BE-88D3FD3C0823}" v="15" dt="2026-03-16T09:05:58.797"/>
    <p1510:client id="{7ED2E59E-263D-B859-2BEA-B51BE77F3A43}" v="58" dt="2026-03-15T18:15:09.134"/>
    <p1510:client id="{D483B12F-B3AF-C0F9-5111-14F55EE6B9AE}" v="1" dt="2026-03-15T17:24:46.821"/>
    <p1510:client id="{DD32390A-7273-446B-65B3-B3AD6C18AF33}" v="126" dt="2026-03-15T12:06:10.413"/>
    <p1510:client id="{E10CBFC5-A970-4F59-BFAE-F8AC463D4C13}" v="3233" dt="2026-03-16T08:58:55.7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CFDB5-2404-57E8-C039-4ACD60A0E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9925A-AB46-0767-91C4-C1AA05A0F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C779F-8CA6-2AA0-99C6-D9D6AABE8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04F19-9FFB-9C61-7BA5-271E84D6B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129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160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10/10/2026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D5A9AC-835B-6C6C-5086-297B213B4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96449" y="5494020"/>
            <a:ext cx="2343150" cy="563880"/>
          </a:xfrm>
        </p:spPr>
        <p:txBody>
          <a:bodyPr>
            <a:normAutofit lnSpcReduction="10000"/>
          </a:bodyPr>
          <a:lstStyle/>
          <a:p>
            <a:r>
              <a:rPr lang="en-US"/>
              <a:t>R26-SE-025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61DDA8-79D1-F787-A4DE-AEF9D8E70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1"/>
            <a:ext cx="4543426" cy="60579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71A0980-74E1-9BB3-5F17-52E93898C0D7}"/>
              </a:ext>
            </a:extLst>
          </p:cNvPr>
          <p:cNvSpPr txBox="1">
            <a:spLocks/>
          </p:cNvSpPr>
          <p:nvPr/>
        </p:nvSpPr>
        <p:spPr>
          <a:xfrm>
            <a:off x="5191124" y="1409701"/>
            <a:ext cx="6734175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3200" b="1" dirty="0"/>
              <a:t>AI-Integrated Multi-Modal Academic Evaluation, Performance Intelligence, and Automated Viva Assessment System</a:t>
            </a:r>
            <a:endParaRPr lang="en-US" sz="3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151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389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9953DF-5452-5EE1-E7FA-6DD088A1A3E5}"/>
              </a:ext>
            </a:extLst>
          </p:cNvPr>
          <p:cNvSpPr/>
          <p:nvPr/>
        </p:nvSpPr>
        <p:spPr>
          <a:xfrm>
            <a:off x="6188054" y="671026"/>
            <a:ext cx="6108620" cy="5759452"/>
          </a:xfrm>
          <a:prstGeom prst="rect">
            <a:avLst/>
          </a:prstGeom>
          <a:solidFill>
            <a:srgbClr val="FEF4E6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234D5-D027-07D7-9025-5807CC4391E4}"/>
              </a:ext>
            </a:extLst>
          </p:cNvPr>
          <p:cNvSpPr txBox="1">
            <a:spLocks/>
          </p:cNvSpPr>
          <p:nvPr/>
        </p:nvSpPr>
        <p:spPr>
          <a:xfrm>
            <a:off x="192505" y="123728"/>
            <a:ext cx="11806989" cy="772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400"/>
              <a:t>AI-Integrated Multi-Modal Academic Evaluation, Performance Intelligence, and Automated Viva Assessment System</a:t>
            </a:r>
            <a:endParaRPr lang="en-US" sz="240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F2450-0FAF-38A4-3D88-9D462428213C}"/>
              </a:ext>
            </a:extLst>
          </p:cNvPr>
          <p:cNvSpPr txBox="1"/>
          <p:nvPr/>
        </p:nvSpPr>
        <p:spPr>
          <a:xfrm>
            <a:off x="705851" y="802319"/>
            <a:ext cx="1909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The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9F2E74-60F8-50A8-579C-F0277D462CF8}"/>
              </a:ext>
            </a:extLst>
          </p:cNvPr>
          <p:cNvSpPr txBox="1"/>
          <p:nvPr/>
        </p:nvSpPr>
        <p:spPr>
          <a:xfrm>
            <a:off x="705850" y="1172118"/>
            <a:ext cx="53901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/>
              <a:t>increased assessment workload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/>
              <a:t>Manual grading of exams is time-consuming and inconsistent.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/>
              <a:t>Human factors such as examiner fatigue and cognitive load.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1A101-25B0-50B9-EBC4-E015EA22DCFC}"/>
              </a:ext>
            </a:extLst>
          </p:cNvPr>
          <p:cNvSpPr txBox="1"/>
          <p:nvPr/>
        </p:nvSpPr>
        <p:spPr>
          <a:xfrm>
            <a:off x="641843" y="2838607"/>
            <a:ext cx="3107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0000"/>
                </a:solidFill>
              </a:defRPr>
            </a:lvl1pPr>
          </a:lstStyle>
          <a:p>
            <a:r>
              <a:rPr lang="en-US"/>
              <a:t>Users &amp; Stakeholders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F76A76-3F49-BBE5-EDF9-CC28B84A957F}"/>
              </a:ext>
            </a:extLst>
          </p:cNvPr>
          <p:cNvSpPr txBox="1"/>
          <p:nvPr/>
        </p:nvSpPr>
        <p:spPr>
          <a:xfrm>
            <a:off x="641843" y="3335545"/>
            <a:ext cx="5594365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/>
            </a:lvl1pPr>
          </a:lstStyle>
          <a:p>
            <a:r>
              <a:rPr lang="en-US"/>
              <a:t>Primary Users: Lecturers, examiners</a:t>
            </a:r>
          </a:p>
          <a:p>
            <a:r>
              <a:rPr lang="en-US"/>
              <a:t>Institutional Stakeholders: Universities, examination boards,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11B02-8392-3B70-8C1F-B8F0DD02250B}"/>
              </a:ext>
            </a:extLst>
          </p:cNvPr>
          <p:cNvSpPr txBox="1"/>
          <p:nvPr/>
        </p:nvSpPr>
        <p:spPr>
          <a:xfrm>
            <a:off x="641843" y="4371092"/>
            <a:ext cx="3756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0000"/>
                </a:solidFill>
              </a:defRPr>
            </a:lvl1pPr>
          </a:lstStyle>
          <a:p>
            <a:r>
              <a:rPr lang="en-US"/>
              <a:t>Impact on Users &amp; Society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D6A1FE-F3BF-8BF9-A4B4-79CF74F4BC29}"/>
              </a:ext>
            </a:extLst>
          </p:cNvPr>
          <p:cNvSpPr txBox="1"/>
          <p:nvPr/>
        </p:nvSpPr>
        <p:spPr>
          <a:xfrm>
            <a:off x="641843" y="4832757"/>
            <a:ext cx="618872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spcAft>
                <a:spcPts val="600"/>
              </a:spcAft>
              <a:buFont typeface="Wingdings" panose="05000000000000000000" pitchFamily="2" charset="2"/>
              <a:buChar char="ü"/>
              <a:defRPr/>
            </a:lvl1pPr>
          </a:lstStyle>
          <a:p>
            <a:r>
              <a:rPr lang="en-US"/>
              <a:t>Delayed feedback affects student learning improvement.</a:t>
            </a:r>
          </a:p>
          <a:p>
            <a:r>
              <a:rPr lang="en-US"/>
              <a:t>Inconsistent grading reduces trust in academic evaluation fairness.</a:t>
            </a:r>
          </a:p>
          <a:p>
            <a:r>
              <a:rPr lang="en-US"/>
              <a:t>High operational costs due to heavy manual marking.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68A069-4393-EC5C-76AB-6D0CDB0E811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</p:spTree>
    <p:extLst>
      <p:ext uri="{BB962C8B-B14F-4D97-AF65-F5344CB8AC3E}">
        <p14:creationId xmlns:p14="http://schemas.microsoft.com/office/powerpoint/2010/main" val="725102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48950-E4D4-6F14-1195-0F4791C5C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1A105E-9829-82F2-3F99-5D3BB1EB9DF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14B1356-AA42-5758-FDC3-F8BFC86DE63B}"/>
              </a:ext>
            </a:extLst>
          </p:cNvPr>
          <p:cNvSpPr txBox="1">
            <a:spLocks/>
          </p:cNvSpPr>
          <p:nvPr/>
        </p:nvSpPr>
        <p:spPr>
          <a:xfrm>
            <a:off x="192505" y="113988"/>
            <a:ext cx="11806989" cy="772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400"/>
              <a:t>AI-Integrated Multi-Modal Academic Evaluation, Performance Intelligence, and Automated Viva Assessment System</a:t>
            </a:r>
            <a:endParaRPr lang="en-US" sz="240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1EE594-28BD-9AA5-050D-6A05256FBF22}"/>
              </a:ext>
            </a:extLst>
          </p:cNvPr>
          <p:cNvSpPr txBox="1"/>
          <p:nvPr/>
        </p:nvSpPr>
        <p:spPr>
          <a:xfrm>
            <a:off x="505968" y="910527"/>
            <a:ext cx="2809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Proposed 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8A6DE6-6DFE-AD01-2DFE-066108E7F055}"/>
              </a:ext>
            </a:extLst>
          </p:cNvPr>
          <p:cNvSpPr txBox="1"/>
          <p:nvPr/>
        </p:nvSpPr>
        <p:spPr>
          <a:xfrm>
            <a:off x="505968" y="1466858"/>
            <a:ext cx="580949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/>
              <a:t>Uses LLM techniques (NLP, Computer Vision, Speech Analysis) to evaluate multiple answer formats.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/>
              <a:t>Supports text answers, handwritten scripts, diagrams and viva responses.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ü"/>
            </a:pPr>
            <a:r>
              <a:rPr lang="en-US"/>
              <a:t>Provides consistent, scalable, and explainable automated grading with human supervision.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4E0225-DA3A-EDB1-2DA8-45797C2CCCB0}"/>
              </a:ext>
            </a:extLst>
          </p:cNvPr>
          <p:cNvSpPr txBox="1"/>
          <p:nvPr/>
        </p:nvSpPr>
        <p:spPr>
          <a:xfrm>
            <a:off x="505968" y="3786792"/>
            <a:ext cx="3298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FF0000"/>
                </a:solidFill>
              </a:defRPr>
            </a:lvl1pPr>
          </a:lstStyle>
          <a:p>
            <a:r>
              <a:rPr lang="en-US"/>
              <a:t>Overcomes Limitations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E455B0-F3F7-DEF0-A5B8-D7EAB91E672A}"/>
              </a:ext>
            </a:extLst>
          </p:cNvPr>
          <p:cNvSpPr txBox="1"/>
          <p:nvPr/>
        </p:nvSpPr>
        <p:spPr>
          <a:xfrm>
            <a:off x="505968" y="4286221"/>
            <a:ext cx="559003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/>
              <a:t>Reduces examiner workload.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/>
              <a:t>Improves fairness and consistency using intelligent evaluation models.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/>
              <a:t>Generates performance analytics and learning insights for educators.</a:t>
            </a:r>
          </a:p>
        </p:txBody>
      </p:sp>
    </p:spTree>
    <p:extLst>
      <p:ext uri="{BB962C8B-B14F-4D97-AF65-F5344CB8AC3E}">
        <p14:creationId xmlns:p14="http://schemas.microsoft.com/office/powerpoint/2010/main" val="27277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530750"/>
            <a:ext cx="7799916" cy="755426"/>
          </a:xfrm>
        </p:spPr>
        <p:txBody>
          <a:bodyPr/>
          <a:lstStyle/>
          <a:p>
            <a:r>
              <a:rPr lang="en-US">
                <a:latin typeface="+mn-lt"/>
              </a:rPr>
              <a:t>IT22262554 | Senarathna A.M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IT22262554</a:t>
            </a:r>
            <a:r>
              <a:rPr lang="en-US" sz="1800">
                <a:solidFill>
                  <a:schemeClr val="tx1"/>
                </a:solidFill>
              </a:rPr>
              <a:t>   |   Senarathna A.M 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2B1B0E-3A95-38D8-C68C-389F644DF9F9}"/>
              </a:ext>
            </a:extLst>
          </p:cNvPr>
          <p:cNvSpPr/>
          <p:nvPr/>
        </p:nvSpPr>
        <p:spPr>
          <a:xfrm>
            <a:off x="9906000" y="135535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6169ED-18C1-3CB1-4EF6-E24598B8D7CA}"/>
              </a:ext>
            </a:extLst>
          </p:cNvPr>
          <p:cNvSpPr txBox="1"/>
          <p:nvPr/>
        </p:nvSpPr>
        <p:spPr>
          <a:xfrm>
            <a:off x="963084" y="2521349"/>
            <a:ext cx="6400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70C0"/>
                </a:solidFill>
              </a:rPr>
              <a:t>Handwritten ER Diagram Extraction and Evaluating  Module </a:t>
            </a:r>
          </a:p>
          <a:p>
            <a:endParaRPr lang="en-US" sz="2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91E5A8-6C0A-67B3-B90F-89D07AB38FB5}"/>
              </a:ext>
            </a:extLst>
          </p:cNvPr>
          <p:cNvSpPr txBox="1"/>
          <p:nvPr/>
        </p:nvSpPr>
        <p:spPr>
          <a:xfrm>
            <a:off x="963084" y="3644153"/>
            <a:ext cx="9323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Efficient Reliable Diagram Extraction | Evaluation ER Diagrams from Student’s Answer Sheets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CF3901-071D-80FB-CD30-BC60673C544E}"/>
              </a:ext>
            </a:extLst>
          </p:cNvPr>
          <p:cNvSpPr txBox="1"/>
          <p:nvPr/>
        </p:nvSpPr>
        <p:spPr>
          <a:xfrm>
            <a:off x="990600" y="4280809"/>
            <a:ext cx="92964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/>
              <a:t>Accurately ER diagram Extraction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/>
              <a:t>Understanding and Diagram Evaluation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/>
              <a:t>Considering Alternative Diagram Correctness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/>
              <a:t>Automated Grading &amp; Explanation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F37346-8D3D-F14D-4FB8-4C379DFED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09"/>
          <a:stretch>
            <a:fillRect/>
          </a:stretch>
        </p:blipFill>
        <p:spPr>
          <a:xfrm>
            <a:off x="9896856" y="135534"/>
            <a:ext cx="1999488" cy="228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5BD8E-4187-928E-4A01-A7871711F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BE1C1F-82BD-76CC-134D-A2CF14F80BE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IT22262554</a:t>
            </a:r>
            <a:r>
              <a:rPr lang="en-US" sz="1800">
                <a:solidFill>
                  <a:schemeClr val="tx1"/>
                </a:solidFill>
              </a:rPr>
              <a:t>   |   Senarathna A.M 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7892F42E-0A90-89A0-780F-9F9BACC5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20" y="342900"/>
            <a:ext cx="1142916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>
                <a:latin typeface="+mn-lt"/>
                <a:cs typeface="Times New Roman" panose="02020603050405020304" pitchFamily="18" charset="0"/>
              </a:rPr>
              <a:t>Handwritten ER Diagram Extraction and Evaluating  Module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1D13A8-846E-DA15-3C96-9CBD3FD8B35D}"/>
              </a:ext>
            </a:extLst>
          </p:cNvPr>
          <p:cNvSpPr txBox="1"/>
          <p:nvPr/>
        </p:nvSpPr>
        <p:spPr>
          <a:xfrm>
            <a:off x="761999" y="1600200"/>
            <a:ext cx="2133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Problems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9522E-E250-E743-63C7-AE5878FB65F6}"/>
              </a:ext>
            </a:extLst>
          </p:cNvPr>
          <p:cNvSpPr txBox="1"/>
          <p:nvPr/>
        </p:nvSpPr>
        <p:spPr>
          <a:xfrm>
            <a:off x="761999" y="2438400"/>
            <a:ext cx="4572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en-US" sz="2000"/>
              <a:t>Workload For  Educators</a:t>
            </a:r>
          </a:p>
          <a:p>
            <a:pPr marL="285750" indent="-285750"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en-US" sz="2000"/>
              <a:t>Many Enrollments for the CS Programs</a:t>
            </a:r>
          </a:p>
          <a:p>
            <a:pPr marL="285750" indent="-285750"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en-US" sz="2000"/>
              <a:t>Student’s Pressure For the Educators</a:t>
            </a:r>
          </a:p>
          <a:p>
            <a:pPr marL="285750" indent="-285750">
              <a:spcAft>
                <a:spcPts val="2400"/>
              </a:spcAft>
              <a:buFont typeface="Wingdings" panose="05000000000000000000" pitchFamily="2" charset="2"/>
              <a:buChar char="ü"/>
            </a:pPr>
            <a:r>
              <a:rPr lang="en-US" sz="2000"/>
              <a:t>Evaluating Diagrams Needs More Time</a:t>
            </a:r>
          </a:p>
          <a:p>
            <a:pPr marL="285750" indent="-285750">
              <a:spcAft>
                <a:spcPts val="2400"/>
              </a:spcAft>
              <a:buFont typeface="Wingdings" panose="05000000000000000000" pitchFamily="2" charset="2"/>
              <a:buChar char="ü"/>
            </a:pPr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083623-D5F8-8BD2-1088-B6E51899B37C}"/>
              </a:ext>
            </a:extLst>
          </p:cNvPr>
          <p:cNvSpPr/>
          <p:nvPr/>
        </p:nvSpPr>
        <p:spPr>
          <a:xfrm>
            <a:off x="6189134" y="914400"/>
            <a:ext cx="5698066" cy="5410200"/>
          </a:xfrm>
          <a:prstGeom prst="rect">
            <a:avLst/>
          </a:prstGeom>
          <a:solidFill>
            <a:srgbClr val="E7F3FD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78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63CD0-1D86-475C-35FB-03891883D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0C5762-02E2-E766-0799-A5FD64741FA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IT22262554</a:t>
            </a:r>
            <a:r>
              <a:rPr lang="en-US" sz="1800">
                <a:solidFill>
                  <a:schemeClr val="tx1"/>
                </a:solidFill>
              </a:rPr>
              <a:t>   |   Senarathna A.M 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40B1B3-C7BF-E0E9-C0F7-FD5C411FA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20" y="342900"/>
            <a:ext cx="1142916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>
                <a:latin typeface="+mn-lt"/>
                <a:cs typeface="Times New Roman" panose="02020603050405020304" pitchFamily="18" charset="0"/>
              </a:rPr>
              <a:t>Handwritten ER Diagram Extraction and Evaluating  Module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451EB0-CB98-717A-0851-9F75521DF7E8}"/>
              </a:ext>
            </a:extLst>
          </p:cNvPr>
          <p:cNvSpPr/>
          <p:nvPr/>
        </p:nvSpPr>
        <p:spPr>
          <a:xfrm>
            <a:off x="5932098" y="755648"/>
            <a:ext cx="6108620" cy="5759452"/>
          </a:xfrm>
          <a:prstGeom prst="rect">
            <a:avLst/>
          </a:prstGeom>
          <a:solidFill>
            <a:srgbClr val="E7F3FD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46C409CA-9476-F7AF-7F3E-CFDD9E230C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7928C8-3A1E-3C6B-261B-D431D12C9BEF}"/>
              </a:ext>
            </a:extLst>
          </p:cNvPr>
          <p:cNvSpPr txBox="1"/>
          <p:nvPr/>
        </p:nvSpPr>
        <p:spPr>
          <a:xfrm>
            <a:off x="912962" y="1810708"/>
            <a:ext cx="4876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/>
              <a:t>Reliable and Efficient ER Diagram Extracting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/>
              <a:t>Evaluate the Extracted diagram And Grading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7F999-F480-AC7F-338F-27425DA6685A}"/>
              </a:ext>
            </a:extLst>
          </p:cNvPr>
          <p:cNvSpPr txBox="1"/>
          <p:nvPr/>
        </p:nvSpPr>
        <p:spPr>
          <a:xfrm>
            <a:off x="912962" y="1170421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Main 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378D19-BE76-BF4E-0410-00F91AE79D1E}"/>
              </a:ext>
            </a:extLst>
          </p:cNvPr>
          <p:cNvSpPr txBox="1"/>
          <p:nvPr/>
        </p:nvSpPr>
        <p:spPr>
          <a:xfrm>
            <a:off x="912962" y="2877878"/>
            <a:ext cx="4038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1">
                    <a:lumMod val="75000"/>
                  </a:schemeClr>
                </a:solidFill>
              </a:rPr>
              <a:t>Sub Objectives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FEF0D9-CC18-55FC-FAF8-D3BB8FC47A05}"/>
              </a:ext>
            </a:extLst>
          </p:cNvPr>
          <p:cNvSpPr txBox="1"/>
          <p:nvPr/>
        </p:nvSpPr>
        <p:spPr>
          <a:xfrm>
            <a:off x="912962" y="3522001"/>
            <a:ext cx="48768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/>
              <a:t>High recognition accuracy Evaluate the Real Exam Conditions.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/>
              <a:t>Semantic Diagram Comparison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/>
              <a:t>Dynamic Scoring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/>
              <a:t>Error Handling and Noise Robustness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7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9552-2B0E-F9A9-913B-A7FB12023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E568FA-4688-56E2-B1C3-AF09EC56F1A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IT22262554</a:t>
            </a:r>
            <a:r>
              <a:rPr lang="en-US" sz="1800">
                <a:solidFill>
                  <a:schemeClr val="tx1"/>
                </a:solidFill>
              </a:rPr>
              <a:t>   |   Senarathna A.M 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50ECBD7-478E-DB29-33A7-994DE1015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20" y="342900"/>
            <a:ext cx="1142916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>
                <a:latin typeface="+mn-lt"/>
                <a:cs typeface="Times New Roman" panose="02020603050405020304" pitchFamily="18" charset="0"/>
              </a:rPr>
              <a:t>Handwritten ER Diagram Extraction and Evaluating  Module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3D38D9-E258-5A25-0E68-E8533C2BB7CF}"/>
              </a:ext>
            </a:extLst>
          </p:cNvPr>
          <p:cNvSpPr/>
          <p:nvPr/>
        </p:nvSpPr>
        <p:spPr>
          <a:xfrm>
            <a:off x="152398" y="824424"/>
            <a:ext cx="5698066" cy="5410200"/>
          </a:xfrm>
          <a:prstGeom prst="rect">
            <a:avLst/>
          </a:prstGeom>
          <a:solidFill>
            <a:srgbClr val="FEF4E6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9F9CCA-DC16-D229-FD26-0D0893E48A66}"/>
              </a:ext>
            </a:extLst>
          </p:cNvPr>
          <p:cNvSpPr txBox="1"/>
          <p:nvPr/>
        </p:nvSpPr>
        <p:spPr>
          <a:xfrm>
            <a:off x="5638800" y="1016031"/>
            <a:ext cx="220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0070C0"/>
                </a:solidFill>
              </a:rPr>
              <a:t>Methodology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E33B2-BA9E-7F4C-BE2F-C92EDB3DAB97}"/>
              </a:ext>
            </a:extLst>
          </p:cNvPr>
          <p:cNvSpPr txBox="1"/>
          <p:nvPr/>
        </p:nvSpPr>
        <p:spPr>
          <a:xfrm>
            <a:off x="5638800" y="1774085"/>
            <a:ext cx="5960116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/>
              <a:t>Extract Diagrams Photographed Exam Answer Sheets</a:t>
            </a:r>
          </a:p>
          <a:p>
            <a:pPr marL="742950" lvl="1" indent="-285750">
              <a:spcAft>
                <a:spcPts val="1800"/>
              </a:spcAft>
              <a:buFont typeface="Wingdings" panose="05000000000000000000" pitchFamily="2" charset="2"/>
              <a:buChar char="v"/>
            </a:pPr>
            <a:r>
              <a:rPr lang="en-US">
                <a:solidFill>
                  <a:srgbClr val="FF0000"/>
                </a:solidFill>
              </a:rPr>
              <a:t>YOLO(</a:t>
            </a:r>
            <a:r>
              <a:rPr lang="en-US" err="1">
                <a:solidFill>
                  <a:srgbClr val="FF0000"/>
                </a:solidFill>
              </a:rPr>
              <a:t>ultralytics</a:t>
            </a:r>
            <a:r>
              <a:rPr lang="en-US">
                <a:solidFill>
                  <a:srgbClr val="FF0000"/>
                </a:solidFill>
              </a:rPr>
              <a:t>) , Faster R-CNN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/>
              <a:t>Remove Noise &amp; Increase Clarity.</a:t>
            </a:r>
          </a:p>
          <a:p>
            <a:pPr marL="742950" lvl="1" indent="-285750">
              <a:spcAft>
                <a:spcPts val="1800"/>
              </a:spcAft>
              <a:buFont typeface="Wingdings" panose="05000000000000000000" pitchFamily="2" charset="2"/>
              <a:buChar char="v"/>
            </a:pPr>
            <a:r>
              <a:rPr lang="en-US">
                <a:solidFill>
                  <a:srgbClr val="FF0000"/>
                </a:solidFill>
              </a:rPr>
              <a:t>Image preprocessing (OpenCV)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/>
              <a:t>Recognizes ER diagram components.</a:t>
            </a:r>
          </a:p>
          <a:p>
            <a:pPr marL="742950" lvl="1" indent="-285750">
              <a:spcAft>
                <a:spcPts val="1800"/>
              </a:spcAft>
              <a:buFont typeface="Wingdings" panose="05000000000000000000" pitchFamily="2" charset="2"/>
              <a:buChar char="v"/>
            </a:pPr>
            <a:r>
              <a:rPr lang="en-US">
                <a:solidFill>
                  <a:srgbClr val="FF0000"/>
                </a:solidFill>
              </a:rPr>
              <a:t>Convolutional Neural Networks (CNNs)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/>
              <a:t>Compares the student ER diagram With Rubrik.</a:t>
            </a:r>
          </a:p>
          <a:p>
            <a:pPr marL="742950" lvl="1" indent="-285750">
              <a:spcAft>
                <a:spcPts val="1800"/>
              </a:spcAft>
              <a:buFont typeface="Wingdings" panose="05000000000000000000" pitchFamily="2" charset="2"/>
              <a:buChar char="v"/>
            </a:pPr>
            <a:r>
              <a:rPr lang="en-US">
                <a:solidFill>
                  <a:srgbClr val="FF0000"/>
                </a:solidFill>
              </a:rPr>
              <a:t>Large Language Models (</a:t>
            </a:r>
            <a:r>
              <a:rPr lang="en-US" err="1">
                <a:solidFill>
                  <a:srgbClr val="FF0000"/>
                </a:solidFill>
              </a:rPr>
              <a:t>HuggingFace</a:t>
            </a:r>
            <a:r>
              <a:rPr lang="en-US">
                <a:solidFill>
                  <a:srgbClr val="FF0000"/>
                </a:solidFill>
              </a:rPr>
              <a:t>)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/>
              <a:t>Assigns marks based on correctness.</a:t>
            </a:r>
          </a:p>
        </p:txBody>
      </p:sp>
    </p:spTree>
    <p:extLst>
      <p:ext uri="{BB962C8B-B14F-4D97-AF65-F5344CB8AC3E}">
        <p14:creationId xmlns:p14="http://schemas.microsoft.com/office/powerpoint/2010/main" val="1982285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3241-82F0-5D27-0A3F-3E221036A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AAEC13-2D3F-C584-F82A-15AB8C50DDB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IT22262554</a:t>
            </a:r>
            <a:r>
              <a:rPr lang="en-US" sz="1800">
                <a:solidFill>
                  <a:schemeClr val="tx1"/>
                </a:solidFill>
              </a:rPr>
              <a:t>   |   Senarathna A.M 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E68A8F-9D6F-4366-19E7-F70003BCA4A7}"/>
              </a:ext>
            </a:extLst>
          </p:cNvPr>
          <p:cNvSpPr/>
          <p:nvPr/>
        </p:nvSpPr>
        <p:spPr>
          <a:xfrm>
            <a:off x="11137" y="4315727"/>
            <a:ext cx="7101939" cy="1783724"/>
          </a:xfrm>
          <a:prstGeom prst="rect">
            <a:avLst/>
          </a:prstGeom>
          <a:solidFill>
            <a:srgbClr val="E7F3FD">
              <a:alpha val="60000"/>
            </a:srgb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F296E7-058E-70F8-9BCC-E97B3E39CF10}"/>
              </a:ext>
            </a:extLst>
          </p:cNvPr>
          <p:cNvSpPr/>
          <p:nvPr/>
        </p:nvSpPr>
        <p:spPr>
          <a:xfrm>
            <a:off x="93433" y="2520783"/>
            <a:ext cx="6950612" cy="1816433"/>
          </a:xfrm>
          <a:prstGeom prst="rect">
            <a:avLst/>
          </a:prstGeom>
          <a:solidFill>
            <a:srgbClr val="E7F3FD">
              <a:alpha val="60000"/>
            </a:srgb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8F3757-477B-5123-6946-7418FDBAD272}"/>
              </a:ext>
            </a:extLst>
          </p:cNvPr>
          <p:cNvSpPr/>
          <p:nvPr/>
        </p:nvSpPr>
        <p:spPr>
          <a:xfrm>
            <a:off x="54654" y="949894"/>
            <a:ext cx="6991593" cy="1783724"/>
          </a:xfrm>
          <a:prstGeom prst="rect">
            <a:avLst/>
          </a:prstGeom>
          <a:solidFill>
            <a:srgbClr val="E7F3FD">
              <a:alpha val="60000"/>
            </a:srgbClr>
          </a:solidFill>
          <a:ln>
            <a:noFill/>
          </a:ln>
          <a:effectLst>
            <a:softEdge rad="2159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A0D9E601-FAB3-29BB-7103-904E7F106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20" y="342900"/>
            <a:ext cx="1142916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>
                <a:latin typeface="+mn-lt"/>
                <a:cs typeface="Times New Roman" panose="02020603050405020304" pitchFamily="18" charset="0"/>
              </a:rPr>
              <a:t>Handwritten ER Diagram Extraction and Evaluating  Module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BF3C7B-7FC8-65EB-94F9-60D0860688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6" t="19619" r="68565" b="51267"/>
          <a:stretch>
            <a:fillRect/>
          </a:stretch>
        </p:blipFill>
        <p:spPr>
          <a:xfrm>
            <a:off x="5243166" y="1058858"/>
            <a:ext cx="1496172" cy="12289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2645B3-3CC6-D1C2-D9E2-66787FF27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70" t="17778" r="42497" b="51110"/>
          <a:stretch>
            <a:fillRect/>
          </a:stretch>
        </p:blipFill>
        <p:spPr>
          <a:xfrm>
            <a:off x="316015" y="2648033"/>
            <a:ext cx="1098758" cy="13300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1292B5-11A1-C3FA-8C43-1AA584606D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51" t="20000" r="7778" b="51111"/>
          <a:stretch>
            <a:fillRect/>
          </a:stretch>
        </p:blipFill>
        <p:spPr>
          <a:xfrm>
            <a:off x="5395769" y="4630096"/>
            <a:ext cx="1343569" cy="12107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61ADBEA-60B9-8AD5-729E-654CF59E5333}"/>
              </a:ext>
            </a:extLst>
          </p:cNvPr>
          <p:cNvSpPr txBox="1"/>
          <p:nvPr/>
        </p:nvSpPr>
        <p:spPr>
          <a:xfrm>
            <a:off x="385515" y="1150685"/>
            <a:ext cx="45712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F96F23"/>
              </a:buClr>
              <a:buFont typeface="Wingdings" panose="05000000000000000000" pitchFamily="2" charset="2"/>
              <a:buChar char="ü"/>
            </a:pPr>
            <a:r>
              <a:rPr lang="en-US"/>
              <a:t>Build a dataset with different handwriting styles &amp; diagram structures.</a:t>
            </a:r>
          </a:p>
          <a:p>
            <a:pPr marL="285750" indent="-285750">
              <a:spcAft>
                <a:spcPts val="1200"/>
              </a:spcAft>
              <a:buClr>
                <a:srgbClr val="F96F23"/>
              </a:buClr>
              <a:buFont typeface="Wingdings" panose="05000000000000000000" pitchFamily="2" charset="2"/>
              <a:buChar char="ü"/>
            </a:pPr>
            <a:r>
              <a:rPr lang="en-US"/>
              <a:t>Include noisy data to test robustness.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A6319C-AF7F-0A98-3F5F-9F3EA96FFD54}"/>
              </a:ext>
            </a:extLst>
          </p:cNvPr>
          <p:cNvSpPr txBox="1"/>
          <p:nvPr/>
        </p:nvSpPr>
        <p:spPr>
          <a:xfrm>
            <a:off x="1566100" y="2733618"/>
            <a:ext cx="521075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F96F23"/>
              </a:buClr>
              <a:buFont typeface="Wingdings" panose="05000000000000000000" pitchFamily="2" charset="2"/>
              <a:buChar char="ü"/>
            </a:pPr>
            <a:r>
              <a:rPr lang="en-US"/>
              <a:t>Answer sheets are anonymized before using them in the dataset.</a:t>
            </a:r>
          </a:p>
          <a:p>
            <a:pPr marL="285750" indent="-285750">
              <a:spcAft>
                <a:spcPts val="1200"/>
              </a:spcAft>
              <a:buClr>
                <a:srgbClr val="F96F23"/>
              </a:buClr>
              <a:buFont typeface="Wingdings" panose="05000000000000000000" pitchFamily="2" charset="2"/>
              <a:buChar char="ü"/>
            </a:pPr>
            <a:r>
              <a:rPr lang="en-US"/>
              <a:t>Data encryption and access control to prevent unauthorized use.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931874-123E-3A79-5D64-C544DEBB9917}"/>
              </a:ext>
            </a:extLst>
          </p:cNvPr>
          <p:cNvSpPr txBox="1"/>
          <p:nvPr/>
        </p:nvSpPr>
        <p:spPr>
          <a:xfrm>
            <a:off x="385515" y="4570143"/>
            <a:ext cx="45132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Clr>
                <a:srgbClr val="F96F23"/>
              </a:buClr>
              <a:buFont typeface="Wingdings" panose="05000000000000000000" pitchFamily="2" charset="2"/>
              <a:buChar char="ü"/>
            </a:pPr>
            <a:r>
              <a:rPr lang="en-US"/>
              <a:t>Approval from the university before collecting data.</a:t>
            </a:r>
          </a:p>
          <a:p>
            <a:pPr marL="285750" indent="-285750">
              <a:spcAft>
                <a:spcPts val="1200"/>
              </a:spcAft>
              <a:buClr>
                <a:srgbClr val="F96F23"/>
              </a:buClr>
              <a:buFont typeface="Wingdings" panose="05000000000000000000" pitchFamily="2" charset="2"/>
              <a:buChar char="ü"/>
            </a:pPr>
            <a:r>
              <a:rPr lang="en-US"/>
              <a:t>Use the collected data only for research and system evaluation purposes.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B09C40-2BB3-A5F7-E531-CE1A801454E9}"/>
              </a:ext>
            </a:extLst>
          </p:cNvPr>
          <p:cNvSpPr/>
          <p:nvPr/>
        </p:nvSpPr>
        <p:spPr>
          <a:xfrm>
            <a:off x="7063273" y="816257"/>
            <a:ext cx="5009690" cy="5225484"/>
          </a:xfrm>
          <a:prstGeom prst="rect">
            <a:avLst/>
          </a:prstGeom>
          <a:solidFill>
            <a:srgbClr val="FEF4E6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B32E9-4D3C-4291-A3A2-7FBD38EAEF69}"/>
              </a:ext>
            </a:extLst>
          </p:cNvPr>
          <p:cNvSpPr txBox="1"/>
          <p:nvPr/>
        </p:nvSpPr>
        <p:spPr>
          <a:xfrm>
            <a:off x="7996874" y="1673357"/>
            <a:ext cx="314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2">
                    <a:lumMod val="75000"/>
                  </a:schemeClr>
                </a:solidFill>
              </a:rPr>
              <a:t>Validate &amp; Evaluate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AAB07-7326-9D7A-AC9B-B1BD1CDEC96E}"/>
              </a:ext>
            </a:extLst>
          </p:cNvPr>
          <p:cNvSpPr txBox="1"/>
          <p:nvPr/>
        </p:nvSpPr>
        <p:spPr>
          <a:xfrm>
            <a:off x="7674081" y="2350560"/>
            <a:ext cx="41753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/>
              <a:t>Recognition Accuracy Evaluation</a:t>
            </a:r>
          </a:p>
          <a:p>
            <a:pPr marL="285750" indent="-285750">
              <a:spcAft>
                <a:spcPts val="18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/>
              <a:t>Diagram Extraction Accuracy</a:t>
            </a:r>
          </a:p>
          <a:p>
            <a:pPr marL="285750" indent="-285750">
              <a:spcAft>
                <a:spcPts val="18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/>
              <a:t>Semantic Diagram Comparison Validation</a:t>
            </a:r>
          </a:p>
          <a:p>
            <a:pPr marL="285750" indent="-285750">
              <a:spcAft>
                <a:spcPts val="1800"/>
              </a:spcAft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/>
              <a:t>Testing with Real Exam Papers</a:t>
            </a:r>
          </a:p>
          <a:p>
            <a:pPr marL="285750" indent="-285750">
              <a:spcAft>
                <a:spcPts val="1800"/>
              </a:spcAft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n-US"/>
              <a:t>Comparison with Manual Grading</a:t>
            </a:r>
          </a:p>
        </p:txBody>
      </p:sp>
    </p:spTree>
    <p:extLst>
      <p:ext uri="{BB962C8B-B14F-4D97-AF65-F5344CB8AC3E}">
        <p14:creationId xmlns:p14="http://schemas.microsoft.com/office/powerpoint/2010/main" val="594839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3387B-37A1-9DB7-B882-BC5AFBE1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BDF9AF-F9FF-D805-925E-347034DA31DC}"/>
              </a:ext>
            </a:extLst>
          </p:cNvPr>
          <p:cNvSpPr/>
          <p:nvPr/>
        </p:nvSpPr>
        <p:spPr>
          <a:xfrm>
            <a:off x="6248400" y="887413"/>
            <a:ext cx="5651420" cy="5441948"/>
          </a:xfrm>
          <a:prstGeom prst="rect">
            <a:avLst/>
          </a:prstGeom>
          <a:solidFill>
            <a:srgbClr val="FEF4E6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E4B5F5-3510-DB04-9BDB-AC45C8AF98F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IT22262554</a:t>
            </a:r>
            <a:r>
              <a:rPr lang="en-US" sz="1800">
                <a:solidFill>
                  <a:schemeClr val="tx1"/>
                </a:solidFill>
              </a:rPr>
              <a:t>   |   Senarathna A.M 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D3D92022-8C62-2406-799D-5F7FF041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20" y="342900"/>
            <a:ext cx="1142916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400">
                <a:latin typeface="+mn-lt"/>
                <a:cs typeface="Times New Roman" panose="02020603050405020304" pitchFamily="18" charset="0"/>
              </a:rPr>
              <a:t>Handwritten ER Diagram Extraction and Evaluating  Module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BA7D0D-5C06-6AFE-93F5-6C5ECC63B979}"/>
              </a:ext>
            </a:extLst>
          </p:cNvPr>
          <p:cNvSpPr txBox="1"/>
          <p:nvPr/>
        </p:nvSpPr>
        <p:spPr>
          <a:xfrm>
            <a:off x="364167" y="1384122"/>
            <a:ext cx="64008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70C0"/>
                </a:solidFill>
              </a:rPr>
              <a:t>Data Input Module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/>
              <a:t>Collect answer sheets containing handwritten ER diagrams.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70C0"/>
                </a:solidFill>
              </a:rPr>
              <a:t>Preprocessing Module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/>
              <a:t>Remove background noise, eliminate answer sheet rulers/lines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70C0"/>
                </a:solidFill>
              </a:rPr>
              <a:t>Diagram Detection 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/>
              <a:t>Detect ER diagram elements such as entities, relationships, attributes, and connectors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70C0"/>
                </a:solidFill>
              </a:rPr>
              <a:t>Diagram Comparison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/>
              <a:t>Compare the extracted student diagram evaluate correctness and completeness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70C0"/>
                </a:solidFill>
              </a:rPr>
              <a:t>Scoring and Feedback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/>
              <a:t>Generate automated marks and provide feedback based on missing components, incorrect relationship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2659D4-9099-6B2F-2F54-47EA083720FA}"/>
              </a:ext>
            </a:extLst>
          </p:cNvPr>
          <p:cNvSpPr txBox="1"/>
          <p:nvPr/>
        </p:nvSpPr>
        <p:spPr>
          <a:xfrm>
            <a:off x="365604" y="860902"/>
            <a:ext cx="4206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Implementation Details</a:t>
            </a:r>
          </a:p>
        </p:txBody>
      </p:sp>
    </p:spTree>
    <p:extLst>
      <p:ext uri="{BB962C8B-B14F-4D97-AF65-F5344CB8AC3E}">
        <p14:creationId xmlns:p14="http://schemas.microsoft.com/office/powerpoint/2010/main" val="1001318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2BEA8-BB24-38FE-D4C4-7D8464532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979" y="1053664"/>
            <a:ext cx="11553743" cy="987546"/>
          </a:xfrm>
        </p:spPr>
        <p:txBody>
          <a:bodyPr>
            <a:normAutofit/>
          </a:bodyPr>
          <a:lstStyle/>
          <a:p>
            <a:pPr algn="l"/>
            <a:r>
              <a:rPr lang="en-US" sz="3800" b="1" cap="all">
                <a:latin typeface="Adobe Devanagari"/>
              </a:rPr>
              <a:t>IT22239198 | </a:t>
            </a:r>
            <a:r>
              <a:rPr lang="en-US" sz="3800" b="1" cap="all" err="1">
                <a:latin typeface="Adobe Devanagari"/>
              </a:rPr>
              <a:t>Wickramarathne</a:t>
            </a:r>
            <a:r>
              <a:rPr lang="en-US" sz="3800" b="1" cap="all">
                <a:latin typeface="Adobe Devanagari"/>
              </a:rPr>
              <a:t> H.I.B</a:t>
            </a:r>
            <a:endParaRPr lang="en-US" sz="3800">
              <a:latin typeface="Adobe Devanagari"/>
            </a:endParaRP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1D4AA2-AF8B-CC30-6A85-BFDAC314C3B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IT22239198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Wickramarathne</a:t>
            </a:r>
            <a:r>
              <a:rPr lang="en-US" b="1">
                <a:solidFill>
                  <a:schemeClr val="tx1"/>
                </a:solidFill>
              </a:rPr>
              <a:t> H.I.B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1">
                <a:solidFill>
                  <a:schemeClr val="tx1"/>
                </a:solidFill>
              </a:rPr>
              <a:t>R26-SE-025</a:t>
            </a:r>
            <a:endParaRPr lang="en-US" b="1">
              <a:solidFill>
                <a:schemeClr val="tx1"/>
              </a:solidFill>
              <a:ea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8C5FC-7CFA-7E80-D324-AFE42F0C132B}"/>
              </a:ext>
            </a:extLst>
          </p:cNvPr>
          <p:cNvSpPr txBox="1"/>
          <p:nvPr/>
        </p:nvSpPr>
        <p:spPr>
          <a:xfrm>
            <a:off x="452033" y="1576292"/>
            <a:ext cx="76668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Handwritten Answer Parsing &amp; Evaluation Module</a:t>
            </a:r>
            <a:endParaRPr lang="en-US" sz="2400" b="1">
              <a:ea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02515-50E8-2617-3DE5-E2F11AEEEE41}"/>
              </a:ext>
            </a:extLst>
          </p:cNvPr>
          <p:cNvSpPr txBox="1"/>
          <p:nvPr/>
        </p:nvSpPr>
        <p:spPr>
          <a:xfrm>
            <a:off x="449274" y="2499377"/>
            <a:ext cx="956146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mbria"/>
              </a:rPr>
              <a:t>Central AI model Connecting the system </a:t>
            </a:r>
            <a:r>
              <a:rPr lang="en-US" b="1">
                <a:ea typeface="Cambria"/>
              </a:rPr>
              <a:t>| </a:t>
            </a:r>
            <a:r>
              <a:rPr lang="en-US">
                <a:ea typeface="Cambria"/>
              </a:rPr>
              <a:t>Handwritten text extraction </a:t>
            </a:r>
            <a:r>
              <a:rPr lang="en-US" b="1">
                <a:ea typeface="Cambria"/>
              </a:rPr>
              <a:t>| </a:t>
            </a:r>
            <a:r>
              <a:rPr lang="en-US">
                <a:ea typeface="Cambria"/>
              </a:rPr>
              <a:t>Grading and Evaluation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8AF5A6-42CB-2086-0DED-AA821614691D}"/>
              </a:ext>
            </a:extLst>
          </p:cNvPr>
          <p:cNvSpPr txBox="1"/>
          <p:nvPr/>
        </p:nvSpPr>
        <p:spPr>
          <a:xfrm>
            <a:off x="559495" y="3429772"/>
            <a:ext cx="414996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ct val="0"/>
              </a:spcBef>
              <a:buFont typeface="Arial"/>
              <a:buChar char="•"/>
            </a:pPr>
            <a:r>
              <a:rPr lang="en-US">
                <a:ea typeface="Cambria"/>
              </a:rPr>
              <a:t>Evaluating Physical papers </a:t>
            </a:r>
            <a:endParaRPr lang="en-US"/>
          </a:p>
          <a:p>
            <a:pPr marL="285750" indent="-285750">
              <a:spcBef>
                <a:spcPct val="0"/>
              </a:spcBef>
              <a:buFont typeface="Arial"/>
              <a:buChar char="•"/>
            </a:pPr>
            <a:endParaRPr lang="en-US">
              <a:ea typeface="Cambria"/>
            </a:endParaRPr>
          </a:p>
          <a:p>
            <a:pPr marL="285750" indent="-285750">
              <a:spcBef>
                <a:spcPct val="0"/>
              </a:spcBef>
              <a:buFont typeface="Arial"/>
              <a:buChar char="•"/>
            </a:pPr>
            <a:r>
              <a:rPr lang="en-US">
                <a:ea typeface="Cambria"/>
              </a:rPr>
              <a:t>Explainable AI</a:t>
            </a:r>
          </a:p>
          <a:p>
            <a:pPr marL="285750" indent="-285750">
              <a:spcBef>
                <a:spcPct val="0"/>
              </a:spcBef>
              <a:buFont typeface="Arial"/>
              <a:buChar char="•"/>
            </a:pPr>
            <a:endParaRPr lang="en-US">
              <a:ea typeface="Cambria"/>
            </a:endParaRPr>
          </a:p>
          <a:p>
            <a:pPr marL="285750" indent="-285750">
              <a:spcBef>
                <a:spcPct val="0"/>
              </a:spcBef>
              <a:buFont typeface="Arial"/>
              <a:buChar char="•"/>
            </a:pPr>
            <a:r>
              <a:rPr lang="en-US">
                <a:ea typeface="Cambria"/>
              </a:rPr>
              <a:t>Conceptual Reasoning </a:t>
            </a:r>
          </a:p>
          <a:p>
            <a:pPr marL="285750" indent="-285750">
              <a:spcBef>
                <a:spcPct val="0"/>
              </a:spcBef>
              <a:buFont typeface="Arial"/>
              <a:buChar char="•"/>
            </a:pPr>
            <a:endParaRPr lang="en-US">
              <a:latin typeface="Cambria"/>
              <a:ea typeface="Cambria"/>
            </a:endParaRPr>
          </a:p>
          <a:p>
            <a:pPr marL="285750" indent="-285750">
              <a:spcBef>
                <a:spcPct val="0"/>
              </a:spcBef>
              <a:buFont typeface="Arial"/>
              <a:buChar char="•"/>
            </a:pPr>
            <a:r>
              <a:rPr lang="en-US">
                <a:latin typeface="Cambria"/>
                <a:ea typeface="Cambria"/>
              </a:rPr>
              <a:t>Diverse Question Formats</a:t>
            </a:r>
          </a:p>
        </p:txBody>
      </p:sp>
      <p:pic>
        <p:nvPicPr>
          <p:cNvPr id="7" name="Picture 6" descr="A person in a suit&#10;&#10;AI-generated content may be incorrect.">
            <a:extLst>
              <a:ext uri="{FF2B5EF4-FFF2-40B4-BE49-F238E27FC236}">
                <a16:creationId xmlns:a16="http://schemas.microsoft.com/office/drawing/2014/main" id="{23762A74-CCDF-D78B-391A-709845346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914" y="293361"/>
            <a:ext cx="1516428" cy="195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6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CD81E65-67DF-0AAF-130A-5A85F885CDC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IT22239198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Wickramarathne</a:t>
            </a:r>
            <a:r>
              <a:rPr lang="en-US" b="1">
                <a:solidFill>
                  <a:schemeClr val="tx1"/>
                </a:solidFill>
              </a:rPr>
              <a:t> H.I.B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1">
                <a:solidFill>
                  <a:schemeClr val="tx1"/>
                </a:solidFill>
              </a:rPr>
              <a:t>R26-SE-025</a:t>
            </a:r>
            <a:endParaRPr lang="en-US" b="1">
              <a:solidFill>
                <a:schemeClr val="tx1"/>
              </a:solidFill>
              <a:ea typeface="Cambria"/>
            </a:endParaRPr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35E8883F-180F-41FF-B53F-EF49BD9568CA}"/>
              </a:ext>
            </a:extLst>
          </p:cNvPr>
          <p:cNvSpPr>
            <a:spLocks noGrp="1"/>
          </p:cNvSpPr>
          <p:nvPr/>
        </p:nvSpPr>
        <p:spPr>
          <a:xfrm>
            <a:off x="284529" y="428787"/>
            <a:ext cx="10363200" cy="36114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1800">
                <a:latin typeface="Cambria"/>
                <a:ea typeface="Cambria"/>
              </a:rPr>
              <a:t>Handwritten Answer Parsing &amp; Evaluation Module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92F2A-1B4E-5254-C5B3-B5B58C5FFB6A}"/>
              </a:ext>
            </a:extLst>
          </p:cNvPr>
          <p:cNvSpPr txBox="1"/>
          <p:nvPr/>
        </p:nvSpPr>
        <p:spPr>
          <a:xfrm>
            <a:off x="1243169" y="1530346"/>
            <a:ext cx="3127235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800" b="1">
                <a:solidFill>
                  <a:srgbClr val="69D446"/>
                </a:solidFill>
                <a:latin typeface="Aharoni"/>
                <a:ea typeface="Cambria"/>
                <a:cs typeface="Aharoni"/>
              </a:rPr>
              <a:t>WHY</a:t>
            </a:r>
            <a:endParaRPr lang="en-US" sz="8800" b="1">
              <a:solidFill>
                <a:srgbClr val="69D446"/>
              </a:solidFill>
              <a:latin typeface="Aharoni"/>
              <a:cs typeface="Aharon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6FD4FC-0163-8CEE-0680-27D417688F06}"/>
              </a:ext>
            </a:extLst>
          </p:cNvPr>
          <p:cNvSpPr txBox="1"/>
          <p:nvPr/>
        </p:nvSpPr>
        <p:spPr>
          <a:xfrm>
            <a:off x="448714" y="2976855"/>
            <a:ext cx="3328220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800" b="1">
                <a:solidFill>
                  <a:srgbClr val="478C30"/>
                </a:solidFill>
                <a:latin typeface="Aharoni"/>
                <a:cs typeface="Aharoni"/>
              </a:rPr>
              <a:t>Value</a:t>
            </a:r>
          </a:p>
          <a:p>
            <a:pPr algn="ctr"/>
            <a:endParaRPr lang="en-US">
              <a:ea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0F3993-AB50-624E-1277-3A2006A1FDF3}"/>
              </a:ext>
            </a:extLst>
          </p:cNvPr>
          <p:cNvSpPr txBox="1"/>
          <p:nvPr/>
        </p:nvSpPr>
        <p:spPr>
          <a:xfrm>
            <a:off x="1243280" y="4410559"/>
            <a:ext cx="4229745" cy="17235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800" b="1">
                <a:solidFill>
                  <a:srgbClr val="274D1A"/>
                </a:solidFill>
                <a:latin typeface="Aharoni"/>
                <a:cs typeface="Aharoni"/>
              </a:rPr>
              <a:t>Goal</a:t>
            </a:r>
          </a:p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79F1C5-01D8-D621-BD0F-41DAEDB1509F}"/>
              </a:ext>
            </a:extLst>
          </p:cNvPr>
          <p:cNvSpPr txBox="1"/>
          <p:nvPr/>
        </p:nvSpPr>
        <p:spPr>
          <a:xfrm>
            <a:off x="4368772" y="1960909"/>
            <a:ext cx="777760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Manual Limitations |  Digital Disconnect | Black-Box Effect</a:t>
            </a:r>
            <a:endParaRPr lang="en-US" sz="2000">
              <a:ea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BCD42-E716-C2F2-9A9E-5FC8EAB1FD5F}"/>
              </a:ext>
            </a:extLst>
          </p:cNvPr>
          <p:cNvSpPr txBox="1"/>
          <p:nvPr/>
        </p:nvSpPr>
        <p:spPr>
          <a:xfrm>
            <a:off x="4088831" y="3435348"/>
            <a:ext cx="779714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Explainable AI | Physical-Digital Bridge | Conceptual Reasoning</a:t>
            </a:r>
            <a:endParaRPr lang="en-US" sz="2000">
              <a:ea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EF95F-108B-8A1A-8494-6E0789A8FDF8}"/>
              </a:ext>
            </a:extLst>
          </p:cNvPr>
          <p:cNvSpPr txBox="1"/>
          <p:nvPr/>
        </p:nvSpPr>
        <p:spPr>
          <a:xfrm>
            <a:off x="4497482" y="4876447"/>
            <a:ext cx="64424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ea typeface="+mn-lt"/>
                <a:cs typeface="+mn-lt"/>
              </a:rPr>
              <a:t>Unified Framework | Human-AI Alignment | Efficiency</a:t>
            </a:r>
            <a:endParaRPr lang="en-US" sz="2000"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753808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84422A-8580-BD07-604F-286E5A70EEE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IT22239198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Wickramarathne</a:t>
            </a:r>
            <a:r>
              <a:rPr lang="en-US" b="1">
                <a:solidFill>
                  <a:schemeClr val="tx1"/>
                </a:solidFill>
              </a:rPr>
              <a:t> H.I.B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1">
                <a:solidFill>
                  <a:schemeClr val="tx1"/>
                </a:solidFill>
              </a:rPr>
              <a:t>R26-SE-025</a:t>
            </a:r>
            <a:endParaRPr lang="en-US" b="1">
              <a:solidFill>
                <a:schemeClr val="tx1"/>
              </a:solidFill>
              <a:ea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D1800-0BA0-CE6D-040C-CE7AC9E0FC72}"/>
              </a:ext>
            </a:extLst>
          </p:cNvPr>
          <p:cNvSpPr txBox="1"/>
          <p:nvPr/>
        </p:nvSpPr>
        <p:spPr>
          <a:xfrm>
            <a:off x="361627" y="458492"/>
            <a:ext cx="6535119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800" b="1" cap="all" baseline="0">
                <a:latin typeface="Cambria"/>
                <a:ea typeface="Segoe UI"/>
                <a:cs typeface="Segoe UI"/>
              </a:rPr>
              <a:t>Handwritten Answer Parsing &amp; Evaluation Module</a:t>
            </a:r>
            <a:r>
              <a:rPr lang="en-US" sz="1800" b="1">
                <a:latin typeface="Cambria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4000">
                <a:latin typeface="Adobe Devanagari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E4E01-1958-E884-B69E-A5D831AFDDCB}"/>
              </a:ext>
            </a:extLst>
          </p:cNvPr>
          <p:cNvSpPr txBox="1"/>
          <p:nvPr/>
        </p:nvSpPr>
        <p:spPr>
          <a:xfrm>
            <a:off x="729712" y="1446508"/>
            <a:ext cx="305445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accent6">
                    <a:lumMod val="76000"/>
                  </a:schemeClr>
                </a:solidFill>
                <a:latin typeface="Aharoni"/>
                <a:ea typeface="+mn-lt"/>
                <a:cs typeface="Aharoni"/>
              </a:rPr>
              <a:t>Domain </a:t>
            </a:r>
            <a:endParaRPr lang="en-US">
              <a:ea typeface="Cambria"/>
            </a:endParaRPr>
          </a:p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accent6">
                    <a:lumMod val="76000"/>
                  </a:schemeClr>
                </a:solidFill>
                <a:latin typeface="Aharoni"/>
                <a:ea typeface="+mn-lt"/>
                <a:cs typeface="Aharoni"/>
              </a:rPr>
              <a:t>Knowledge Areas</a:t>
            </a:r>
            <a:endParaRPr lang="en-US" sz="2400">
              <a:solidFill>
                <a:schemeClr val="accent6">
                  <a:lumMod val="76000"/>
                </a:schemeClr>
              </a:solidFill>
              <a:latin typeface="Aharoni"/>
              <a:cs typeface="Aharon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02AC90-1CC6-756C-2E58-1439CF93942A}"/>
              </a:ext>
            </a:extLst>
          </p:cNvPr>
          <p:cNvSpPr txBox="1"/>
          <p:nvPr/>
        </p:nvSpPr>
        <p:spPr>
          <a:xfrm>
            <a:off x="4830305" y="1633778"/>
            <a:ext cx="25249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chemeClr val="accent5">
                    <a:lumMod val="49000"/>
                  </a:schemeClr>
                </a:solidFill>
                <a:latin typeface="Aharoni"/>
                <a:ea typeface="+mn-lt"/>
                <a:cs typeface="Aharoni"/>
              </a:rPr>
              <a:t>Methodology</a:t>
            </a:r>
            <a:endParaRPr lang="en-US" sz="2400">
              <a:solidFill>
                <a:schemeClr val="accent5">
                  <a:lumMod val="49000"/>
                </a:schemeClr>
              </a:solidFill>
              <a:latin typeface="Aharoni"/>
              <a:cs typeface="Aharon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853B9-6B6C-A4E7-728E-844BC12395C4}"/>
              </a:ext>
            </a:extLst>
          </p:cNvPr>
          <p:cNvSpPr txBox="1"/>
          <p:nvPr/>
        </p:nvSpPr>
        <p:spPr>
          <a:xfrm>
            <a:off x="8472407" y="1446508"/>
            <a:ext cx="223433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accent4">
                    <a:lumMod val="76000"/>
                  </a:schemeClr>
                </a:solidFill>
                <a:latin typeface="Aharoni"/>
                <a:ea typeface="+mn-lt"/>
                <a:cs typeface="Aharoni"/>
              </a:rPr>
              <a:t>Latest Technologies</a:t>
            </a:r>
            <a:endParaRPr lang="en-US" sz="2400">
              <a:solidFill>
                <a:schemeClr val="accent4">
                  <a:lumMod val="76000"/>
                </a:schemeClr>
              </a:solidFill>
              <a:latin typeface="Aharoni"/>
              <a:ea typeface="Cambria"/>
              <a:cs typeface="Aharon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B529C-FD3C-CE72-80DF-276C63CB842C}"/>
              </a:ext>
            </a:extLst>
          </p:cNvPr>
          <p:cNvSpPr txBox="1"/>
          <p:nvPr/>
        </p:nvSpPr>
        <p:spPr>
          <a:xfrm>
            <a:off x="884695" y="2557218"/>
            <a:ext cx="289947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ct val="0"/>
              </a:spcBef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Natural Language Processing (NLP)</a:t>
            </a:r>
            <a:endParaRPr lang="en-US">
              <a:ea typeface="Cambria"/>
            </a:endParaRPr>
          </a:p>
          <a:p>
            <a:pPr marL="285750" indent="-285750">
              <a:spcBef>
                <a:spcPct val="0"/>
              </a:spcBef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spcBef>
                <a:spcPct val="0"/>
              </a:spcBef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Optical Character Recognition (OCR) </a:t>
            </a:r>
            <a:endParaRPr lang="en-US">
              <a:ea typeface="Cambria"/>
            </a:endParaRPr>
          </a:p>
          <a:p>
            <a:pPr marL="285750" indent="-285750">
              <a:spcBef>
                <a:spcPct val="0"/>
              </a:spcBef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spcBef>
                <a:spcPct val="0"/>
              </a:spcBef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Explainable AI (XAI)</a:t>
            </a:r>
            <a:endParaRPr lang="en-US">
              <a:ea typeface="Cambria"/>
            </a:endParaRPr>
          </a:p>
          <a:p>
            <a:pPr marL="285750" indent="-285750">
              <a:spcBef>
                <a:spcPct val="0"/>
              </a:spcBef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spcBef>
                <a:spcPct val="0"/>
              </a:spcBef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Design Science Research (DSR)</a:t>
            </a:r>
            <a:endParaRPr lang="en-US">
              <a:ea typeface="Cambria"/>
            </a:endParaRPr>
          </a:p>
          <a:p>
            <a:endParaRPr lang="en-US">
              <a:ea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18D293-84DF-DFF7-B316-115E55858952}"/>
              </a:ext>
            </a:extLst>
          </p:cNvPr>
          <p:cNvSpPr txBox="1"/>
          <p:nvPr/>
        </p:nvSpPr>
        <p:spPr>
          <a:xfrm>
            <a:off x="4804473" y="2557220"/>
            <a:ext cx="3125492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Data Collection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Preprocessing</a:t>
            </a:r>
            <a:endParaRPr lang="en-US">
              <a:ea typeface="Cambria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Text Analysis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Concept Based Evaluation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Explainable AI</a:t>
            </a:r>
            <a:endParaRPr lang="en-US">
              <a:ea typeface="Cambria"/>
            </a:endParaRPr>
          </a:p>
          <a:p>
            <a:pPr algn="l"/>
            <a:endParaRPr lang="en-US">
              <a:ea typeface="Cambr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D232D9-2D48-6E42-F001-ED622BF3330F}"/>
              </a:ext>
            </a:extLst>
          </p:cNvPr>
          <p:cNvSpPr txBox="1"/>
          <p:nvPr/>
        </p:nvSpPr>
        <p:spPr>
          <a:xfrm>
            <a:off x="8472407" y="2557220"/>
            <a:ext cx="319006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OCR models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NLP models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Explainable AI frameworks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Data visualization tools </a:t>
            </a:r>
            <a:endParaRPr lang="en-US">
              <a:ea typeface="Cambria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BAA2F4-4EA1-5E58-A2C0-9E3215667C97}"/>
              </a:ext>
            </a:extLst>
          </p:cNvPr>
          <p:cNvCxnSpPr/>
          <p:nvPr/>
        </p:nvCxnSpPr>
        <p:spPr>
          <a:xfrm>
            <a:off x="4223287" y="1601490"/>
            <a:ext cx="12915" cy="365501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D5D25B-9156-719E-8502-C3842AD4FFF1}"/>
              </a:ext>
            </a:extLst>
          </p:cNvPr>
          <p:cNvCxnSpPr>
            <a:cxnSpLocks/>
          </p:cNvCxnSpPr>
          <p:nvPr/>
        </p:nvCxnSpPr>
        <p:spPr>
          <a:xfrm>
            <a:off x="7994541" y="1627321"/>
            <a:ext cx="51660" cy="367439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935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89AC85-C4DA-AFDF-D6D1-E1BA4B4F4A94}"/>
              </a:ext>
            </a:extLst>
          </p:cNvPr>
          <p:cNvSpPr/>
          <p:nvPr/>
        </p:nvSpPr>
        <p:spPr>
          <a:xfrm>
            <a:off x="1132811" y="597975"/>
            <a:ext cx="4929608" cy="3072539"/>
          </a:xfrm>
          <a:prstGeom prst="rect">
            <a:avLst/>
          </a:prstGeom>
          <a:solidFill>
            <a:srgbClr val="C9FAFC">
              <a:alpha val="47000"/>
            </a:srgbClr>
          </a:solidFill>
          <a:ln>
            <a:solidFill>
              <a:srgbClr val="B5B5B5"/>
            </a:solidFill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E7B2D9-1370-F9EA-AA41-418DE365F5D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IT22239198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Wickramarathne</a:t>
            </a:r>
            <a:r>
              <a:rPr lang="en-US" b="1">
                <a:solidFill>
                  <a:schemeClr val="tx1"/>
                </a:solidFill>
              </a:rPr>
              <a:t> H.I.B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1">
                <a:solidFill>
                  <a:schemeClr val="tx1"/>
                </a:solidFill>
              </a:rPr>
              <a:t>R26-SE-025</a:t>
            </a:r>
            <a:endParaRPr lang="en-US" b="1">
              <a:solidFill>
                <a:schemeClr val="tx1"/>
              </a:solidFill>
              <a:ea typeface="Cambri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AB4D5B-6B17-CF25-2F11-0C5D385A8646}"/>
              </a:ext>
            </a:extLst>
          </p:cNvPr>
          <p:cNvSpPr txBox="1"/>
          <p:nvPr/>
        </p:nvSpPr>
        <p:spPr>
          <a:xfrm>
            <a:off x="361627" y="393915"/>
            <a:ext cx="6580322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1" i="0" u="none" strike="noStrike" cap="all" baseline="0">
                <a:solidFill>
                  <a:srgbClr val="000000"/>
                </a:solidFill>
                <a:latin typeface="Cambria"/>
                <a:ea typeface="Segoe UI"/>
                <a:cs typeface="Segoe UI"/>
              </a:rPr>
              <a:t>Handwritten Answer Parsing &amp; Evaluation Module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Cambria"/>
                <a:ea typeface="Segoe UI"/>
                <a:cs typeface="Segoe UI"/>
              </a:rPr>
              <a:t>​</a:t>
            </a:r>
            <a:r>
              <a:rPr lang="en-US" sz="1800" b="1" i="0">
                <a:solidFill>
                  <a:srgbClr val="000000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4000" b="0" i="0" u="none" strike="noStrike" baseline="0">
                <a:solidFill>
                  <a:srgbClr val="000000"/>
                </a:solidFill>
                <a:latin typeface="Adobe Devanagari"/>
                <a:ea typeface="Segoe UI"/>
                <a:cs typeface="Segoe UI"/>
              </a:rPr>
              <a:t>​</a:t>
            </a:r>
            <a:r>
              <a:rPr lang="en-US" sz="4000" b="0" i="0">
                <a:solidFill>
                  <a:srgbClr val="000000"/>
                </a:solidFill>
                <a:latin typeface="Adobe Devanagari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D2FF3-D10E-092A-2057-630D367F4D39}"/>
              </a:ext>
            </a:extLst>
          </p:cNvPr>
          <p:cNvSpPr txBox="1"/>
          <p:nvPr/>
        </p:nvSpPr>
        <p:spPr>
          <a:xfrm>
            <a:off x="1356103" y="1459422"/>
            <a:ext cx="412513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>
                <a:solidFill>
                  <a:schemeClr val="tx1">
                    <a:lumMod val="65000"/>
                    <a:lumOff val="35000"/>
                  </a:schemeClr>
                </a:solidFill>
                <a:latin typeface="Aharoni"/>
                <a:ea typeface="+mn-lt"/>
                <a:cs typeface="Aharoni"/>
              </a:rPr>
              <a:t>Validation &amp; Evaluation</a:t>
            </a:r>
          </a:p>
          <a:p>
            <a:endParaRPr lang="en-US" sz="2400">
              <a:solidFill>
                <a:schemeClr val="tx1">
                  <a:lumMod val="65000"/>
                  <a:lumOff val="35000"/>
                </a:schemeClr>
              </a:solidFill>
              <a:latin typeface="Aharoni"/>
              <a:ea typeface="Cambria"/>
              <a:cs typeface="Aharon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63DE3A-90FE-9B0A-653E-3EDA8D4FCB38}"/>
              </a:ext>
            </a:extLst>
          </p:cNvPr>
          <p:cNvSpPr txBox="1"/>
          <p:nvPr/>
        </p:nvSpPr>
        <p:spPr>
          <a:xfrm>
            <a:off x="1678983" y="1943746"/>
            <a:ext cx="366147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AI Grades vs Teacher Grades</a:t>
            </a:r>
            <a:endParaRPr lang="en-US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Accuracy / Precision Metrics</a:t>
            </a:r>
            <a:endParaRPr lang="en-US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Semantic Similarity Scoring</a:t>
            </a:r>
            <a:endParaRPr lang="en-US">
              <a:ea typeface="Cambria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Concept Coverage Analysis</a:t>
            </a:r>
            <a:endParaRPr lang="en-US">
              <a:ea typeface="Cambria"/>
            </a:endParaRPr>
          </a:p>
          <a:p>
            <a:pPr algn="l"/>
            <a:endParaRPr lang="en-US">
              <a:ea typeface="Cambri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4A67DE-7A38-C049-B3A2-5150A5A87143}"/>
              </a:ext>
            </a:extLst>
          </p:cNvPr>
          <p:cNvSpPr/>
          <p:nvPr/>
        </p:nvSpPr>
        <p:spPr>
          <a:xfrm>
            <a:off x="6809066" y="359043"/>
            <a:ext cx="4335504" cy="3498742"/>
          </a:xfrm>
          <a:prstGeom prst="rect">
            <a:avLst/>
          </a:prstGeom>
          <a:solidFill>
            <a:srgbClr val="E5F4E0">
              <a:alpha val="46000"/>
            </a:srgbClr>
          </a:solidFill>
          <a:ln>
            <a:solidFill>
              <a:srgbClr val="B5B5B5"/>
            </a:solidFill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9CFD9D-3807-B903-F520-4C17A0A62E97}"/>
              </a:ext>
            </a:extLst>
          </p:cNvPr>
          <p:cNvSpPr txBox="1"/>
          <p:nvPr/>
        </p:nvSpPr>
        <p:spPr>
          <a:xfrm>
            <a:off x="7516679" y="1188204"/>
            <a:ext cx="2621797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Aharoni"/>
                <a:ea typeface="+mn-lt"/>
                <a:cs typeface="Aharoni"/>
              </a:rPr>
              <a:t>Data Availability</a:t>
            </a:r>
            <a:endParaRPr lang="en-US" sz="2400">
              <a:solidFill>
                <a:schemeClr val="tx1">
                  <a:lumMod val="65000"/>
                  <a:lumOff val="35000"/>
                </a:schemeClr>
              </a:solidFill>
              <a:latin typeface="Aharoni"/>
              <a:cs typeface="Aharoni"/>
            </a:endParaRPr>
          </a:p>
          <a:p>
            <a:pPr rtl="0"/>
            <a:r>
              <a:rPr lang="en-US" sz="2400">
                <a:latin typeface="Aharoni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613ADB-C337-8924-F904-5D6F22272D23}"/>
              </a:ext>
            </a:extLst>
          </p:cNvPr>
          <p:cNvSpPr/>
          <p:nvPr/>
        </p:nvSpPr>
        <p:spPr>
          <a:xfrm>
            <a:off x="551624" y="3562028"/>
            <a:ext cx="4406540" cy="2523640"/>
          </a:xfrm>
          <a:prstGeom prst="rect">
            <a:avLst/>
          </a:prstGeom>
          <a:solidFill>
            <a:srgbClr val="EDF3DB">
              <a:alpha val="50000"/>
            </a:srgbClr>
          </a:solidFill>
          <a:ln>
            <a:solidFill>
              <a:srgbClr val="B5B5B5"/>
            </a:solidFill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CF40EE-1026-E35A-0440-B1D8B7073BF7}"/>
              </a:ext>
            </a:extLst>
          </p:cNvPr>
          <p:cNvSpPr txBox="1"/>
          <p:nvPr/>
        </p:nvSpPr>
        <p:spPr>
          <a:xfrm>
            <a:off x="2195593" y="4029558"/>
            <a:ext cx="13625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Aharoni"/>
                <a:ea typeface="+mn-lt"/>
                <a:cs typeface="Aharoni"/>
              </a:rPr>
              <a:t>Security</a:t>
            </a:r>
            <a:endParaRPr lang="en-US" sz="2400">
              <a:solidFill>
                <a:schemeClr val="tx1">
                  <a:lumMod val="65000"/>
                  <a:lumOff val="35000"/>
                </a:schemeClr>
              </a:solidFill>
              <a:latin typeface="Aharoni"/>
              <a:ea typeface="Cambria"/>
              <a:cs typeface="Aharon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AED450-AE8A-E291-8CBC-4B3CFFD1DCA1}"/>
              </a:ext>
            </a:extLst>
          </p:cNvPr>
          <p:cNvSpPr/>
          <p:nvPr/>
        </p:nvSpPr>
        <p:spPr>
          <a:xfrm>
            <a:off x="5743555" y="3510366"/>
            <a:ext cx="4871488" cy="3020876"/>
          </a:xfrm>
          <a:prstGeom prst="rect">
            <a:avLst/>
          </a:prstGeom>
          <a:solidFill>
            <a:srgbClr val="CAFBED">
              <a:alpha val="47000"/>
            </a:srgbClr>
          </a:solidFill>
          <a:ln>
            <a:solidFill>
              <a:srgbClr val="B5B5B5"/>
            </a:solidFill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388884-3675-E2B9-095F-94D14B9D722C}"/>
              </a:ext>
            </a:extLst>
          </p:cNvPr>
          <p:cNvSpPr txBox="1"/>
          <p:nvPr/>
        </p:nvSpPr>
        <p:spPr>
          <a:xfrm>
            <a:off x="6560949" y="4210372"/>
            <a:ext cx="333859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Aharoni"/>
                <a:ea typeface="+mn-lt"/>
                <a:cs typeface="Aharoni"/>
              </a:rPr>
              <a:t>Ethical Considerations</a:t>
            </a:r>
            <a:endParaRPr lang="en-US" sz="2400">
              <a:solidFill>
                <a:schemeClr val="tx1">
                  <a:lumMod val="65000"/>
                  <a:lumOff val="35000"/>
                </a:schemeClr>
              </a:solidFill>
              <a:latin typeface="Aharoni"/>
              <a:ea typeface="Cambria"/>
              <a:cs typeface="Aharon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175497-CFB1-23BF-0BD7-E13FF0E7A383}"/>
              </a:ext>
            </a:extLst>
          </p:cNvPr>
          <p:cNvSpPr txBox="1"/>
          <p:nvPr/>
        </p:nvSpPr>
        <p:spPr>
          <a:xfrm>
            <a:off x="1349643" y="4475134"/>
            <a:ext cx="349357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Student Data Anonymization</a:t>
            </a:r>
            <a:endParaRPr lang="en-US">
              <a:ea typeface="Cambr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Secure Storage</a:t>
            </a:r>
            <a:endParaRPr lang="en-US">
              <a:ea typeface="Cambria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ea typeface="+mn-lt"/>
                <a:cs typeface="+mn-lt"/>
              </a:rPr>
              <a:t>Access Control</a:t>
            </a:r>
            <a:endParaRPr lang="en-US">
              <a:ea typeface="Cambria"/>
            </a:endParaRPr>
          </a:p>
          <a:p>
            <a:pPr marL="285750" indent="-285750">
              <a:buFont typeface="Arial,Sans-Serif"/>
              <a:buChar char="•"/>
            </a:pPr>
            <a:endParaRPr lang="en-US">
              <a:ea typeface="Cambria"/>
            </a:endParaRPr>
          </a:p>
          <a:p>
            <a:pPr marL="285750" indent="-285750" algn="l">
              <a:buFont typeface="Arial"/>
              <a:buChar char="•"/>
            </a:pPr>
            <a:endParaRPr lang="en-US">
              <a:ea typeface="Camb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02EF0-4016-1F0C-2518-64BCB86F0E3F}"/>
              </a:ext>
            </a:extLst>
          </p:cNvPr>
          <p:cNvSpPr txBox="1"/>
          <p:nvPr/>
        </p:nvSpPr>
        <p:spPr>
          <a:xfrm>
            <a:off x="7297118" y="1743560"/>
            <a:ext cx="60960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latin typeface="Cambria"/>
                <a:ea typeface="Cambria"/>
                <a:cs typeface="Arial"/>
              </a:rPr>
              <a:t>Scanned Exam Scripts</a:t>
            </a:r>
            <a:endParaRPr lang="en-US" sz="1800">
              <a:latin typeface="Cambria"/>
              <a:ea typeface="Cambria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mbria"/>
                <a:ea typeface="Cambria"/>
                <a:cs typeface="Arial"/>
              </a:rPr>
              <a:t>Teacher Marking Rubrics</a:t>
            </a:r>
            <a:endParaRPr lang="en-US" sz="1800">
              <a:latin typeface="Cambria"/>
              <a:ea typeface="Cambria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mbria"/>
                <a:ea typeface="Cambria"/>
                <a:cs typeface="Arial"/>
              </a:rPr>
              <a:t>OCR / NLP Training Data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mbria"/>
                <a:ea typeface="Cambria"/>
                <a:cs typeface="Arial"/>
              </a:rPr>
              <a:t>Domain info materials</a:t>
            </a:r>
          </a:p>
          <a:p>
            <a:pPr marL="285750" indent="-285750">
              <a:buFont typeface="Arial,Sans-Serif"/>
              <a:buChar char="•"/>
            </a:pPr>
            <a:endParaRPr lang="en-US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>
              <a:ea typeface="Cambria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C1E33-04B6-4E92-C97A-CFD58C05C380}"/>
              </a:ext>
            </a:extLst>
          </p:cNvPr>
          <p:cNvSpPr txBox="1"/>
          <p:nvPr/>
        </p:nvSpPr>
        <p:spPr>
          <a:xfrm>
            <a:off x="6558411" y="4672949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>
                <a:latin typeface="Cambria"/>
                <a:ea typeface="Cambria"/>
                <a:cs typeface="Arial"/>
              </a:rPr>
              <a:t>AI as Decision Support</a:t>
            </a:r>
            <a:endParaRPr lang="en-US" sz="1800">
              <a:latin typeface="Cambria"/>
              <a:ea typeface="Cambria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mbria"/>
                <a:ea typeface="Cambria"/>
                <a:cs typeface="Arial"/>
              </a:rPr>
              <a:t>Explainable AI Transparency</a:t>
            </a:r>
            <a:endParaRPr lang="en-US" sz="1800">
              <a:latin typeface="Cambria"/>
              <a:ea typeface="Cambria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Cambria"/>
                <a:ea typeface="Cambria"/>
                <a:cs typeface="Arial"/>
              </a:rPr>
              <a:t>Bias &amp; Fairness </a:t>
            </a:r>
            <a:r>
              <a:rPr lang="en-US" sz="1800" baseline="0">
                <a:latin typeface="Cambria"/>
                <a:ea typeface="Cambria"/>
                <a:cs typeface="Arial"/>
              </a:rPr>
              <a:t>Control</a:t>
            </a:r>
            <a:endParaRPr lang="en-US">
              <a:latin typeface="Cambria"/>
              <a:ea typeface="Cambria"/>
              <a:cs typeface="Arial"/>
            </a:endParaRPr>
          </a:p>
          <a:p>
            <a:pPr marL="285750" lvl="0" indent="-285750">
              <a:buFont typeface="Arial,Sans-Serif"/>
              <a:buChar char="•"/>
            </a:pPr>
            <a:endParaRPr lang="en-US" sz="1800">
              <a:latin typeface="Cambria"/>
              <a:ea typeface="Cambria"/>
              <a:cs typeface="Arial"/>
            </a:endParaRPr>
          </a:p>
          <a:p>
            <a:pPr marL="285750" lvl="0" indent="-285750">
              <a:buFont typeface="Arial,Sans-Serif"/>
              <a:buChar char="•"/>
            </a:pPr>
            <a:endParaRPr lang="en-US">
              <a:latin typeface="Cambria"/>
              <a:ea typeface="Cambria"/>
              <a:cs typeface="Arial"/>
            </a:endParaRPr>
          </a:p>
          <a:p>
            <a:pPr marL="285750" lvl="0" indent="-285750">
              <a:buFont typeface="Arial,Sans-Serif"/>
              <a:buChar char="•"/>
            </a:pPr>
            <a:endParaRPr lang="en-US">
              <a:latin typeface="Cambria"/>
              <a:ea typeface="Cambria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859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B447A-2C05-6E4C-5EBE-582ACB79C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B40450-E36D-23AA-C4B6-D692ACADCAE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IT22239198</a:t>
            </a:r>
            <a:r>
              <a:rPr lang="en-US" sz="1800">
                <a:solidFill>
                  <a:schemeClr val="tx1"/>
                </a:solidFill>
              </a:rPr>
              <a:t>   | </a:t>
            </a:r>
            <a:r>
              <a:rPr lang="en-US" b="1" err="1">
                <a:solidFill>
                  <a:schemeClr val="tx1"/>
                </a:solidFill>
              </a:rPr>
              <a:t>Wickramarathne</a:t>
            </a:r>
            <a:r>
              <a:rPr lang="en-US" b="1">
                <a:solidFill>
                  <a:schemeClr val="tx1"/>
                </a:solidFill>
              </a:rPr>
              <a:t> H.I.B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1">
                <a:solidFill>
                  <a:schemeClr val="tx1"/>
                </a:solidFill>
              </a:rPr>
              <a:t>R26-SE-025</a:t>
            </a:r>
            <a:endParaRPr lang="en-US" b="1">
              <a:solidFill>
                <a:schemeClr val="tx1"/>
              </a:solidFill>
              <a:ea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B46CC-8089-3C06-A303-EFB3C06F29B7}"/>
              </a:ext>
            </a:extLst>
          </p:cNvPr>
          <p:cNvSpPr txBox="1"/>
          <p:nvPr/>
        </p:nvSpPr>
        <p:spPr>
          <a:xfrm>
            <a:off x="361627" y="393915"/>
            <a:ext cx="6508681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1" i="0" u="none" strike="noStrike" cap="all" baseline="0">
                <a:solidFill>
                  <a:srgbClr val="000000"/>
                </a:solidFill>
                <a:latin typeface="Cambria"/>
                <a:ea typeface="Segoe UI"/>
                <a:cs typeface="Segoe UI"/>
              </a:rPr>
              <a:t>Handwritten Answer Parsing &amp; Evaluation Module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Cambria"/>
                <a:ea typeface="Segoe UI"/>
                <a:cs typeface="Segoe UI"/>
              </a:rPr>
              <a:t>​</a:t>
            </a:r>
            <a:r>
              <a:rPr lang="en-US" sz="1800" b="1" i="0">
                <a:solidFill>
                  <a:srgbClr val="000000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4000" b="0" i="0" u="none" strike="noStrike" baseline="0">
                <a:solidFill>
                  <a:srgbClr val="000000"/>
                </a:solidFill>
                <a:latin typeface="Adobe Devanagari"/>
                <a:ea typeface="Segoe UI"/>
                <a:cs typeface="Segoe UI"/>
              </a:rPr>
              <a:t>​</a:t>
            </a:r>
            <a:r>
              <a:rPr lang="en-US" sz="4000" b="0" i="0">
                <a:solidFill>
                  <a:srgbClr val="000000"/>
                </a:solidFill>
                <a:latin typeface="Adobe Devanagari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>
                <a:solidFill>
                  <a:srgbClr val="000000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5BFFD-95B2-9FEE-D126-5DA2D2F1A491}"/>
              </a:ext>
            </a:extLst>
          </p:cNvPr>
          <p:cNvSpPr txBox="1"/>
          <p:nvPr/>
        </p:nvSpPr>
        <p:spPr>
          <a:xfrm>
            <a:off x="1162372" y="3888374"/>
            <a:ext cx="35000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Aharoni"/>
                <a:ea typeface="+mn-lt"/>
                <a:cs typeface="Aharoni"/>
              </a:rPr>
              <a:t>Input Dependencies</a:t>
            </a:r>
            <a:endParaRPr lang="en-US" sz="2400" b="1">
              <a:solidFill>
                <a:schemeClr val="tx1">
                  <a:lumMod val="65000"/>
                  <a:lumOff val="35000"/>
                </a:schemeClr>
              </a:solidFill>
              <a:latin typeface="Aharoni"/>
              <a:cs typeface="Aharon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BCB25-7113-7D05-5A9A-CF3D378DA9AA}"/>
              </a:ext>
            </a:extLst>
          </p:cNvPr>
          <p:cNvSpPr txBox="1"/>
          <p:nvPr/>
        </p:nvSpPr>
        <p:spPr>
          <a:xfrm>
            <a:off x="5597603" y="3888374"/>
            <a:ext cx="413177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Aharoni"/>
                <a:ea typeface="+mn-lt"/>
                <a:cs typeface="Aharoni"/>
              </a:rPr>
              <a:t>Technology Dependencies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FCB0A-648D-639E-EE5C-7A85AA653540}"/>
              </a:ext>
            </a:extLst>
          </p:cNvPr>
          <p:cNvSpPr txBox="1"/>
          <p:nvPr/>
        </p:nvSpPr>
        <p:spPr>
          <a:xfrm>
            <a:off x="601829" y="4507423"/>
            <a:ext cx="401697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User Upload Interface (Web App)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Domain Knowledge Sources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Image Processing Libraries (OpenCV)</a:t>
            </a:r>
            <a:endParaRPr lang="en-US">
              <a:ea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CB2B5E-3590-08BB-E60F-F72B3D9F542B}"/>
              </a:ext>
            </a:extLst>
          </p:cNvPr>
          <p:cNvSpPr txBox="1"/>
          <p:nvPr/>
        </p:nvSpPr>
        <p:spPr>
          <a:xfrm>
            <a:off x="5655778" y="4507423"/>
            <a:ext cx="401697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OCR Engine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Natural Language Processing Models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AI Evaluation Engine</a:t>
            </a:r>
            <a:endParaRPr lang="en-US">
              <a:ea typeface="Cambr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48584-ED29-92D8-DEF7-3E205EB03054}"/>
              </a:ext>
            </a:extLst>
          </p:cNvPr>
          <p:cNvSpPr txBox="1"/>
          <p:nvPr/>
        </p:nvSpPr>
        <p:spPr>
          <a:xfrm>
            <a:off x="8213110" y="1375234"/>
            <a:ext cx="3617263" cy="850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Aharoni"/>
                <a:ea typeface="+mn-lt"/>
                <a:cs typeface="Aharoni"/>
              </a:rPr>
              <a:t>Shared System Components</a:t>
            </a:r>
            <a:endParaRPr lang="en-US" sz="2400" b="1">
              <a:solidFill>
                <a:schemeClr val="tx1">
                  <a:lumMod val="65000"/>
                  <a:lumOff val="35000"/>
                </a:schemeClr>
              </a:solidFill>
              <a:latin typeface="Aharoni"/>
              <a:ea typeface="Cambria"/>
              <a:cs typeface="Aharon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BEBFA4-85E1-32F8-99A6-EB733EC3D597}"/>
              </a:ext>
            </a:extLst>
          </p:cNvPr>
          <p:cNvSpPr txBox="1"/>
          <p:nvPr/>
        </p:nvSpPr>
        <p:spPr>
          <a:xfrm>
            <a:off x="8268687" y="2236567"/>
            <a:ext cx="40169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Backend API Layer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Web App</a:t>
            </a:r>
            <a:endParaRPr lang="en-US">
              <a:ea typeface="Cambria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4ABDC3-E1A3-14E8-A3EA-4CB217129C1D}"/>
              </a:ext>
            </a:extLst>
          </p:cNvPr>
          <p:cNvSpPr/>
          <p:nvPr/>
        </p:nvSpPr>
        <p:spPr>
          <a:xfrm>
            <a:off x="466051" y="3740345"/>
            <a:ext cx="4323852" cy="2420230"/>
          </a:xfrm>
          <a:prstGeom prst="roundRect">
            <a:avLst/>
          </a:prstGeom>
          <a:noFill/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D655F51-77FB-7113-8710-067F4C3D05D9}"/>
              </a:ext>
            </a:extLst>
          </p:cNvPr>
          <p:cNvSpPr/>
          <p:nvPr/>
        </p:nvSpPr>
        <p:spPr>
          <a:xfrm>
            <a:off x="5344154" y="3740345"/>
            <a:ext cx="4512723" cy="2420230"/>
          </a:xfrm>
          <a:prstGeom prst="roundRect">
            <a:avLst/>
          </a:prstGeom>
          <a:noFill/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B68307-7D3F-67C1-A699-5BFA64C4ACC5}"/>
              </a:ext>
            </a:extLst>
          </p:cNvPr>
          <p:cNvSpPr/>
          <p:nvPr/>
        </p:nvSpPr>
        <p:spPr>
          <a:xfrm>
            <a:off x="7890777" y="1218234"/>
            <a:ext cx="3939596" cy="1925178"/>
          </a:xfrm>
          <a:prstGeom prst="roundRect">
            <a:avLst/>
          </a:prstGeom>
          <a:noFill/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73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902890"/>
            <a:ext cx="10363200" cy="755426"/>
          </a:xfrm>
        </p:spPr>
        <p:txBody>
          <a:bodyPr/>
          <a:lstStyle/>
          <a:p>
            <a:r>
              <a:rPr lang="en-US"/>
              <a:t>IT22134776 | L.S.B Hemarathne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Hemarathne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EEB37A-BFA3-329C-D326-F88F6E9B0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816" y="191041"/>
            <a:ext cx="1756516" cy="1683388"/>
          </a:xfrm>
          <a:prstGeom prst="rect">
            <a:avLst/>
          </a:prstGeom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6C4B6AB1-0EE1-E57E-9796-A0FB5B7471A7}"/>
              </a:ext>
            </a:extLst>
          </p:cNvPr>
          <p:cNvSpPr/>
          <p:nvPr/>
        </p:nvSpPr>
        <p:spPr>
          <a:xfrm>
            <a:off x="585501" y="1926579"/>
            <a:ext cx="8392617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280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AI-Driven Exam Question Analytics and Prediction Module</a:t>
            </a:r>
            <a:endParaRPr lang="en-US" sz="2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65CF9F-5D76-8D3C-20D3-97A744B4F48F}"/>
              </a:ext>
            </a:extLst>
          </p:cNvPr>
          <p:cNvSpPr txBox="1"/>
          <p:nvPr/>
        </p:nvSpPr>
        <p:spPr>
          <a:xfrm>
            <a:off x="483901" y="2364285"/>
            <a:ext cx="1094122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core module leverages artificial intelligence to transform raw educational data into actionable insights for educators and students alike.</a:t>
            </a:r>
            <a:endParaRPr lang="en-US" sz="1600"/>
          </a:p>
          <a:p>
            <a:endParaRPr lang="en-GB" sz="1600"/>
          </a:p>
        </p:txBody>
      </p:sp>
      <p:sp>
        <p:nvSpPr>
          <p:cNvPr id="58" name="Shape 4">
            <a:extLst>
              <a:ext uri="{FF2B5EF4-FFF2-40B4-BE49-F238E27FC236}">
                <a16:creationId xmlns:a16="http://schemas.microsoft.com/office/drawing/2014/main" id="{85DE5E96-C102-2339-822A-75EF4174822A}"/>
              </a:ext>
            </a:extLst>
          </p:cNvPr>
          <p:cNvSpPr/>
          <p:nvPr/>
        </p:nvSpPr>
        <p:spPr>
          <a:xfrm>
            <a:off x="585501" y="3292479"/>
            <a:ext cx="477540" cy="477540"/>
          </a:xfrm>
          <a:prstGeom prst="roundRect">
            <a:avLst>
              <a:gd name="adj" fmla="val 15955183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GB" sz="1500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6F8A2380-F070-9A94-2DED-89AD1575C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768" y="3423746"/>
            <a:ext cx="214908" cy="214908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0292D29A-79F7-C3B2-E5D8-7EEE9F5B1C24}"/>
              </a:ext>
            </a:extLst>
          </p:cNvPr>
          <p:cNvSpPr txBox="1"/>
          <p:nvPr/>
        </p:nvSpPr>
        <p:spPr>
          <a:xfrm>
            <a:off x="1194308" y="3346583"/>
            <a:ext cx="6048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Analyzes historical exam questions instead of only final grades.</a:t>
            </a:r>
            <a:endParaRPr lang="en-US"/>
          </a:p>
        </p:txBody>
      </p:sp>
      <p:sp>
        <p:nvSpPr>
          <p:cNvPr id="61" name="Shape 7">
            <a:extLst>
              <a:ext uri="{FF2B5EF4-FFF2-40B4-BE49-F238E27FC236}">
                <a16:creationId xmlns:a16="http://schemas.microsoft.com/office/drawing/2014/main" id="{485933DE-0B0F-02BD-3874-0C312F465DBD}"/>
              </a:ext>
            </a:extLst>
          </p:cNvPr>
          <p:cNvSpPr/>
          <p:nvPr/>
        </p:nvSpPr>
        <p:spPr>
          <a:xfrm>
            <a:off x="585501" y="3915532"/>
            <a:ext cx="477540" cy="477540"/>
          </a:xfrm>
          <a:prstGeom prst="roundRect">
            <a:avLst>
              <a:gd name="adj" fmla="val 15955183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GB" sz="1500"/>
          </a:p>
        </p:txBody>
      </p:sp>
      <p:pic>
        <p:nvPicPr>
          <p:cNvPr id="62" name="Image 2" descr="preencoded.png">
            <a:extLst>
              <a:ext uri="{FF2B5EF4-FFF2-40B4-BE49-F238E27FC236}">
                <a16:creationId xmlns:a16="http://schemas.microsoft.com/office/drawing/2014/main" id="{7DD24AF5-F541-5C9C-8ACD-698DC03B6E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768" y="4046799"/>
            <a:ext cx="214908" cy="21490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4938085-DE61-A55C-3F4F-9155AB54BB39}"/>
              </a:ext>
            </a:extLst>
          </p:cNvPr>
          <p:cNvSpPr txBox="1"/>
          <p:nvPr/>
        </p:nvSpPr>
        <p:spPr>
          <a:xfrm>
            <a:off x="1194308" y="4046799"/>
            <a:ext cx="5808065" cy="324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33"/>
              </a:lnSpc>
            </a:pPr>
            <a:r>
              <a:rPr lang="en-US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question analysis with student performance data.</a:t>
            </a:r>
            <a:endParaRPr lang="en-US"/>
          </a:p>
        </p:txBody>
      </p:sp>
      <p:sp>
        <p:nvSpPr>
          <p:cNvPr id="65" name="Shape 10">
            <a:extLst>
              <a:ext uri="{FF2B5EF4-FFF2-40B4-BE49-F238E27FC236}">
                <a16:creationId xmlns:a16="http://schemas.microsoft.com/office/drawing/2014/main" id="{8B84793C-3176-9639-E464-022D5BD81989}"/>
              </a:ext>
            </a:extLst>
          </p:cNvPr>
          <p:cNvSpPr/>
          <p:nvPr/>
        </p:nvSpPr>
        <p:spPr>
          <a:xfrm>
            <a:off x="585501" y="4525467"/>
            <a:ext cx="477540" cy="477540"/>
          </a:xfrm>
          <a:prstGeom prst="roundRect">
            <a:avLst>
              <a:gd name="adj" fmla="val 15955183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GB" sz="1500"/>
          </a:p>
        </p:txBody>
      </p:sp>
      <p:pic>
        <p:nvPicPr>
          <p:cNvPr id="66" name="Image 3" descr="preencoded.png">
            <a:extLst>
              <a:ext uri="{FF2B5EF4-FFF2-40B4-BE49-F238E27FC236}">
                <a16:creationId xmlns:a16="http://schemas.microsoft.com/office/drawing/2014/main" id="{A2E16D87-FE9D-EBD4-87A6-770CC59742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768" y="4656734"/>
            <a:ext cx="214908" cy="214908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AFD41B3C-6B56-D48E-925A-337C6CDDA043}"/>
              </a:ext>
            </a:extLst>
          </p:cNvPr>
          <p:cNvSpPr txBox="1"/>
          <p:nvPr/>
        </p:nvSpPr>
        <p:spPr>
          <a:xfrm>
            <a:off x="1194308" y="4607720"/>
            <a:ext cx="5388783" cy="324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33"/>
              </a:lnSpc>
            </a:pPr>
            <a:r>
              <a:rPr lang="en-US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weak concepts and misunderstood questions.</a:t>
            </a:r>
            <a:endParaRPr lang="en-US"/>
          </a:p>
        </p:txBody>
      </p:sp>
      <p:sp>
        <p:nvSpPr>
          <p:cNvPr id="68" name="Shape 13">
            <a:extLst>
              <a:ext uri="{FF2B5EF4-FFF2-40B4-BE49-F238E27FC236}">
                <a16:creationId xmlns:a16="http://schemas.microsoft.com/office/drawing/2014/main" id="{439CD6F5-BAAB-47C2-C931-97E22DC0232C}"/>
              </a:ext>
            </a:extLst>
          </p:cNvPr>
          <p:cNvSpPr/>
          <p:nvPr/>
        </p:nvSpPr>
        <p:spPr>
          <a:xfrm>
            <a:off x="585501" y="5129313"/>
            <a:ext cx="477540" cy="477540"/>
          </a:xfrm>
          <a:prstGeom prst="roundRect">
            <a:avLst>
              <a:gd name="adj" fmla="val 15955183"/>
            </a:avLst>
          </a:prstGeom>
          <a:solidFill>
            <a:srgbClr val="28282F"/>
          </a:solidFill>
          <a:ln/>
        </p:spPr>
        <p:txBody>
          <a:bodyPr/>
          <a:lstStyle/>
          <a:p>
            <a:endParaRPr lang="en-GB" sz="1500"/>
          </a:p>
        </p:txBody>
      </p:sp>
      <p:pic>
        <p:nvPicPr>
          <p:cNvPr id="69" name="Image 4" descr="preencoded.png">
            <a:extLst>
              <a:ext uri="{FF2B5EF4-FFF2-40B4-BE49-F238E27FC236}">
                <a16:creationId xmlns:a16="http://schemas.microsoft.com/office/drawing/2014/main" id="{D961CA92-B7F8-AB2A-34DE-1BA310917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768" y="5260580"/>
            <a:ext cx="214908" cy="214908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F447979-9109-D222-E518-FB712CDFD023}"/>
              </a:ext>
            </a:extLst>
          </p:cNvPr>
          <p:cNvSpPr txBox="1"/>
          <p:nvPr/>
        </p:nvSpPr>
        <p:spPr>
          <a:xfrm>
            <a:off x="1194308" y="5247873"/>
            <a:ext cx="5129418" cy="3245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33"/>
              </a:lnSpc>
            </a:pPr>
            <a:r>
              <a:rPr lang="en-US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machine learning to predict future exam topics.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48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8F6ED1A8-5BDA-39A0-73F7-B28F20B55096}"/>
              </a:ext>
            </a:extLst>
          </p:cNvPr>
          <p:cNvSpPr/>
          <p:nvPr/>
        </p:nvSpPr>
        <p:spPr>
          <a:xfrm>
            <a:off x="7542611" y="4468592"/>
            <a:ext cx="3932252" cy="1437908"/>
          </a:xfrm>
          <a:prstGeom prst="roundRect">
            <a:avLst/>
          </a:prstGeom>
          <a:solidFill>
            <a:srgbClr val="FFFFFF"/>
          </a:solidFill>
          <a:ln>
            <a:solidFill>
              <a:srgbClr val="BB63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B2F9FC69-1C5F-5017-CDF6-CA9865701A91}"/>
              </a:ext>
            </a:extLst>
          </p:cNvPr>
          <p:cNvSpPr/>
          <p:nvPr/>
        </p:nvSpPr>
        <p:spPr>
          <a:xfrm>
            <a:off x="754678" y="4472795"/>
            <a:ext cx="3932252" cy="1437908"/>
          </a:xfrm>
          <a:prstGeom prst="roundRect">
            <a:avLst/>
          </a:prstGeom>
          <a:solidFill>
            <a:schemeClr val="bg1"/>
          </a:solidFill>
          <a:ln>
            <a:solidFill>
              <a:srgbClr val="F0B6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18189458-7B04-631C-D27D-FBDBFB5D98AF}"/>
              </a:ext>
            </a:extLst>
          </p:cNvPr>
          <p:cNvSpPr/>
          <p:nvPr/>
        </p:nvSpPr>
        <p:spPr>
          <a:xfrm>
            <a:off x="873689" y="1883707"/>
            <a:ext cx="3553092" cy="1602145"/>
          </a:xfrm>
          <a:prstGeom prst="roundRect">
            <a:avLst/>
          </a:prstGeom>
          <a:solidFill>
            <a:schemeClr val="bg1"/>
          </a:solidFill>
          <a:ln>
            <a:solidFill>
              <a:srgbClr val="748B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E76F2754-8995-1306-D8A3-D3D53C802D4D}"/>
              </a:ext>
            </a:extLst>
          </p:cNvPr>
          <p:cNvSpPr/>
          <p:nvPr/>
        </p:nvSpPr>
        <p:spPr>
          <a:xfrm>
            <a:off x="7451171" y="1548100"/>
            <a:ext cx="4063564" cy="1880900"/>
          </a:xfrm>
          <a:prstGeom prst="roundRect">
            <a:avLst/>
          </a:prstGeom>
          <a:solidFill>
            <a:srgbClr val="FFFFFF"/>
          </a:solidFill>
          <a:ln>
            <a:solidFill>
              <a:srgbClr val="3E4E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4E6A0B-00A0-2EA0-AB60-7B216A212D43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Hemarathne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6DD16275-754A-798F-F4B5-F37080AA4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8435"/>
            <a:ext cx="10515600" cy="736907"/>
          </a:xfrm>
        </p:spPr>
        <p:txBody>
          <a:bodyPr>
            <a:noAutofit/>
          </a:bodyPr>
          <a:lstStyle/>
          <a:p>
            <a:r>
              <a:rPr lang="en-US" sz="2800" i="1">
                <a:latin typeface="Adobe Devanagari"/>
              </a:rPr>
              <a:t>AI-Driven Exam Question Analytics and Prediction Module</a:t>
            </a:r>
            <a:endParaRPr lang="en-US" sz="32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B8DFD0-4629-7C90-81AE-8C1065E6C03B}"/>
              </a:ext>
            </a:extLst>
          </p:cNvPr>
          <p:cNvSpPr txBox="1"/>
          <p:nvPr/>
        </p:nvSpPr>
        <p:spPr>
          <a:xfrm>
            <a:off x="838200" y="1247069"/>
            <a:ext cx="4200702" cy="392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 rtl="0" eaLnBrk="1" latinLnBrk="0" hangingPunct="1">
              <a:lnSpc>
                <a:spcPts val="2300"/>
              </a:lnSpc>
              <a:buNone/>
            </a:pPr>
            <a:r>
              <a:rPr lang="en-US" sz="2400" u="sng" kern="1200">
                <a:solidFill>
                  <a:srgbClr val="505468"/>
                </a:solidFill>
                <a:effectLst/>
                <a:latin typeface="Instrument Sans Semi Bold"/>
                <a:ea typeface="Instrument Sans Semi Bold"/>
                <a:cs typeface="Instrument Sans Semi Bold"/>
              </a:rPr>
              <a:t>The Challenge We're Addressing</a:t>
            </a:r>
            <a:endParaRPr lang="en-GB" sz="2400" u="sng">
              <a:effectLst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715A0E-BC59-FD79-4E58-350C2BFF2310}"/>
              </a:ext>
            </a:extLst>
          </p:cNvPr>
          <p:cNvSpPr txBox="1"/>
          <p:nvPr/>
        </p:nvSpPr>
        <p:spPr>
          <a:xfrm>
            <a:off x="953587" y="2043476"/>
            <a:ext cx="34624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1">
                <a:latin typeface="Instrument Sans Semi Bold"/>
              </a:rPr>
              <a:t>Untapped Data</a:t>
            </a:r>
          </a:p>
          <a:p>
            <a:r>
              <a:rPr lang="en-GB" sz="2000">
                <a:latin typeface="Instrument Sans Semi Bold"/>
              </a:rPr>
              <a:t>Grades are stored, but valuable performance data is wasted.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0388F8-0A5F-BA0C-B85C-5CB37BFD4DBB}"/>
              </a:ext>
            </a:extLst>
          </p:cNvPr>
          <p:cNvSpPr txBox="1"/>
          <p:nvPr/>
        </p:nvSpPr>
        <p:spPr>
          <a:xfrm>
            <a:off x="7613731" y="1636249"/>
            <a:ext cx="406356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>
                <a:latin typeface="Instrument Sans Semi Bold"/>
              </a:rPr>
              <a:t>Generic Guidance</a:t>
            </a:r>
          </a:p>
          <a:p>
            <a:r>
              <a:rPr lang="en-US" sz="2000" dirty="0">
                <a:latin typeface="Instrument Sans Semi Bold"/>
              </a:rPr>
              <a:t>Lecturers </a:t>
            </a:r>
            <a:r>
              <a:rPr lang="en-US" sz="2000">
                <a:latin typeface="Instrument Sans Semi Bold"/>
              </a:rPr>
              <a:t>lack personalized, data-driven insights </a:t>
            </a:r>
            <a:r>
              <a:rPr lang="en-US" sz="2000" dirty="0">
                <a:latin typeface="Instrument Sans Semi Bold"/>
              </a:rPr>
              <a:t>to identify weak concepts and improve exam preparation guidance</a:t>
            </a:r>
            <a:r>
              <a:rPr lang="en-US" sz="2000">
                <a:latin typeface="Instrument Sans Semi Bold"/>
              </a:rPr>
              <a:t>.</a:t>
            </a:r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423371-2FCA-CC2A-09D5-24ACF997CC95}"/>
              </a:ext>
            </a:extLst>
          </p:cNvPr>
          <p:cNvSpPr txBox="1"/>
          <p:nvPr/>
        </p:nvSpPr>
        <p:spPr>
          <a:xfrm>
            <a:off x="808578" y="4643015"/>
            <a:ext cx="393225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1">
                <a:latin typeface="Instrument Sans Semi Bold"/>
              </a:rPr>
              <a:t>No Error Analysis</a:t>
            </a:r>
          </a:p>
          <a:p>
            <a:r>
              <a:rPr lang="en-GB" sz="2000">
                <a:latin typeface="Instrument Sans Semi Bold"/>
              </a:rPr>
              <a:t>Can't identify which specific questions students commonly fail.</a:t>
            </a:r>
          </a:p>
          <a:p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E0C861-DF76-A4C6-3EE9-92D2C009E31A}"/>
              </a:ext>
            </a:extLst>
          </p:cNvPr>
          <p:cNvSpPr txBox="1"/>
          <p:nvPr/>
        </p:nvSpPr>
        <p:spPr>
          <a:xfrm>
            <a:off x="7613731" y="4552283"/>
            <a:ext cx="425314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1">
                <a:latin typeface="Instrument Sans Semi Bold"/>
              </a:rPr>
              <a:t>Hidden Gaps </a:t>
            </a:r>
          </a:p>
          <a:p>
            <a:r>
              <a:rPr lang="en-GB" sz="2000">
                <a:latin typeface="Instrument Sans Semi Bold"/>
              </a:rPr>
              <a:t>Weak concepts and misunderstood topics remain invisible</a:t>
            </a:r>
            <a:r>
              <a:rPr lang="en-GB"/>
              <a:t>.</a:t>
            </a:r>
          </a:p>
          <a:p>
            <a:pPr algn="ctr"/>
            <a:endParaRPr lang="en-GB"/>
          </a:p>
        </p:txBody>
      </p: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9763D9C8-4E61-46CF-035C-165C8EBE4B7D}"/>
              </a:ext>
            </a:extLst>
          </p:cNvPr>
          <p:cNvCxnSpPr>
            <a:cxnSpLocks/>
          </p:cNvCxnSpPr>
          <p:nvPr/>
        </p:nvCxnSpPr>
        <p:spPr>
          <a:xfrm rot="10800000">
            <a:off x="4475780" y="2329070"/>
            <a:ext cx="900013" cy="586851"/>
          </a:xfrm>
          <a:prstGeom prst="curvedConnector3">
            <a:avLst>
              <a:gd name="adj1" fmla="val 50000"/>
            </a:avLst>
          </a:prstGeom>
          <a:ln w="57150">
            <a:solidFill>
              <a:srgbClr val="748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33B19557-4E44-BE54-6182-8CBD9CB4D66E}"/>
              </a:ext>
            </a:extLst>
          </p:cNvPr>
          <p:cNvCxnSpPr>
            <a:cxnSpLocks/>
          </p:cNvCxnSpPr>
          <p:nvPr/>
        </p:nvCxnSpPr>
        <p:spPr>
          <a:xfrm flipV="1">
            <a:off x="6428740" y="2288302"/>
            <a:ext cx="937260" cy="627618"/>
          </a:xfrm>
          <a:prstGeom prst="curvedConnector3">
            <a:avLst>
              <a:gd name="adj1" fmla="val 50000"/>
            </a:avLst>
          </a:prstGeom>
          <a:ln w="57150">
            <a:solidFill>
              <a:srgbClr val="3D4E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Curved 77">
            <a:extLst>
              <a:ext uri="{FF2B5EF4-FFF2-40B4-BE49-F238E27FC236}">
                <a16:creationId xmlns:a16="http://schemas.microsoft.com/office/drawing/2014/main" id="{91B2CB49-3DBB-0829-8A9E-BB3219419F32}"/>
              </a:ext>
            </a:extLst>
          </p:cNvPr>
          <p:cNvCxnSpPr>
            <a:cxnSpLocks/>
            <a:endCxn id="29" idx="3"/>
          </p:cNvCxnSpPr>
          <p:nvPr/>
        </p:nvCxnSpPr>
        <p:spPr>
          <a:xfrm rot="5400000">
            <a:off x="4673668" y="4618001"/>
            <a:ext cx="769286" cy="634961"/>
          </a:xfrm>
          <a:prstGeom prst="curvedConnector2">
            <a:avLst/>
          </a:prstGeom>
          <a:ln w="57150">
            <a:solidFill>
              <a:srgbClr val="EEB35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Curved 82">
            <a:extLst>
              <a:ext uri="{FF2B5EF4-FFF2-40B4-BE49-F238E27FC236}">
                <a16:creationId xmlns:a16="http://schemas.microsoft.com/office/drawing/2014/main" id="{7FA498A3-D355-4777-3D8D-11D445A7C3DB}"/>
              </a:ext>
            </a:extLst>
          </p:cNvPr>
          <p:cNvCxnSpPr>
            <a:cxnSpLocks/>
          </p:cNvCxnSpPr>
          <p:nvPr/>
        </p:nvCxnSpPr>
        <p:spPr>
          <a:xfrm>
            <a:off x="6591300" y="4481132"/>
            <a:ext cx="859871" cy="710980"/>
          </a:xfrm>
          <a:prstGeom prst="curvedConnector3">
            <a:avLst>
              <a:gd name="adj1" fmla="val 50000"/>
            </a:avLst>
          </a:prstGeom>
          <a:ln w="57150">
            <a:solidFill>
              <a:srgbClr val="BB63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365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57DF5D-F6FA-C000-820C-B6B68E97BF7D}"/>
              </a:ext>
            </a:extLst>
          </p:cNvPr>
          <p:cNvSpPr/>
          <p:nvPr/>
        </p:nvSpPr>
        <p:spPr>
          <a:xfrm>
            <a:off x="972859" y="3690989"/>
            <a:ext cx="2581175" cy="187406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E1F190-113A-DECE-F99F-014F3E186C0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Hemarathne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52DBCBE-7ECF-9AB6-562F-3A87147D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8435"/>
            <a:ext cx="10515600" cy="736907"/>
          </a:xfrm>
        </p:spPr>
        <p:txBody>
          <a:bodyPr>
            <a:noAutofit/>
          </a:bodyPr>
          <a:lstStyle/>
          <a:p>
            <a:r>
              <a:rPr lang="en-US" sz="2800" i="1">
                <a:latin typeface="Adobe Devanagari"/>
              </a:rPr>
              <a:t>AI-Driven Exam Question Analytics and Prediction Module</a:t>
            </a:r>
            <a:endParaRPr lang="en-US" sz="3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8248D-7EC9-EBED-4AEE-AC2AF3947ADD}"/>
              </a:ext>
            </a:extLst>
          </p:cNvPr>
          <p:cNvSpPr txBox="1"/>
          <p:nvPr/>
        </p:nvSpPr>
        <p:spPr>
          <a:xfrm>
            <a:off x="893246" y="1486409"/>
            <a:ext cx="2132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1">
                <a:latin typeface="Instrument Sans Semi Bold"/>
              </a:rPr>
              <a:t>Main Objective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8A2CCE-E293-CE9A-E08A-4834D9DBE672}"/>
              </a:ext>
            </a:extLst>
          </p:cNvPr>
          <p:cNvSpPr txBox="1"/>
          <p:nvPr/>
        </p:nvSpPr>
        <p:spPr>
          <a:xfrm>
            <a:off x="893246" y="2026102"/>
            <a:ext cx="103843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Instrument Sans Semi Bold"/>
              </a:rPr>
              <a:t>Develop an AI-based system to analyze historical exam questions and student performance data to identify learning gaps and predict exam patterns.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8DF2C-6E3C-830D-F75D-D2401416D8FC}"/>
              </a:ext>
            </a:extLst>
          </p:cNvPr>
          <p:cNvSpPr txBox="1"/>
          <p:nvPr/>
        </p:nvSpPr>
        <p:spPr>
          <a:xfrm>
            <a:off x="884368" y="2981656"/>
            <a:ext cx="2131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i="1">
                <a:latin typeface="Instrument Sans Semi Bold"/>
              </a:rPr>
              <a:t>Sub-Objectives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90804F-1BDC-8726-265B-D22ED8D5FA58}"/>
              </a:ext>
            </a:extLst>
          </p:cNvPr>
          <p:cNvSpPr txBox="1"/>
          <p:nvPr/>
        </p:nvSpPr>
        <p:spPr>
          <a:xfrm>
            <a:off x="972859" y="4105599"/>
            <a:ext cx="25811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>
                <a:latin typeface="Instrument Sans Semi Bold"/>
              </a:rPr>
              <a:t>Analyse historical exam questions using NLP techniques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3AD35F-667B-7C87-3BC1-59834ECE22AE}"/>
              </a:ext>
            </a:extLst>
          </p:cNvPr>
          <p:cNvSpPr txBox="1"/>
          <p:nvPr/>
        </p:nvSpPr>
        <p:spPr>
          <a:xfrm>
            <a:off x="4814780" y="3951711"/>
            <a:ext cx="2302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latin typeface="Instrument Sans Semi Bold"/>
              </a:rPr>
              <a:t>Identify weak concepts based on student performance</a:t>
            </a:r>
            <a:endParaRPr lang="en-GB" sz="2000">
              <a:latin typeface="Instrument Sans Semi 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998F30-3FA3-3E0A-B276-BA67DF57396D}"/>
              </a:ext>
            </a:extLst>
          </p:cNvPr>
          <p:cNvSpPr txBox="1"/>
          <p:nvPr/>
        </p:nvSpPr>
        <p:spPr>
          <a:xfrm>
            <a:off x="8437717" y="3949609"/>
            <a:ext cx="22138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latin typeface="Instrument Sans Semi Bold"/>
              </a:rPr>
              <a:t>Predict possible future exam topics using machine learning</a:t>
            </a:r>
            <a:endParaRPr lang="en-GB" sz="2000">
              <a:latin typeface="Instrument Sans Semi Bold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4CB755-71EF-7401-745F-C3FED5D19764}"/>
              </a:ext>
            </a:extLst>
          </p:cNvPr>
          <p:cNvCxnSpPr>
            <a:cxnSpLocks/>
          </p:cNvCxnSpPr>
          <p:nvPr/>
        </p:nvCxnSpPr>
        <p:spPr>
          <a:xfrm>
            <a:off x="1081548" y="3864077"/>
            <a:ext cx="0" cy="14945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B3C0F26-C11C-4756-B834-EAF68FAE1EA0}"/>
              </a:ext>
            </a:extLst>
          </p:cNvPr>
          <p:cNvSpPr/>
          <p:nvPr/>
        </p:nvSpPr>
        <p:spPr>
          <a:xfrm>
            <a:off x="4613451" y="3690989"/>
            <a:ext cx="2581175" cy="187406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85B0F9-0D5C-F17D-046E-B9FC7DA0F335}"/>
              </a:ext>
            </a:extLst>
          </p:cNvPr>
          <p:cNvCxnSpPr>
            <a:cxnSpLocks/>
          </p:cNvCxnSpPr>
          <p:nvPr/>
        </p:nvCxnSpPr>
        <p:spPr>
          <a:xfrm>
            <a:off x="4722140" y="3864077"/>
            <a:ext cx="0" cy="14945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6AD651F-3BA7-CA58-8492-3B9A131C5F51}"/>
              </a:ext>
            </a:extLst>
          </p:cNvPr>
          <p:cNvSpPr/>
          <p:nvPr/>
        </p:nvSpPr>
        <p:spPr>
          <a:xfrm>
            <a:off x="8254043" y="3675217"/>
            <a:ext cx="2581175" cy="1874069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878D2E-7F9E-6938-697D-59875D9A1579}"/>
              </a:ext>
            </a:extLst>
          </p:cNvPr>
          <p:cNvCxnSpPr>
            <a:cxnSpLocks/>
          </p:cNvCxnSpPr>
          <p:nvPr/>
        </p:nvCxnSpPr>
        <p:spPr>
          <a:xfrm>
            <a:off x="8362732" y="3848305"/>
            <a:ext cx="0" cy="14945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754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31D7-2CE4-9188-A4BA-070F7FD9E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0E6AD8C-E640-139D-220F-E3D12257331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Hemarathne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28FDD035-FB8B-BA0B-99FF-C4501E912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8435"/>
            <a:ext cx="10515600" cy="736907"/>
          </a:xfrm>
        </p:spPr>
        <p:txBody>
          <a:bodyPr>
            <a:noAutofit/>
          </a:bodyPr>
          <a:lstStyle/>
          <a:p>
            <a:r>
              <a:rPr lang="en-US" sz="2800" i="1">
                <a:latin typeface="Adobe Devanagari"/>
              </a:rPr>
              <a:t>AI-Driven Exam Question Analytics and Prediction Module</a:t>
            </a:r>
            <a:endParaRPr lang="en-US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51A8B-C774-53B2-535B-EE374F3D5FDF}"/>
              </a:ext>
            </a:extLst>
          </p:cNvPr>
          <p:cNvSpPr txBox="1"/>
          <p:nvPr/>
        </p:nvSpPr>
        <p:spPr>
          <a:xfrm>
            <a:off x="838200" y="1412240"/>
            <a:ext cx="3066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u="sng">
                <a:solidFill>
                  <a:srgbClr val="505468"/>
                </a:solidFill>
                <a:latin typeface="Instrument Sans Semi Bold"/>
              </a:rPr>
              <a:t>Research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28B7C-6A20-961A-B571-588A2985C8A3}"/>
              </a:ext>
            </a:extLst>
          </p:cNvPr>
          <p:cNvSpPr txBox="1"/>
          <p:nvPr/>
        </p:nvSpPr>
        <p:spPr>
          <a:xfrm>
            <a:off x="838200" y="1971040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Instrument Sans Semi Bold"/>
              </a:rPr>
              <a:t>The proposed system applies knowledge from Artificial Intelligence in Education, Educational Data Mining, and Natural Language Processing to analyze historical exam questions and student performance data.</a:t>
            </a:r>
            <a:endParaRPr lang="en-GB" sz="2000">
              <a:latin typeface="Instrument Sans Semi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F1F85E-0ECE-B0F2-613B-3B38C22E1B2B}"/>
              </a:ext>
            </a:extLst>
          </p:cNvPr>
          <p:cNvSpPr txBox="1"/>
          <p:nvPr/>
        </p:nvSpPr>
        <p:spPr>
          <a:xfrm>
            <a:off x="838200" y="3226880"/>
            <a:ext cx="28396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/>
              <a:t>Latest Technologies Used</a:t>
            </a:r>
            <a:endParaRPr lang="en-GB" sz="2000" i="1" u="sng">
              <a:solidFill>
                <a:srgbClr val="505468"/>
              </a:solidFill>
              <a:latin typeface="Instrument Sans Semi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FB22D6-9FF6-9EA4-CD2F-E347DA96B036}"/>
              </a:ext>
            </a:extLst>
          </p:cNvPr>
          <p:cNvSpPr txBox="1"/>
          <p:nvPr/>
        </p:nvSpPr>
        <p:spPr>
          <a:xfrm>
            <a:off x="838200" y="3711791"/>
            <a:ext cx="7156254" cy="1891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>
                <a:latin typeface="Instrument Sans Semi Bold"/>
              </a:rPr>
              <a:t>Natural Language Processing (NLP) </a:t>
            </a:r>
            <a:r>
              <a:rPr lang="en-GB" sz="2000">
                <a:latin typeface="Instrument Sans Semi Bold"/>
              </a:rPr>
              <a:t>– analyse exam question text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>
                <a:latin typeface="Instrument Sans Semi Bold"/>
              </a:rPr>
              <a:t>Topic Modelling (LDA) </a:t>
            </a:r>
            <a:r>
              <a:rPr lang="en-GB" sz="2000">
                <a:latin typeface="Instrument Sans Semi Bold"/>
              </a:rPr>
              <a:t>– identify exam topic patterns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Instrument Sans Semi Bold"/>
              </a:rPr>
              <a:t>Machine Learning Models </a:t>
            </a:r>
            <a:r>
              <a:rPr lang="en-US" sz="2000">
                <a:latin typeface="Instrument Sans Semi Bold"/>
              </a:rPr>
              <a:t>– predict future exam topics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Instrument Sans Semi Bold"/>
              </a:rPr>
              <a:t>Clustering Algorithms </a:t>
            </a:r>
            <a:r>
              <a:rPr lang="en-US" sz="2000">
                <a:latin typeface="Instrument Sans Semi Bold"/>
              </a:rPr>
              <a:t>– group similar questions and concepts</a:t>
            </a:r>
            <a:endParaRPr lang="en-GB" sz="2000">
              <a:latin typeface="Instrument Sans Semi Bold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7CE1E2-6B14-0800-AED3-447C4355C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320" y="3489341"/>
            <a:ext cx="3458554" cy="233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17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EA42-FD96-4C37-01CB-B97AE9FAD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>
            <a:extLst>
              <a:ext uri="{FF2B5EF4-FFF2-40B4-BE49-F238E27FC236}">
                <a16:creationId xmlns:a16="http://schemas.microsoft.com/office/drawing/2014/main" id="{BD55C645-953D-C8A3-42F6-57883C68B450}"/>
              </a:ext>
            </a:extLst>
          </p:cNvPr>
          <p:cNvSpPr/>
          <p:nvPr/>
        </p:nvSpPr>
        <p:spPr>
          <a:xfrm>
            <a:off x="4275775" y="1509814"/>
            <a:ext cx="3496965" cy="4251325"/>
          </a:xfrm>
          <a:prstGeom prst="roundRect">
            <a:avLst>
              <a:gd name="adj" fmla="val 811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1D8B8B-9863-AE20-C46E-16C774D467B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Hemarathne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2E0B3FE5-3BB1-0ED4-2AA7-C01D02582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7512"/>
            <a:ext cx="10515600" cy="736907"/>
          </a:xfrm>
        </p:spPr>
        <p:txBody>
          <a:bodyPr>
            <a:noAutofit/>
          </a:bodyPr>
          <a:lstStyle/>
          <a:p>
            <a:r>
              <a:rPr lang="en-US" sz="2800" i="1">
                <a:latin typeface="Adobe Devanagari"/>
              </a:rPr>
              <a:t>AI-Driven Exam Question Analytics and Prediction Module</a:t>
            </a:r>
            <a:endParaRPr lang="en-US" sz="320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A94AE5DD-83C2-E2C0-CF6D-9DF9505B1556}"/>
              </a:ext>
            </a:extLst>
          </p:cNvPr>
          <p:cNvSpPr/>
          <p:nvPr/>
        </p:nvSpPr>
        <p:spPr>
          <a:xfrm>
            <a:off x="602499" y="1509815"/>
            <a:ext cx="3496965" cy="4251325"/>
          </a:xfrm>
          <a:prstGeom prst="roundRect">
            <a:avLst>
              <a:gd name="adj" fmla="val 811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46F5F2C6-3F0E-1CB8-9F1C-D8E0D998E2EE}"/>
              </a:ext>
            </a:extLst>
          </p:cNvPr>
          <p:cNvSpPr/>
          <p:nvPr/>
        </p:nvSpPr>
        <p:spPr>
          <a:xfrm>
            <a:off x="627899" y="1535215"/>
            <a:ext cx="3446165" cy="567035"/>
          </a:xfrm>
          <a:prstGeom prst="rect">
            <a:avLst/>
          </a:prstGeom>
          <a:solidFill>
            <a:srgbClr val="EDEBE3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6F2D837-11E5-3A75-42CD-FC83E996579A}"/>
              </a:ext>
            </a:extLst>
          </p:cNvPr>
          <p:cNvSpPr/>
          <p:nvPr/>
        </p:nvSpPr>
        <p:spPr>
          <a:xfrm>
            <a:off x="2209247" y="1641478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2208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208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00AF65B-C1C5-FDBE-92EA-5882F828B3DF}"/>
              </a:ext>
            </a:extLst>
          </p:cNvPr>
          <p:cNvSpPr/>
          <p:nvPr/>
        </p:nvSpPr>
        <p:spPr>
          <a:xfrm>
            <a:off x="816910" y="2291261"/>
            <a:ext cx="30681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1. Validation and Evaluation of the Solution</a:t>
            </a:r>
            <a:endParaRPr lang="en-US" sz="1833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8251DA4F-97EC-575C-551D-5F4257CF8675}"/>
              </a:ext>
            </a:extLst>
          </p:cNvPr>
          <p:cNvSpPr/>
          <p:nvPr/>
        </p:nvSpPr>
        <p:spPr>
          <a:xfrm>
            <a:off x="816910" y="2995219"/>
            <a:ext cx="3068142" cy="255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prediction accuracy using Precision, Recall, and F1-score</a:t>
            </a:r>
            <a:endParaRPr lang="en-US" sz="1458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predicted exam topics with actual past exam patterns</a:t>
            </a:r>
            <a:endParaRPr lang="en-US" sz="1458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system insights with educator feedback</a:t>
            </a:r>
            <a:endParaRPr lang="en-US" sz="1458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2E3EC7E9-E173-8C29-14D9-329538E41CBA}"/>
              </a:ext>
            </a:extLst>
          </p:cNvPr>
          <p:cNvSpPr/>
          <p:nvPr/>
        </p:nvSpPr>
        <p:spPr>
          <a:xfrm>
            <a:off x="4313875" y="1535215"/>
            <a:ext cx="3446165" cy="567035"/>
          </a:xfrm>
          <a:prstGeom prst="rect">
            <a:avLst/>
          </a:prstGeom>
          <a:solidFill>
            <a:srgbClr val="EDEBE3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77F82E9-330A-55D1-B66A-7D5F96AA0A47}"/>
              </a:ext>
            </a:extLst>
          </p:cNvPr>
          <p:cNvSpPr/>
          <p:nvPr/>
        </p:nvSpPr>
        <p:spPr>
          <a:xfrm>
            <a:off x="5895224" y="1641478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2208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208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439809A1-317D-9F5C-3A6F-70D34893B9F9}"/>
              </a:ext>
            </a:extLst>
          </p:cNvPr>
          <p:cNvSpPr/>
          <p:nvPr/>
        </p:nvSpPr>
        <p:spPr>
          <a:xfrm>
            <a:off x="4502887" y="2291261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2. Data Availability</a:t>
            </a:r>
            <a:endParaRPr lang="en-US" sz="1833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70AD11BC-7DD8-58CC-A746-E56C069B1DD7}"/>
              </a:ext>
            </a:extLst>
          </p:cNvPr>
          <p:cNvSpPr/>
          <p:nvPr/>
        </p:nvSpPr>
        <p:spPr>
          <a:xfrm>
            <a:off x="4502886" y="2995219"/>
            <a:ext cx="3068142" cy="205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161613"/>
                </a:solidFill>
                <a:latin typeface="Inter" pitchFamily="34" charset="0"/>
                <a:ea typeface="Inter" pitchFamily="34" charset="-122"/>
              </a:rPr>
              <a:t>Historical exam papers</a:t>
            </a:r>
          </a:p>
          <a:p>
            <a:pPr marL="285739" indent="-285739">
              <a:lnSpc>
                <a:spcPts val="2375"/>
              </a:lnSpc>
              <a:buSzPct val="100000"/>
              <a:buFontTx/>
              <a:buChar char="•"/>
            </a:pPr>
            <a:r>
              <a:rPr lang="en-GB" sz="1458">
                <a:solidFill>
                  <a:srgbClr val="161613"/>
                </a:solidFill>
                <a:latin typeface="Inter" pitchFamily="34" charset="0"/>
                <a:ea typeface="Inter" pitchFamily="34" charset="-122"/>
              </a:rPr>
              <a:t>Publicly available online datasets</a:t>
            </a:r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endParaRPr lang="en-US" sz="1458">
              <a:solidFill>
                <a:srgbClr val="161613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55EAFCEB-03D6-1AF3-0EAE-8C6FD145FD60}"/>
              </a:ext>
            </a:extLst>
          </p:cNvPr>
          <p:cNvSpPr/>
          <p:nvPr/>
        </p:nvSpPr>
        <p:spPr>
          <a:xfrm>
            <a:off x="7974451" y="1509815"/>
            <a:ext cx="3496965" cy="4251325"/>
          </a:xfrm>
          <a:prstGeom prst="roundRect">
            <a:avLst>
              <a:gd name="adj" fmla="val 811"/>
            </a:avLst>
          </a:prstGeom>
          <a:solidFill>
            <a:srgbClr val="F9F8F5"/>
          </a:solidFill>
          <a:ln w="3048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9C204597-1D7D-B2C1-AA93-A1A54A4CAAAE}"/>
              </a:ext>
            </a:extLst>
          </p:cNvPr>
          <p:cNvSpPr/>
          <p:nvPr/>
        </p:nvSpPr>
        <p:spPr>
          <a:xfrm>
            <a:off x="7999851" y="1535215"/>
            <a:ext cx="3446165" cy="567035"/>
          </a:xfrm>
          <a:prstGeom prst="rect">
            <a:avLst/>
          </a:prstGeom>
          <a:solidFill>
            <a:srgbClr val="EDEBE3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98A51D30-380F-D89C-BC1C-E25484D46E12}"/>
              </a:ext>
            </a:extLst>
          </p:cNvPr>
          <p:cNvSpPr/>
          <p:nvPr/>
        </p:nvSpPr>
        <p:spPr>
          <a:xfrm>
            <a:off x="9581201" y="1641478"/>
            <a:ext cx="283468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8"/>
              </a:lnSpc>
            </a:pPr>
            <a:r>
              <a:rPr lang="en-US" sz="2208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208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AD2950EC-A031-ABA5-1652-80394F28E397}"/>
              </a:ext>
            </a:extLst>
          </p:cNvPr>
          <p:cNvSpPr/>
          <p:nvPr/>
        </p:nvSpPr>
        <p:spPr>
          <a:xfrm>
            <a:off x="8188863" y="2291261"/>
            <a:ext cx="30681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3. Security and Ethical Considerations</a:t>
            </a:r>
            <a:endParaRPr lang="en-US" sz="1833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C30D1554-126F-819F-2206-F658E89CBFBD}"/>
              </a:ext>
            </a:extLst>
          </p:cNvPr>
          <p:cNvSpPr/>
          <p:nvPr/>
        </p:nvSpPr>
        <p:spPr>
          <a:xfrm>
            <a:off x="8188863" y="2995219"/>
            <a:ext cx="3068142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Anonymization of student data</a:t>
            </a:r>
            <a:endParaRPr lang="en-US" sz="1458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data storage and controlled access</a:t>
            </a:r>
            <a:endParaRPr lang="en-US" sz="1458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with institutional ethical guidelines for educational data</a:t>
            </a:r>
            <a:endParaRPr lang="en-US" sz="1458"/>
          </a:p>
        </p:txBody>
      </p:sp>
    </p:spTree>
    <p:extLst>
      <p:ext uri="{BB962C8B-B14F-4D97-AF65-F5344CB8AC3E}">
        <p14:creationId xmlns:p14="http://schemas.microsoft.com/office/powerpoint/2010/main" val="2774939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6301-401E-00C5-7D9E-37C8DB21A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21ABFF-EA0D-79F8-AE32-543784430A4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Hemarathne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CA142BC6-9FDA-1E6B-B3D9-56939AEEA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8435"/>
            <a:ext cx="10515600" cy="736907"/>
          </a:xfrm>
        </p:spPr>
        <p:txBody>
          <a:bodyPr>
            <a:noAutofit/>
          </a:bodyPr>
          <a:lstStyle/>
          <a:p>
            <a:r>
              <a:rPr lang="en-US" sz="2800" i="1">
                <a:solidFill>
                  <a:schemeClr val="bg1"/>
                </a:solidFill>
                <a:latin typeface="Adobe Devanagari"/>
              </a:rPr>
              <a:t>AI-Driven Exam Question Analytics and Prediction Module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3BC6CC45-C579-C273-BABF-5B0A864EEA84}"/>
              </a:ext>
            </a:extLst>
          </p:cNvPr>
          <p:cNvSpPr/>
          <p:nvPr/>
        </p:nvSpPr>
        <p:spPr>
          <a:xfrm>
            <a:off x="747099" y="2529354"/>
            <a:ext cx="9798348" cy="561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16"/>
              </a:lnSpc>
            </a:pPr>
            <a:r>
              <a:rPr lang="en-US" sz="350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System Overview of the Individual Component</a:t>
            </a:r>
            <a:endParaRPr lang="en-US" sz="3500"/>
          </a:p>
        </p:txBody>
      </p:sp>
    </p:spTree>
    <p:extLst>
      <p:ext uri="{BB962C8B-B14F-4D97-AF65-F5344CB8AC3E}">
        <p14:creationId xmlns:p14="http://schemas.microsoft.com/office/powerpoint/2010/main" val="3151586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C0A0D-8ADD-D4F9-5D67-5400CB74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F6E04D-8449-3857-76E5-8FB1A9567357}"/>
              </a:ext>
            </a:extLst>
          </p:cNvPr>
          <p:cNvSpPr/>
          <p:nvPr/>
        </p:nvSpPr>
        <p:spPr>
          <a:xfrm>
            <a:off x="2632373" y="6466282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IT22134776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L.S.B Hemarathne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B9046C42-3CD8-A85E-B5B0-E0D7B807340E}"/>
              </a:ext>
            </a:extLst>
          </p:cNvPr>
          <p:cNvSpPr/>
          <p:nvPr/>
        </p:nvSpPr>
        <p:spPr>
          <a:xfrm>
            <a:off x="661492" y="2074655"/>
            <a:ext cx="6086773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58"/>
              </a:lnSpc>
            </a:pPr>
            <a:r>
              <a:rPr lang="en-US" sz="275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Dependencies and Components</a:t>
            </a:r>
            <a:endParaRPr lang="en-US" sz="275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BF049254-BE11-739C-B0D6-9762EEEE17A4}"/>
              </a:ext>
            </a:extLst>
          </p:cNvPr>
          <p:cNvSpPr/>
          <p:nvPr/>
        </p:nvSpPr>
        <p:spPr>
          <a:xfrm>
            <a:off x="683120" y="2764976"/>
            <a:ext cx="212645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>
                <a:solidFill>
                  <a:srgbClr val="FF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Dependencies</a:t>
            </a:r>
            <a:endParaRPr lang="en-US" sz="1667">
              <a:solidFill>
                <a:srgbClr val="FF0000"/>
              </a:solidFill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C664BA52-1DE2-3D06-8CF3-F4A25A670A18}"/>
              </a:ext>
            </a:extLst>
          </p:cNvPr>
          <p:cNvSpPr/>
          <p:nvPr/>
        </p:nvSpPr>
        <p:spPr>
          <a:xfrm>
            <a:off x="661492" y="3254223"/>
            <a:ext cx="38100" cy="762694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GB" sz="1500">
              <a:solidFill>
                <a:srgbClr val="FF0000"/>
              </a:solidFill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B431C224-C96B-F8FC-6F3C-E74BEC0ADB30}"/>
              </a:ext>
            </a:extLst>
          </p:cNvPr>
          <p:cNvSpPr/>
          <p:nvPr/>
        </p:nvSpPr>
        <p:spPr>
          <a:xfrm>
            <a:off x="860326" y="3273273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>
                <a:solidFill>
                  <a:srgbClr val="161613"/>
                </a:solidFill>
                <a:latin typeface="DM Sans Medium" pitchFamily="34" charset="0"/>
              </a:rPr>
              <a:t>Python &amp; Libraries</a:t>
            </a:r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818353C-E2EE-C6B4-BFEB-63149DAB8B3A}"/>
              </a:ext>
            </a:extLst>
          </p:cNvPr>
          <p:cNvSpPr/>
          <p:nvPr/>
        </p:nvSpPr>
        <p:spPr>
          <a:xfrm>
            <a:off x="860326" y="3540469"/>
            <a:ext cx="508178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400">
                <a:solidFill>
                  <a:srgbClr val="161613"/>
                </a:solidFill>
                <a:latin typeface="Inter" pitchFamily="34" charset="0"/>
                <a:ea typeface="Inter" pitchFamily="34" charset="-122"/>
              </a:rPr>
              <a:t>Leverages robust Machine Learning and Natural Language Processing libraries for advanced data manipulation.</a:t>
            </a:r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07831DBE-A606-B6E6-3C01-80896155C37C}"/>
              </a:ext>
            </a:extLst>
          </p:cNvPr>
          <p:cNvSpPr/>
          <p:nvPr/>
        </p:nvSpPr>
        <p:spPr>
          <a:xfrm>
            <a:off x="661492" y="4191444"/>
            <a:ext cx="38100" cy="762694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5F93957-C7FA-3ECA-2BCF-C9F774B7916E}"/>
              </a:ext>
            </a:extLst>
          </p:cNvPr>
          <p:cNvSpPr/>
          <p:nvPr/>
        </p:nvSpPr>
        <p:spPr>
          <a:xfrm>
            <a:off x="860326" y="4210493"/>
            <a:ext cx="188089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Analytical Frameworks</a:t>
            </a:r>
            <a:endParaRPr lang="en-US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BEACDC8-F686-25A3-0695-9C58B5DD0AFE}"/>
              </a:ext>
            </a:extLst>
          </p:cNvPr>
          <p:cNvSpPr/>
          <p:nvPr/>
        </p:nvSpPr>
        <p:spPr>
          <a:xfrm>
            <a:off x="860326" y="4494445"/>
            <a:ext cx="508178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40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Scikit-learn and specialized NLP frameworks for in-depth data analysis and pattern recognition.</a:t>
            </a:r>
            <a:endParaRPr lang="en-US" sz="140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3929A761-138B-B3D4-9C75-368FF20CCF75}"/>
              </a:ext>
            </a:extLst>
          </p:cNvPr>
          <p:cNvSpPr/>
          <p:nvPr/>
        </p:nvSpPr>
        <p:spPr>
          <a:xfrm>
            <a:off x="661492" y="5128664"/>
            <a:ext cx="38100" cy="762694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3682BA6E-1BF5-9BC7-2F47-02A382DC256F}"/>
              </a:ext>
            </a:extLst>
          </p:cNvPr>
          <p:cNvSpPr/>
          <p:nvPr/>
        </p:nvSpPr>
        <p:spPr>
          <a:xfrm>
            <a:off x="860326" y="5147713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>
                <a:solidFill>
                  <a:srgbClr val="161613"/>
                </a:solidFill>
                <a:latin typeface="DM Sans Medium" pitchFamily="34" charset="0"/>
              </a:rPr>
              <a:t>Secure Database</a:t>
            </a: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39881BB-EBE0-F540-AE89-11CBB8F968CF}"/>
              </a:ext>
            </a:extLst>
          </p:cNvPr>
          <p:cNvSpPr/>
          <p:nvPr/>
        </p:nvSpPr>
        <p:spPr>
          <a:xfrm>
            <a:off x="834927" y="5448954"/>
            <a:ext cx="508178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400">
                <a:solidFill>
                  <a:srgbClr val="161613"/>
                </a:solidFill>
                <a:latin typeface="Inter" pitchFamily="34" charset="0"/>
                <a:ea typeface="Inter" pitchFamily="34" charset="-122"/>
              </a:rPr>
              <a:t>Dedicated database for the secure storage of exam data, questions, and performance results.</a:t>
            </a: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C89E497D-B2AA-0419-0535-EEA1DF2E0CA7}"/>
              </a:ext>
            </a:extLst>
          </p:cNvPr>
          <p:cNvSpPr/>
          <p:nvPr/>
        </p:nvSpPr>
        <p:spPr>
          <a:xfrm>
            <a:off x="6294338" y="2768398"/>
            <a:ext cx="227667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83"/>
              </a:lnSpc>
            </a:pPr>
            <a:r>
              <a:rPr lang="en-US" sz="1667">
                <a:solidFill>
                  <a:srgbClr val="00B05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Common Components</a:t>
            </a:r>
            <a:endParaRPr lang="en-US" sz="1667">
              <a:solidFill>
                <a:srgbClr val="00B050"/>
              </a:solidFill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86E0915F-6FCE-366D-0C68-CED468A76C4E}"/>
              </a:ext>
            </a:extLst>
          </p:cNvPr>
          <p:cNvSpPr/>
          <p:nvPr/>
        </p:nvSpPr>
        <p:spPr>
          <a:xfrm>
            <a:off x="6275288" y="3254223"/>
            <a:ext cx="38100" cy="762694"/>
          </a:xfrm>
          <a:prstGeom prst="rect">
            <a:avLst/>
          </a:prstGeom>
          <a:solidFill>
            <a:srgbClr val="69D446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27510464-DF1E-4FA2-2FAA-1B67513A9611}"/>
              </a:ext>
            </a:extLst>
          </p:cNvPr>
          <p:cNvSpPr/>
          <p:nvPr/>
        </p:nvSpPr>
        <p:spPr>
          <a:xfrm>
            <a:off x="6474122" y="3273273"/>
            <a:ext cx="20108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>
                <a:solidFill>
                  <a:srgbClr val="161613"/>
                </a:solidFill>
                <a:latin typeface="DM Sans Medium" pitchFamily="34" charset="0"/>
              </a:rPr>
              <a:t>Data Processing Module</a:t>
            </a: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4B0A1FFF-2435-8A2A-8D21-9AA52CDBA0AF}"/>
              </a:ext>
            </a:extLst>
          </p:cNvPr>
          <p:cNvSpPr/>
          <p:nvPr/>
        </p:nvSpPr>
        <p:spPr>
          <a:xfrm>
            <a:off x="6474123" y="3600992"/>
            <a:ext cx="508178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400">
                <a:solidFill>
                  <a:srgbClr val="161613"/>
                </a:solidFill>
                <a:latin typeface="Inter" pitchFamily="34" charset="0"/>
                <a:ea typeface="Inter" pitchFamily="34" charset="-122"/>
              </a:rPr>
              <a:t>Responsible for preprocessing and validating exam questions and raw performance data.</a:t>
            </a:r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54F16C88-C051-1DCB-AED5-34DA88EC38BB}"/>
              </a:ext>
            </a:extLst>
          </p:cNvPr>
          <p:cNvSpPr/>
          <p:nvPr/>
        </p:nvSpPr>
        <p:spPr>
          <a:xfrm>
            <a:off x="6275288" y="4191444"/>
            <a:ext cx="38100" cy="762694"/>
          </a:xfrm>
          <a:prstGeom prst="rect">
            <a:avLst/>
          </a:prstGeom>
          <a:solidFill>
            <a:srgbClr val="69D446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D64D1270-81C6-1685-7D93-F2846938418C}"/>
              </a:ext>
            </a:extLst>
          </p:cNvPr>
          <p:cNvSpPr/>
          <p:nvPr/>
        </p:nvSpPr>
        <p:spPr>
          <a:xfrm>
            <a:off x="6474122" y="4210493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>
                <a:solidFill>
                  <a:srgbClr val="161613"/>
                </a:solidFill>
                <a:latin typeface="DM Sans Medium" pitchFamily="34" charset="0"/>
              </a:rPr>
              <a:t>Analytics Engine</a:t>
            </a:r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73959687-DB45-6E6B-CA74-908064502AAD}"/>
              </a:ext>
            </a:extLst>
          </p:cNvPr>
          <p:cNvSpPr/>
          <p:nvPr/>
        </p:nvSpPr>
        <p:spPr>
          <a:xfrm>
            <a:off x="6474123" y="4538212"/>
            <a:ext cx="508178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400">
                <a:solidFill>
                  <a:srgbClr val="161613"/>
                </a:solidFill>
                <a:latin typeface="Inter" pitchFamily="34" charset="0"/>
                <a:ea typeface="Inter" pitchFamily="34" charset="-122"/>
              </a:rPr>
              <a:t>Performs complex topic modeling and clustering to extract meaningful insights from data.</a:t>
            </a:r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3EBBD725-2DAC-6CB5-0D5F-F989850D90D4}"/>
              </a:ext>
            </a:extLst>
          </p:cNvPr>
          <p:cNvSpPr/>
          <p:nvPr/>
        </p:nvSpPr>
        <p:spPr>
          <a:xfrm>
            <a:off x="6275288" y="5128664"/>
            <a:ext cx="38100" cy="762694"/>
          </a:xfrm>
          <a:prstGeom prst="rect">
            <a:avLst/>
          </a:prstGeom>
          <a:solidFill>
            <a:srgbClr val="69D446"/>
          </a:solidFill>
          <a:ln/>
        </p:spPr>
        <p:txBody>
          <a:bodyPr/>
          <a:lstStyle/>
          <a:p>
            <a:endParaRPr lang="en-GB" sz="1500"/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67BFEB0A-D592-A6DD-90DE-363BF85A16E1}"/>
              </a:ext>
            </a:extLst>
          </p:cNvPr>
          <p:cNvSpPr/>
          <p:nvPr/>
        </p:nvSpPr>
        <p:spPr>
          <a:xfrm>
            <a:off x="6474122" y="5147713"/>
            <a:ext cx="17720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>
                <a:solidFill>
                  <a:srgbClr val="161613"/>
                </a:solidFill>
                <a:latin typeface="DM Sans Medium" pitchFamily="34" charset="0"/>
              </a:rPr>
              <a:t>Prediction Module</a:t>
            </a:r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2AE724D3-A3C0-1468-181D-6E4A98C3CEE2}"/>
              </a:ext>
            </a:extLst>
          </p:cNvPr>
          <p:cNvSpPr/>
          <p:nvPr/>
        </p:nvSpPr>
        <p:spPr>
          <a:xfrm>
            <a:off x="6474123" y="5475433"/>
            <a:ext cx="508178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400">
                <a:solidFill>
                  <a:srgbClr val="161613"/>
                </a:solidFill>
                <a:latin typeface="Inter" pitchFamily="34" charset="0"/>
                <a:ea typeface="Inter" pitchFamily="34" charset="-122"/>
              </a:rPr>
              <a:t>Employs advanced algorithms to forecast exam patterns and identify individual learning gaps.</a:t>
            </a:r>
          </a:p>
        </p:txBody>
      </p:sp>
      <p:sp>
        <p:nvSpPr>
          <p:cNvPr id="34" name="Title 4">
            <a:extLst>
              <a:ext uri="{FF2B5EF4-FFF2-40B4-BE49-F238E27FC236}">
                <a16:creationId xmlns:a16="http://schemas.microsoft.com/office/drawing/2014/main" id="{AC29C9D2-CD2F-3AA5-9E5F-987758385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8435"/>
            <a:ext cx="10515600" cy="736907"/>
          </a:xfrm>
        </p:spPr>
        <p:txBody>
          <a:bodyPr>
            <a:noAutofit/>
          </a:bodyPr>
          <a:lstStyle/>
          <a:p>
            <a:r>
              <a:rPr lang="en-US" sz="2800" i="1">
                <a:solidFill>
                  <a:schemeClr val="bg1"/>
                </a:solidFill>
                <a:latin typeface="Adobe Devanagari"/>
              </a:rPr>
              <a:t>AI-Driven Exam Question Analytics and Prediction Module</a:t>
            </a:r>
            <a:endParaRPr lang="en-US" sz="3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331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6C271-9589-CB60-7C8C-C54B1271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BDF5D0-A1FE-31FF-6D3D-6ADB08503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900822"/>
            <a:ext cx="8485716" cy="755426"/>
          </a:xfrm>
        </p:spPr>
        <p:txBody>
          <a:bodyPr/>
          <a:lstStyle/>
          <a:p>
            <a:r>
              <a:rPr lang="en-US"/>
              <a:t>IT22557056 | HERATH B.K.H.M.B.L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2172A8-AAE4-F061-4AEC-F3DAD649056A}"/>
              </a:ext>
            </a:extLst>
          </p:cNvPr>
          <p:cNvSpPr/>
          <p:nvPr/>
        </p:nvSpPr>
        <p:spPr>
          <a:xfrm>
            <a:off x="2632435" y="650270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IT22557056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Herath</a:t>
            </a:r>
            <a:r>
              <a:rPr lang="en-US" sz="1800">
                <a:solidFill>
                  <a:schemeClr val="tx1"/>
                </a:solidFill>
              </a:rPr>
              <a:t> B.K.H.M.B.L 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44C503-1E27-3508-2421-81C13202112E}"/>
              </a:ext>
            </a:extLst>
          </p:cNvPr>
          <p:cNvSpPr/>
          <p:nvPr/>
        </p:nvSpPr>
        <p:spPr>
          <a:xfrm>
            <a:off x="9906000" y="135535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BCD6C5-2145-2495-0CB9-B46C990DF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1655" y="111130"/>
            <a:ext cx="2389239" cy="24882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471C8F-3676-1D79-5FD6-F0E9935A8B1A}"/>
              </a:ext>
            </a:extLst>
          </p:cNvPr>
          <p:cNvSpPr txBox="1"/>
          <p:nvPr/>
        </p:nvSpPr>
        <p:spPr>
          <a:xfrm>
            <a:off x="963083" y="1783412"/>
            <a:ext cx="79563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>
                <a:solidFill>
                  <a:schemeClr val="accent1"/>
                </a:solidFill>
              </a:rPr>
              <a:t>AI-Integrated Multi-Modal Viva Evaluation System</a:t>
            </a:r>
          </a:p>
          <a:p>
            <a:endParaRPr lang="en-US" sz="2800">
              <a:solidFill>
                <a:srgbClr val="0070C0"/>
              </a:solidFill>
            </a:endParaRPr>
          </a:p>
          <a:p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1B7AA-F097-29E1-E19B-1E3505F06090}"/>
              </a:ext>
            </a:extLst>
          </p:cNvPr>
          <p:cNvSpPr txBox="1"/>
          <p:nvPr/>
        </p:nvSpPr>
        <p:spPr>
          <a:xfrm>
            <a:off x="963083" y="3050599"/>
            <a:ext cx="10699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AI-Based Multimodal Viva Analysis | Confidence &amp; Performance Evaluation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A28ED4-D2E7-DCE6-9775-3704E30803AA}"/>
              </a:ext>
            </a:extLst>
          </p:cNvPr>
          <p:cNvSpPr txBox="1"/>
          <p:nvPr/>
        </p:nvSpPr>
        <p:spPr>
          <a:xfrm>
            <a:off x="1032387" y="3991896"/>
            <a:ext cx="101862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/>
              <a:t>Video Processing &amp; Facial Expression Analysis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/>
              <a:t>Audio Processing &amp; Voice Pattern Analysis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/>
              <a:t>Audio – Video Engagement Tracking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/>
              <a:t>Automated Confidence Scoring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/>
              <a:t>Multimodal Fusion &amp; Explainable Ai</a:t>
            </a:r>
          </a:p>
        </p:txBody>
      </p:sp>
    </p:spTree>
    <p:extLst>
      <p:ext uri="{BB962C8B-B14F-4D97-AF65-F5344CB8AC3E}">
        <p14:creationId xmlns:p14="http://schemas.microsoft.com/office/powerpoint/2010/main" val="653489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D05B5-D8F4-4348-3D6E-77ABD4D0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C29D33-32C5-E3F7-93ED-700AE0EFA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20" y="342900"/>
            <a:ext cx="1142916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it-IT" sz="2400">
                <a:solidFill>
                  <a:schemeClr val="accent1"/>
                </a:solidFill>
              </a:rPr>
              <a:t>AI-Integrated Multi-Modal Viva </a:t>
            </a:r>
            <a:r>
              <a:rPr lang="en-US" sz="2400">
                <a:solidFill>
                  <a:schemeClr val="accent1"/>
                </a:solidFill>
                <a:latin typeface="+mn-lt"/>
                <a:cs typeface="Times New Roman" panose="02020603050405020304" pitchFamily="18" charset="0"/>
              </a:rPr>
              <a:t>Evaluating  Module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B7D184-D9CD-6C93-9EDC-76C7A4DD231C}"/>
              </a:ext>
            </a:extLst>
          </p:cNvPr>
          <p:cNvSpPr/>
          <p:nvPr/>
        </p:nvSpPr>
        <p:spPr>
          <a:xfrm>
            <a:off x="6493934" y="792989"/>
            <a:ext cx="5698066" cy="5999491"/>
          </a:xfrm>
          <a:prstGeom prst="rect">
            <a:avLst/>
          </a:prstGeom>
          <a:solidFill>
            <a:srgbClr val="E7F3FD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D1C9FA-AB01-8A15-E635-9438C2DD8E20}"/>
              </a:ext>
            </a:extLst>
          </p:cNvPr>
          <p:cNvSpPr/>
          <p:nvPr/>
        </p:nvSpPr>
        <p:spPr>
          <a:xfrm>
            <a:off x="7486169" y="1707603"/>
            <a:ext cx="83463" cy="83463"/>
          </a:xfrm>
          <a:prstGeom prst="roundRect">
            <a:avLst>
              <a:gd name="adj" fmla="val 547788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D66AB5-9B92-661E-77A7-FAC314A924B9}"/>
              </a:ext>
            </a:extLst>
          </p:cNvPr>
          <p:cNvSpPr/>
          <p:nvPr/>
        </p:nvSpPr>
        <p:spPr>
          <a:xfrm>
            <a:off x="7692505" y="1618961"/>
            <a:ext cx="3022521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Visual Emotion Detection Accuracy</a:t>
            </a:r>
            <a:endParaRPr lang="en-US" sz="160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6736CA0-412F-D0CA-E8CD-DD772F86E6E5}"/>
              </a:ext>
            </a:extLst>
          </p:cNvPr>
          <p:cNvSpPr/>
          <p:nvPr/>
        </p:nvSpPr>
        <p:spPr>
          <a:xfrm>
            <a:off x="7692505" y="2002699"/>
            <a:ext cx="3561517" cy="463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Percentage of correctly identified emotional states from facial expressions.</a:t>
            </a:r>
            <a:endParaRPr lang="en-US" sz="130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C9D70AA8-D763-7094-C8F3-B9BC9DC050F0}"/>
              </a:ext>
            </a:extLst>
          </p:cNvPr>
          <p:cNvSpPr/>
          <p:nvPr/>
        </p:nvSpPr>
        <p:spPr>
          <a:xfrm>
            <a:off x="7486169" y="2810907"/>
            <a:ext cx="83463" cy="83463"/>
          </a:xfrm>
          <a:prstGeom prst="roundRect">
            <a:avLst>
              <a:gd name="adj" fmla="val 547788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9BA34613-DCCC-DCBB-98C9-FEAB8C6AE21E}"/>
              </a:ext>
            </a:extLst>
          </p:cNvPr>
          <p:cNvSpPr/>
          <p:nvPr/>
        </p:nvSpPr>
        <p:spPr>
          <a:xfrm>
            <a:off x="7692505" y="2712431"/>
            <a:ext cx="3561517" cy="52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Oral Emotion Recognition Accuracy</a:t>
            </a:r>
            <a:endParaRPr lang="en-US" sz="160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498AD01-0131-1A90-27FC-EB8B0E2519BC}"/>
              </a:ext>
            </a:extLst>
          </p:cNvPr>
          <p:cNvSpPr/>
          <p:nvPr/>
        </p:nvSpPr>
        <p:spPr>
          <a:xfrm>
            <a:off x="7692505" y="3357035"/>
            <a:ext cx="3561517" cy="463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Correct classification rate of vocal emotion indicators.</a:t>
            </a:r>
            <a:endParaRPr lang="en-US" sz="130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063C74B2-10ED-7C33-F998-03C937D8B6CF}"/>
              </a:ext>
            </a:extLst>
          </p:cNvPr>
          <p:cNvSpPr/>
          <p:nvPr/>
        </p:nvSpPr>
        <p:spPr>
          <a:xfrm>
            <a:off x="7486169" y="3644131"/>
            <a:ext cx="83463" cy="83463"/>
          </a:xfrm>
          <a:prstGeom prst="roundRect">
            <a:avLst>
              <a:gd name="adj" fmla="val 547788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3CA68600-E66B-5302-E7E3-190442DB53C7}"/>
              </a:ext>
            </a:extLst>
          </p:cNvPr>
          <p:cNvSpPr/>
          <p:nvPr/>
        </p:nvSpPr>
        <p:spPr>
          <a:xfrm>
            <a:off x="7692505" y="4066767"/>
            <a:ext cx="3561517" cy="52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Semantic Answer Similarity Score</a:t>
            </a:r>
            <a:endParaRPr lang="en-US" sz="160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597B1164-6827-DD14-C598-157CD25D1786}"/>
              </a:ext>
            </a:extLst>
          </p:cNvPr>
          <p:cNvSpPr/>
          <p:nvPr/>
        </p:nvSpPr>
        <p:spPr>
          <a:xfrm>
            <a:off x="7692505" y="4711371"/>
            <a:ext cx="3561517" cy="463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Vector similarity between expected and actual answer content.</a:t>
            </a:r>
            <a:endParaRPr lang="en-US" sz="130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144B67F3-2683-C307-4255-1902818683A4}"/>
              </a:ext>
            </a:extLst>
          </p:cNvPr>
          <p:cNvSpPr/>
          <p:nvPr/>
        </p:nvSpPr>
        <p:spPr>
          <a:xfrm>
            <a:off x="7486169" y="5509745"/>
            <a:ext cx="83463" cy="83463"/>
          </a:xfrm>
          <a:prstGeom prst="roundRect">
            <a:avLst>
              <a:gd name="adj" fmla="val 547788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296A0D3E-21CF-D7EC-2B56-9DF697E6766F}"/>
              </a:ext>
            </a:extLst>
          </p:cNvPr>
          <p:cNvSpPr/>
          <p:nvPr/>
        </p:nvSpPr>
        <p:spPr>
          <a:xfrm>
            <a:off x="7692505" y="5421103"/>
            <a:ext cx="3410903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Confidence Prediction Accuracy</a:t>
            </a:r>
            <a:endParaRPr lang="en-US" sz="160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A563486C-0DCB-0E07-69FC-0C61E34207D0}"/>
              </a:ext>
            </a:extLst>
          </p:cNvPr>
          <p:cNvSpPr/>
          <p:nvPr/>
        </p:nvSpPr>
        <p:spPr>
          <a:xfrm>
            <a:off x="7692505" y="5804841"/>
            <a:ext cx="3561517" cy="463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Correlation between predicted and human-assigned confidence levels.</a:t>
            </a:r>
            <a:endParaRPr lang="en-US" sz="130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2FFB32BB-4598-70BB-1C31-5E2EABD0270B}"/>
              </a:ext>
            </a:extLst>
          </p:cNvPr>
          <p:cNvSpPr/>
          <p:nvPr/>
        </p:nvSpPr>
        <p:spPr>
          <a:xfrm>
            <a:off x="489374" y="1009409"/>
            <a:ext cx="59431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Problems and </a:t>
            </a:r>
            <a:r>
              <a:rPr lang="en-US" sz="3600" b="1" dirty="0"/>
              <a:t>Evaluation</a:t>
            </a: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endParaRPr lang="en-US" sz="36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A2BB2E25-021B-C791-4582-9817CCEBF267}"/>
              </a:ext>
            </a:extLst>
          </p:cNvPr>
          <p:cNvSpPr/>
          <p:nvPr/>
        </p:nvSpPr>
        <p:spPr>
          <a:xfrm>
            <a:off x="317395" y="156183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67AD4A38-C45B-5772-C477-9B65B6049993}"/>
              </a:ext>
            </a:extLst>
          </p:cNvPr>
          <p:cNvSpPr/>
          <p:nvPr/>
        </p:nvSpPr>
        <p:spPr>
          <a:xfrm>
            <a:off x="564401" y="1873477"/>
            <a:ext cx="5983790" cy="395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/>
              <a:t>Subjective Evaluation by Examiners (</a:t>
            </a:r>
            <a:r>
              <a:rPr lang="en-US" sz="1600" b="1"/>
              <a:t>inconsistent and biased assessment results</a:t>
            </a:r>
            <a:r>
              <a:rPr lang="en-US" sz="1600"/>
              <a:t>. 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/>
              <a:t>Limited feedback time (not provide </a:t>
            </a:r>
            <a:r>
              <a:rPr lang="en-US" sz="1600" b="1"/>
              <a:t>detailed feedback on </a:t>
            </a:r>
            <a:r>
              <a:rPr lang="en-US" sz="1600"/>
              <a:t>engagement behavior 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/>
              <a:t>Difficulty in Observing Behavioral Signals &amp; non-verbal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/>
              <a:t>Lack of objective confidence and engagement measurement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/>
              <a:t>Memory limitation and cognitive load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/>
              <a:t>Resource Utilization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E6396C-B1B1-C20C-D5B5-5C9644C104A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IT22557056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Herath</a:t>
            </a:r>
            <a:r>
              <a:rPr lang="en-US" sz="1800">
                <a:solidFill>
                  <a:schemeClr val="tx1"/>
                </a:solidFill>
              </a:rPr>
              <a:t> B.K.H.M.B.L 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</p:spTree>
    <p:extLst>
      <p:ext uri="{BB962C8B-B14F-4D97-AF65-F5344CB8AC3E}">
        <p14:creationId xmlns:p14="http://schemas.microsoft.com/office/powerpoint/2010/main" val="2163709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0F2C8-0817-629A-9968-59F6CC676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500330-8053-FCC8-B362-315A5E6AB9C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IT22557056</a:t>
            </a:r>
            <a:r>
              <a:rPr lang="en-US" sz="1800">
                <a:solidFill>
                  <a:schemeClr val="tx1"/>
                </a:solidFill>
              </a:rPr>
              <a:t>   |   Herath B.K.H.M.B.L 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08BE831C-245F-7810-8E16-449E8A8E8B42}"/>
              </a:ext>
            </a:extLst>
          </p:cNvPr>
          <p:cNvSpPr/>
          <p:nvPr/>
        </p:nvSpPr>
        <p:spPr>
          <a:xfrm>
            <a:off x="790821" y="1114205"/>
            <a:ext cx="3264323" cy="434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Main objective </a:t>
            </a:r>
            <a:endParaRPr lang="en-US" sz="2700"/>
          </a:p>
        </p:txBody>
      </p:sp>
      <p:sp>
        <p:nvSpPr>
          <p:cNvPr id="49" name="Text 0">
            <a:extLst>
              <a:ext uri="{FF2B5EF4-FFF2-40B4-BE49-F238E27FC236}">
                <a16:creationId xmlns:a16="http://schemas.microsoft.com/office/drawing/2014/main" id="{3CD1DB9A-0A63-D6F9-0766-7A5140B2ED7C}"/>
              </a:ext>
            </a:extLst>
          </p:cNvPr>
          <p:cNvSpPr/>
          <p:nvPr/>
        </p:nvSpPr>
        <p:spPr>
          <a:xfrm>
            <a:off x="790820" y="3602479"/>
            <a:ext cx="3264323" cy="434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Sub objective </a:t>
            </a:r>
            <a:endParaRPr lang="en-US" sz="2700"/>
          </a:p>
        </p:txBody>
      </p:sp>
      <p:sp>
        <p:nvSpPr>
          <p:cNvPr id="50" name="Title 4">
            <a:extLst>
              <a:ext uri="{FF2B5EF4-FFF2-40B4-BE49-F238E27FC236}">
                <a16:creationId xmlns:a16="http://schemas.microsoft.com/office/drawing/2014/main" id="{8C350D62-C306-BC3D-F41F-96BAE8392263}"/>
              </a:ext>
            </a:extLst>
          </p:cNvPr>
          <p:cNvSpPr txBox="1">
            <a:spLocks/>
          </p:cNvSpPr>
          <p:nvPr/>
        </p:nvSpPr>
        <p:spPr>
          <a:xfrm>
            <a:off x="1129508" y="4521797"/>
            <a:ext cx="2587189" cy="10816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just"/>
            <a:endParaRPr lang="en-US" sz="1600">
              <a:effectLst/>
            </a:endParaRPr>
          </a:p>
        </p:txBody>
      </p:sp>
      <p:sp>
        <p:nvSpPr>
          <p:cNvPr id="54" name="Shape 11">
            <a:extLst>
              <a:ext uri="{FF2B5EF4-FFF2-40B4-BE49-F238E27FC236}">
                <a16:creationId xmlns:a16="http://schemas.microsoft.com/office/drawing/2014/main" id="{55BF7651-2332-512B-6FB6-1AC54E74B4E2}"/>
              </a:ext>
            </a:extLst>
          </p:cNvPr>
          <p:cNvSpPr/>
          <p:nvPr/>
        </p:nvSpPr>
        <p:spPr>
          <a:xfrm>
            <a:off x="993088" y="4284587"/>
            <a:ext cx="2721173" cy="1373622"/>
          </a:xfrm>
          <a:prstGeom prst="roundRect">
            <a:avLst>
              <a:gd name="adj" fmla="val 48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939AD583-FE96-5663-7B4F-12EEFC25DFCA}"/>
              </a:ext>
            </a:extLst>
          </p:cNvPr>
          <p:cNvSpPr/>
          <p:nvPr/>
        </p:nvSpPr>
        <p:spPr>
          <a:xfrm>
            <a:off x="932130" y="4148703"/>
            <a:ext cx="121919" cy="166122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14">
            <a:extLst>
              <a:ext uri="{FF2B5EF4-FFF2-40B4-BE49-F238E27FC236}">
                <a16:creationId xmlns:a16="http://schemas.microsoft.com/office/drawing/2014/main" id="{DA980B56-73C7-3A5E-AB4B-33EB28749276}"/>
              </a:ext>
            </a:extLst>
          </p:cNvPr>
          <p:cNvSpPr/>
          <p:nvPr/>
        </p:nvSpPr>
        <p:spPr>
          <a:xfrm>
            <a:off x="1311344" y="4416442"/>
            <a:ext cx="2402917" cy="118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confidence Performance Grading System</a:t>
            </a:r>
            <a:endParaRPr lang="en-US"/>
          </a:p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59" name="Title 4">
            <a:extLst>
              <a:ext uri="{FF2B5EF4-FFF2-40B4-BE49-F238E27FC236}">
                <a16:creationId xmlns:a16="http://schemas.microsoft.com/office/drawing/2014/main" id="{184B537B-07E3-8290-EB14-2267CFE4A716}"/>
              </a:ext>
            </a:extLst>
          </p:cNvPr>
          <p:cNvSpPr txBox="1">
            <a:spLocks/>
          </p:cNvSpPr>
          <p:nvPr/>
        </p:nvSpPr>
        <p:spPr>
          <a:xfrm>
            <a:off x="4779561" y="4524956"/>
            <a:ext cx="2587189" cy="10816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just"/>
            <a:endParaRPr lang="en-US" sz="1600">
              <a:effectLst/>
            </a:endParaRPr>
          </a:p>
        </p:txBody>
      </p:sp>
      <p:sp>
        <p:nvSpPr>
          <p:cNvPr id="60" name="Shape 11">
            <a:extLst>
              <a:ext uri="{FF2B5EF4-FFF2-40B4-BE49-F238E27FC236}">
                <a16:creationId xmlns:a16="http://schemas.microsoft.com/office/drawing/2014/main" id="{F7EDC4E5-26FD-1D77-686B-C0384DEB292A}"/>
              </a:ext>
            </a:extLst>
          </p:cNvPr>
          <p:cNvSpPr/>
          <p:nvPr/>
        </p:nvSpPr>
        <p:spPr>
          <a:xfrm>
            <a:off x="4643142" y="4287746"/>
            <a:ext cx="2723608" cy="1373622"/>
          </a:xfrm>
          <a:prstGeom prst="roundRect">
            <a:avLst>
              <a:gd name="adj" fmla="val 48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78BCB8E8-C55C-ED3F-0B6A-7D916FA30537}"/>
              </a:ext>
            </a:extLst>
          </p:cNvPr>
          <p:cNvSpPr/>
          <p:nvPr/>
        </p:nvSpPr>
        <p:spPr>
          <a:xfrm>
            <a:off x="4582183" y="4151862"/>
            <a:ext cx="121919" cy="166122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701324DD-6E86-03DD-1660-D952B79C5CE4}"/>
              </a:ext>
            </a:extLst>
          </p:cNvPr>
          <p:cNvSpPr/>
          <p:nvPr/>
        </p:nvSpPr>
        <p:spPr>
          <a:xfrm>
            <a:off x="4961397" y="4419601"/>
            <a:ext cx="2280999" cy="118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 Automated Confident and Engagement Report</a:t>
            </a:r>
            <a:endParaRPr lang="en-US"/>
          </a:p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68" name="Title 4">
            <a:extLst>
              <a:ext uri="{FF2B5EF4-FFF2-40B4-BE49-F238E27FC236}">
                <a16:creationId xmlns:a16="http://schemas.microsoft.com/office/drawing/2014/main" id="{7024478C-70D0-9E2D-50F3-53C3695E6C23}"/>
              </a:ext>
            </a:extLst>
          </p:cNvPr>
          <p:cNvSpPr txBox="1">
            <a:spLocks/>
          </p:cNvSpPr>
          <p:nvPr/>
        </p:nvSpPr>
        <p:spPr>
          <a:xfrm>
            <a:off x="8861336" y="4524956"/>
            <a:ext cx="2587189" cy="10816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just"/>
            <a:endParaRPr lang="en-US" sz="1600">
              <a:effectLst/>
            </a:endParaRPr>
          </a:p>
        </p:txBody>
      </p:sp>
      <p:sp>
        <p:nvSpPr>
          <p:cNvPr id="69" name="Shape 11">
            <a:extLst>
              <a:ext uri="{FF2B5EF4-FFF2-40B4-BE49-F238E27FC236}">
                <a16:creationId xmlns:a16="http://schemas.microsoft.com/office/drawing/2014/main" id="{31116C06-5505-7EC8-45CC-BE26B0CF3BC4}"/>
              </a:ext>
            </a:extLst>
          </p:cNvPr>
          <p:cNvSpPr/>
          <p:nvPr/>
        </p:nvSpPr>
        <p:spPr>
          <a:xfrm>
            <a:off x="8724917" y="4287746"/>
            <a:ext cx="2599254" cy="1373622"/>
          </a:xfrm>
          <a:prstGeom prst="roundRect">
            <a:avLst>
              <a:gd name="adj" fmla="val 48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12">
            <a:extLst>
              <a:ext uri="{FF2B5EF4-FFF2-40B4-BE49-F238E27FC236}">
                <a16:creationId xmlns:a16="http://schemas.microsoft.com/office/drawing/2014/main" id="{034046A1-9B9C-6CFB-196A-B8B01397805F}"/>
              </a:ext>
            </a:extLst>
          </p:cNvPr>
          <p:cNvSpPr/>
          <p:nvPr/>
        </p:nvSpPr>
        <p:spPr>
          <a:xfrm>
            <a:off x="8663958" y="4151862"/>
            <a:ext cx="121919" cy="166122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CE2C8359-B739-8861-13AF-834D5EC3231E}"/>
              </a:ext>
            </a:extLst>
          </p:cNvPr>
          <p:cNvSpPr/>
          <p:nvPr/>
        </p:nvSpPr>
        <p:spPr>
          <a:xfrm>
            <a:off x="9043172" y="4419601"/>
            <a:ext cx="2280999" cy="118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Detect Student Engagement and Attention</a:t>
            </a:r>
            <a:endParaRPr lang="en-US"/>
          </a:p>
          <a:p>
            <a:pPr marL="0" indent="0" algn="l">
              <a:lnSpc>
                <a:spcPts val="2850"/>
              </a:lnSpc>
              <a:buNone/>
            </a:pPr>
            <a:endParaRPr lang="en-US" sz="1750"/>
          </a:p>
        </p:txBody>
      </p:sp>
      <p:sp>
        <p:nvSpPr>
          <p:cNvPr id="72" name="Title 4">
            <a:extLst>
              <a:ext uri="{FF2B5EF4-FFF2-40B4-BE49-F238E27FC236}">
                <a16:creationId xmlns:a16="http://schemas.microsoft.com/office/drawing/2014/main" id="{3E565C6B-281A-6692-DD4C-E9D67E5B5038}"/>
              </a:ext>
            </a:extLst>
          </p:cNvPr>
          <p:cNvSpPr txBox="1">
            <a:spLocks/>
          </p:cNvSpPr>
          <p:nvPr/>
        </p:nvSpPr>
        <p:spPr>
          <a:xfrm>
            <a:off x="3971557" y="3241845"/>
            <a:ext cx="2587189" cy="10816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just"/>
            <a:endParaRPr lang="en-US" sz="1600">
              <a:effectLst/>
            </a:endParaRPr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56DB03DC-1E3C-8BB6-AEE1-F8D821F83C52}"/>
              </a:ext>
            </a:extLst>
          </p:cNvPr>
          <p:cNvSpPr/>
          <p:nvPr/>
        </p:nvSpPr>
        <p:spPr>
          <a:xfrm>
            <a:off x="1054049" y="1823064"/>
            <a:ext cx="10498854" cy="1373622"/>
          </a:xfrm>
          <a:prstGeom prst="roundRect">
            <a:avLst>
              <a:gd name="adj" fmla="val 48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FFF0ED9D-E194-FA25-B8E2-7F508B4AADDB}"/>
              </a:ext>
            </a:extLst>
          </p:cNvPr>
          <p:cNvSpPr/>
          <p:nvPr/>
        </p:nvSpPr>
        <p:spPr>
          <a:xfrm>
            <a:off x="993090" y="1687180"/>
            <a:ext cx="154624" cy="1661220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14">
            <a:extLst>
              <a:ext uri="{FF2B5EF4-FFF2-40B4-BE49-F238E27FC236}">
                <a16:creationId xmlns:a16="http://schemas.microsoft.com/office/drawing/2014/main" id="{230E7EB0-4F44-3BE4-5791-997031776FC8}"/>
              </a:ext>
            </a:extLst>
          </p:cNvPr>
          <p:cNvSpPr/>
          <p:nvPr/>
        </p:nvSpPr>
        <p:spPr>
          <a:xfrm>
            <a:off x="1372303" y="1954919"/>
            <a:ext cx="9945589" cy="118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/>
            <a:r>
              <a:rPr lang="en-US" sz="2400">
                <a:cs typeface="Times New Roman" panose="02020603050405020304" pitchFamily="18" charset="0"/>
              </a:rPr>
              <a:t>An AI-powered multimodal system that analyzes facial expressions, voice patterns, and body gestures to provide objective, confidence assessment for student viva examinations.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2C029A7-8E12-B3AC-453C-2C84AB34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37" y="268831"/>
            <a:ext cx="1142916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it-IT" sz="2400">
                <a:solidFill>
                  <a:schemeClr val="accent1"/>
                </a:solidFill>
              </a:rPr>
              <a:t>AI-Integrated Multi-Modal Viva </a:t>
            </a:r>
            <a:r>
              <a:rPr lang="en-US" sz="2400">
                <a:solidFill>
                  <a:schemeClr val="accent1"/>
                </a:solidFill>
                <a:latin typeface="+mn-lt"/>
                <a:cs typeface="Times New Roman" panose="02020603050405020304" pitchFamily="18" charset="0"/>
              </a:rPr>
              <a:t>Evaluating  Module </a:t>
            </a:r>
          </a:p>
        </p:txBody>
      </p:sp>
    </p:spTree>
    <p:extLst>
      <p:ext uri="{BB962C8B-B14F-4D97-AF65-F5344CB8AC3E}">
        <p14:creationId xmlns:p14="http://schemas.microsoft.com/office/powerpoint/2010/main" val="696408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D3E69-809C-67D0-F798-45C27127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B7CCC7-832D-6969-3C05-9E87765DEA0B}"/>
              </a:ext>
            </a:extLst>
          </p:cNvPr>
          <p:cNvSpPr/>
          <p:nvPr/>
        </p:nvSpPr>
        <p:spPr>
          <a:xfrm>
            <a:off x="3171948" y="1136322"/>
            <a:ext cx="5698066" cy="5410200"/>
          </a:xfrm>
          <a:prstGeom prst="rect">
            <a:avLst/>
          </a:prstGeom>
          <a:solidFill>
            <a:srgbClr val="E7F3FD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A647F7E5-190B-F094-0D3E-8D3EAE892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209" y="2384615"/>
            <a:ext cx="3529659" cy="2207445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C4D29E70-A93D-F54F-28BD-B0DAED07F749}"/>
              </a:ext>
            </a:extLst>
          </p:cNvPr>
          <p:cNvSpPr/>
          <p:nvPr/>
        </p:nvSpPr>
        <p:spPr>
          <a:xfrm>
            <a:off x="3777448" y="3055021"/>
            <a:ext cx="1243522" cy="64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b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AI Core </a:t>
            </a:r>
          </a:p>
          <a:p>
            <a:pPr marL="0" indent="0" algn="r">
              <a:lnSpc>
                <a:spcPts val="2250"/>
              </a:lnSpc>
              <a:buNone/>
            </a:pPr>
            <a:r>
              <a:rPr lang="en-US" sz="1800" b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(PYTHON)</a:t>
            </a:r>
            <a:endParaRPr lang="en-US" sz="1800"/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72E57DC0-7F53-48F1-CACE-63C6F406E8F7}"/>
              </a:ext>
            </a:extLst>
          </p:cNvPr>
          <p:cNvSpPr/>
          <p:nvPr/>
        </p:nvSpPr>
        <p:spPr>
          <a:xfrm>
            <a:off x="5542276" y="2067114"/>
            <a:ext cx="1243523" cy="235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NLP</a:t>
            </a:r>
            <a:endParaRPr lang="en-US" sz="180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47CB650C-4435-B438-116F-9DC2244EF088}"/>
              </a:ext>
            </a:extLst>
          </p:cNvPr>
          <p:cNvSpPr/>
          <p:nvPr/>
        </p:nvSpPr>
        <p:spPr>
          <a:xfrm>
            <a:off x="7252602" y="3202860"/>
            <a:ext cx="1243522" cy="470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Speech Processing</a:t>
            </a:r>
            <a:endParaRPr lang="en-US" sz="1800"/>
          </a:p>
        </p:txBody>
      </p:sp>
      <p:sp>
        <p:nvSpPr>
          <p:cNvPr id="81" name="Text 7">
            <a:extLst>
              <a:ext uri="{FF2B5EF4-FFF2-40B4-BE49-F238E27FC236}">
                <a16:creationId xmlns:a16="http://schemas.microsoft.com/office/drawing/2014/main" id="{6C27189D-3445-7C59-1305-92E1DCD696EE}"/>
              </a:ext>
            </a:extLst>
          </p:cNvPr>
          <p:cNvSpPr/>
          <p:nvPr/>
        </p:nvSpPr>
        <p:spPr>
          <a:xfrm>
            <a:off x="4861229" y="2349790"/>
            <a:ext cx="2605616" cy="270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600"/>
              </a:lnSpc>
              <a:buNone/>
            </a:pPr>
            <a:r>
              <a:rPr lang="en-US" sz="15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Analysis relevance</a:t>
            </a:r>
            <a:endParaRPr lang="en-US" sz="1500"/>
          </a:p>
        </p:txBody>
      </p:sp>
      <p:sp>
        <p:nvSpPr>
          <p:cNvPr id="103" name="Text 0">
            <a:extLst>
              <a:ext uri="{FF2B5EF4-FFF2-40B4-BE49-F238E27FC236}">
                <a16:creationId xmlns:a16="http://schemas.microsoft.com/office/drawing/2014/main" id="{0848EC90-6D1B-A2C5-410D-313E597D4A53}"/>
              </a:ext>
            </a:extLst>
          </p:cNvPr>
          <p:cNvSpPr/>
          <p:nvPr/>
        </p:nvSpPr>
        <p:spPr>
          <a:xfrm>
            <a:off x="3717829" y="790922"/>
            <a:ext cx="3534773" cy="434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0070C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Methodology &amp;</a:t>
            </a:r>
            <a:r>
              <a:rPr lang="en-US" sz="2700" b="1">
                <a:solidFill>
                  <a:srgbClr val="0070C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Technologies</a:t>
            </a:r>
            <a:endParaRPr lang="en-US" sz="2700">
              <a:solidFill>
                <a:srgbClr val="0070C0"/>
              </a:solidFill>
            </a:endParaRPr>
          </a:p>
        </p:txBody>
      </p:sp>
      <p:sp>
        <p:nvSpPr>
          <p:cNvPr id="8" name="Shape 11">
            <a:extLst>
              <a:ext uri="{FF2B5EF4-FFF2-40B4-BE49-F238E27FC236}">
                <a16:creationId xmlns:a16="http://schemas.microsoft.com/office/drawing/2014/main" id="{7B2138AB-DE85-148E-71F0-5EF94042CFB7}"/>
              </a:ext>
            </a:extLst>
          </p:cNvPr>
          <p:cNvSpPr/>
          <p:nvPr/>
        </p:nvSpPr>
        <p:spPr>
          <a:xfrm>
            <a:off x="8928199" y="993605"/>
            <a:ext cx="3008948" cy="1731588"/>
          </a:xfrm>
          <a:prstGeom prst="roundRect">
            <a:avLst>
              <a:gd name="adj" fmla="val 48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0583BB86-83AF-6552-69CF-F79FC1D5B19A}"/>
              </a:ext>
            </a:extLst>
          </p:cNvPr>
          <p:cNvSpPr/>
          <p:nvPr/>
        </p:nvSpPr>
        <p:spPr>
          <a:xfrm>
            <a:off x="11807132" y="888633"/>
            <a:ext cx="216118" cy="1926227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CE496862-E49D-40C6-6B2B-0D51E9309A99}"/>
              </a:ext>
            </a:extLst>
          </p:cNvPr>
          <p:cNvSpPr/>
          <p:nvPr/>
        </p:nvSpPr>
        <p:spPr>
          <a:xfrm>
            <a:off x="9276933" y="1092540"/>
            <a:ext cx="24029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000" b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Audio Analysis</a:t>
            </a:r>
            <a:endParaRPr lang="en-US" sz="2000"/>
          </a:p>
          <a:p>
            <a:pPr marL="0" indent="0" algn="l">
              <a:lnSpc>
                <a:spcPts val="2750"/>
              </a:lnSpc>
              <a:buNone/>
            </a:pPr>
            <a:endParaRPr lang="en-US" sz="220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5BE6CCEC-46E3-6AF6-38D2-F5D5F2D32E30}"/>
              </a:ext>
            </a:extLst>
          </p:cNvPr>
          <p:cNvSpPr/>
          <p:nvPr/>
        </p:nvSpPr>
        <p:spPr>
          <a:xfrm>
            <a:off x="9202351" y="1516374"/>
            <a:ext cx="2477501" cy="1184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OpenAI Whisper</a:t>
            </a:r>
            <a:endParaRPr lang="en-US"/>
          </a:p>
          <a:p>
            <a:pPr>
              <a:lnSpc>
                <a:spcPts val="2850"/>
              </a:lnSpc>
            </a:pPr>
            <a:r>
              <a:rPr lang="en-US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Speech Brain</a:t>
            </a: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/ </a:t>
            </a:r>
            <a:r>
              <a:rPr lang="en-US" b="1" dirty="0"/>
              <a:t>Wav2Vec2</a:t>
            </a:r>
          </a:p>
          <a:p>
            <a:pPr>
              <a:lnSpc>
                <a:spcPts val="2850"/>
              </a:lnSpc>
            </a:pPr>
            <a:endParaRPr lang="en-US" b="1">
              <a:solidFill>
                <a:srgbClr val="405449"/>
              </a:solidFill>
              <a:latin typeface="Fraunces Extra Bold" pitchFamily="34" charset="0"/>
              <a:ea typeface="Fraunces Extra Bold" pitchFamily="34" charset="-122"/>
              <a:cs typeface="Fraunces Extra Bold" pitchFamily="34" charset="-120"/>
            </a:endParaRPr>
          </a:p>
          <a:p>
            <a:pPr>
              <a:lnSpc>
                <a:spcPts val="2850"/>
              </a:lnSpc>
            </a:pPr>
            <a:endParaRPr lang="en-US" sz="175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51DD055-070F-E192-11EB-579459E1AFD7}"/>
              </a:ext>
            </a:extLst>
          </p:cNvPr>
          <p:cNvSpPr/>
          <p:nvPr/>
        </p:nvSpPr>
        <p:spPr>
          <a:xfrm>
            <a:off x="353145" y="1312684"/>
            <a:ext cx="3364684" cy="2528812"/>
          </a:xfrm>
          <a:prstGeom prst="roundRect">
            <a:avLst>
              <a:gd name="adj" fmla="val 48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413B1A93-613B-18BD-143A-F5C827A8B4A3}"/>
              </a:ext>
            </a:extLst>
          </p:cNvPr>
          <p:cNvSpPr/>
          <p:nvPr/>
        </p:nvSpPr>
        <p:spPr>
          <a:xfrm>
            <a:off x="275903" y="1183401"/>
            <a:ext cx="159360" cy="2787377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C2E550EE-204F-4AE4-F8DE-2E62B74BC830}"/>
              </a:ext>
            </a:extLst>
          </p:cNvPr>
          <p:cNvSpPr/>
          <p:nvPr/>
        </p:nvSpPr>
        <p:spPr>
          <a:xfrm>
            <a:off x="701879" y="1569977"/>
            <a:ext cx="24029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000" b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Video Analysis</a:t>
            </a:r>
            <a:endParaRPr lang="en-US" sz="2000"/>
          </a:p>
          <a:p>
            <a:pPr marL="0" indent="0" algn="l">
              <a:lnSpc>
                <a:spcPts val="2750"/>
              </a:lnSpc>
              <a:buNone/>
            </a:pPr>
            <a:endParaRPr lang="en-US" sz="22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28E0B0D-C2B1-027A-B0AF-9D679F3DB812}"/>
              </a:ext>
            </a:extLst>
          </p:cNvPr>
          <p:cNvSpPr/>
          <p:nvPr/>
        </p:nvSpPr>
        <p:spPr>
          <a:xfrm>
            <a:off x="654429" y="2075894"/>
            <a:ext cx="2883674" cy="161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b="1" err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MediaPipe</a:t>
            </a: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(face detect)</a:t>
            </a:r>
            <a:endParaRPr lang="en-US" b="1">
              <a:solidFill>
                <a:srgbClr val="405449"/>
              </a:solidFill>
              <a:latin typeface="Fraunces Extra Bold" pitchFamily="34" charset="0"/>
              <a:ea typeface="Fraunces Extra Bold" pitchFamily="34" charset="-122"/>
              <a:cs typeface="Fraunces Extra Bold" pitchFamily="34" charset="-120"/>
            </a:endParaRPr>
          </a:p>
          <a:p>
            <a:pPr>
              <a:lnSpc>
                <a:spcPts val="2850"/>
              </a:lnSpc>
            </a:pPr>
            <a:r>
              <a:rPr lang="en-US" b="1" dirty="0" err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Ffmpeg</a:t>
            </a: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(video process)</a:t>
            </a:r>
            <a:b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</a:br>
            <a:r>
              <a:rPr lang="en-US" b="1" dirty="0" err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DeepFace</a:t>
            </a: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(</a:t>
            </a: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CNN based-emotion </a:t>
            </a: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)</a:t>
            </a:r>
            <a:endParaRPr lang="en-US" b="1">
              <a:solidFill>
                <a:srgbClr val="405449"/>
              </a:solidFill>
              <a:latin typeface="Fraunces Extra Bold" pitchFamily="34" charset="0"/>
              <a:ea typeface="Fraunces Extra Bold" pitchFamily="34" charset="-122"/>
              <a:cs typeface="Fraunces Extra Bold" pitchFamily="34" charset="-120"/>
            </a:endParaRPr>
          </a:p>
          <a:p>
            <a:pPr>
              <a:lnSpc>
                <a:spcPts val="2850"/>
              </a:lnSpc>
            </a:pPr>
            <a:endParaRPr lang="en-US" b="1">
              <a:solidFill>
                <a:srgbClr val="405449"/>
              </a:solidFill>
              <a:latin typeface="Fraunces Extra Bold" pitchFamily="34" charset="0"/>
              <a:ea typeface="Fraunces Extra Bold" pitchFamily="34" charset="-122"/>
              <a:cs typeface="Fraunces Extra Bold" pitchFamily="34" charset="-120"/>
            </a:endParaRPr>
          </a:p>
          <a:p>
            <a:pPr>
              <a:lnSpc>
                <a:spcPts val="2850"/>
              </a:lnSpc>
            </a:pPr>
            <a:endParaRPr lang="en-US" dirty="0"/>
          </a:p>
          <a:p>
            <a:pPr>
              <a:lnSpc>
                <a:spcPts val="2850"/>
              </a:lnSpc>
            </a:pPr>
            <a:endParaRPr lang="en-US" b="1">
              <a:solidFill>
                <a:srgbClr val="405449"/>
              </a:solidFill>
              <a:latin typeface="Fraunces Extra Bold" pitchFamily="34" charset="0"/>
              <a:ea typeface="Fraunces Extra Bold" pitchFamily="34" charset="-122"/>
              <a:cs typeface="Fraunces Extra Bold" pitchFamily="34" charset="-120"/>
            </a:endParaRPr>
          </a:p>
          <a:p>
            <a:pPr>
              <a:lnSpc>
                <a:spcPts val="2850"/>
              </a:lnSpc>
            </a:pPr>
            <a:endParaRPr lang="en-US" sz="175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8863921-80FE-EFF4-3CC5-35A7A4DF53D1}"/>
              </a:ext>
            </a:extLst>
          </p:cNvPr>
          <p:cNvGrpSpPr/>
          <p:nvPr/>
        </p:nvGrpSpPr>
        <p:grpSpPr>
          <a:xfrm>
            <a:off x="1323839" y="5224846"/>
            <a:ext cx="8941037" cy="1185825"/>
            <a:chOff x="435263" y="5572504"/>
            <a:chExt cx="8941037" cy="640938"/>
          </a:xfrm>
        </p:grpSpPr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4C564F60-9727-5997-302D-641F56E4DF63}"/>
                </a:ext>
              </a:extLst>
            </p:cNvPr>
            <p:cNvSpPr/>
            <p:nvPr/>
          </p:nvSpPr>
          <p:spPr>
            <a:xfrm>
              <a:off x="499827" y="5623866"/>
              <a:ext cx="8876473" cy="538214"/>
            </a:xfrm>
            <a:prstGeom prst="roundRect">
              <a:avLst>
                <a:gd name="adj" fmla="val 4862"/>
              </a:avLst>
            </a:prstGeom>
            <a:solidFill>
              <a:srgbClr val="FAFFFA"/>
            </a:solidFill>
            <a:ln w="30480">
              <a:solidFill>
                <a:srgbClr val="CED9C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12">
              <a:extLst>
                <a:ext uri="{FF2B5EF4-FFF2-40B4-BE49-F238E27FC236}">
                  <a16:creationId xmlns:a16="http://schemas.microsoft.com/office/drawing/2014/main" id="{E9FD6C99-4413-8E07-B1F3-7D849473EFAA}"/>
                </a:ext>
              </a:extLst>
            </p:cNvPr>
            <p:cNvSpPr/>
            <p:nvPr/>
          </p:nvSpPr>
          <p:spPr>
            <a:xfrm>
              <a:off x="435263" y="5572504"/>
              <a:ext cx="174138" cy="640938"/>
            </a:xfrm>
            <a:prstGeom prst="roundRect">
              <a:avLst>
                <a:gd name="adj" fmla="val 167442"/>
              </a:avLst>
            </a:prstGeom>
            <a:solidFill>
              <a:srgbClr val="43895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A36079A9-9AC0-3422-8475-F0A73E6AC107}"/>
                </a:ext>
              </a:extLst>
            </p:cNvPr>
            <p:cNvSpPr/>
            <p:nvPr/>
          </p:nvSpPr>
          <p:spPr>
            <a:xfrm>
              <a:off x="899432" y="5710352"/>
              <a:ext cx="8113076" cy="4238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850"/>
                </a:lnSpc>
              </a:pP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 LLM - </a:t>
              </a:r>
              <a:r>
                <a:rPr lang="en-US" b="1" dirty="0"/>
                <a:t>Llama </a:t>
              </a: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(feedback &amp; explain) / NLP –</a:t>
              </a:r>
              <a:r>
                <a:rPr lang="en-US" b="1" dirty="0" err="1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RoBErt</a:t>
              </a: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 (</a:t>
              </a:r>
              <a:r>
                <a:rPr lang="en-US" sz="1400" i="1" dirty="0"/>
                <a:t>understand evaluate transcribed text</a:t>
              </a: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)</a:t>
              </a:r>
              <a:b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</a:b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ML - Random Forest |  </a:t>
              </a:r>
              <a:r>
                <a:rPr lang="en-US" b="1" dirty="0" err="1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adaBoost</a:t>
              </a: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 (</a:t>
              </a:r>
              <a:r>
                <a:rPr lang="en-US" dirty="0"/>
                <a:t> </a:t>
              </a:r>
              <a:r>
                <a:rPr lang="en-US" sz="1400" dirty="0"/>
                <a:t>video, audio, gestures to produce final scores </a:t>
              </a: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) </a:t>
              </a:r>
              <a:endParaRPr lang="en-US" dirty="0"/>
            </a:p>
          </p:txBody>
        </p:sp>
      </p:grpSp>
      <p:sp>
        <p:nvSpPr>
          <p:cNvPr id="23" name="Text 5">
            <a:extLst>
              <a:ext uri="{FF2B5EF4-FFF2-40B4-BE49-F238E27FC236}">
                <a16:creationId xmlns:a16="http://schemas.microsoft.com/office/drawing/2014/main" id="{0999C32C-7E4C-2640-E4B2-D04EBBF7B697}"/>
              </a:ext>
            </a:extLst>
          </p:cNvPr>
          <p:cNvSpPr/>
          <p:nvPr/>
        </p:nvSpPr>
        <p:spPr>
          <a:xfrm>
            <a:off x="5310068" y="4424334"/>
            <a:ext cx="2149534" cy="470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Computer Vision</a:t>
            </a:r>
            <a:endParaRPr lang="en-US" sz="1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2D43A2-C463-5B09-2BBF-B825805E376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IT22557056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lang="en-US" b="1">
                <a:solidFill>
                  <a:prstClr val="black"/>
                </a:solidFill>
                <a:latin typeface="Cambria"/>
              </a:rPr>
              <a:t>B.K.H.M.B L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Herath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E2565-1E25-2EF5-6D72-05915220FE3B}"/>
              </a:ext>
            </a:extLst>
          </p:cNvPr>
          <p:cNvSpPr txBox="1"/>
          <p:nvPr/>
        </p:nvSpPr>
        <p:spPr>
          <a:xfrm>
            <a:off x="6823117" y="4403676"/>
            <a:ext cx="50788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(OpenCV)</a:t>
            </a:r>
            <a:br>
              <a:rPr lang="en-US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</a:br>
            <a:endParaRPr lang="en-US" sz="1200"/>
          </a:p>
        </p:txBody>
      </p:sp>
      <p:sp>
        <p:nvSpPr>
          <p:cNvPr id="2" name="Shape 11">
            <a:extLst>
              <a:ext uri="{FF2B5EF4-FFF2-40B4-BE49-F238E27FC236}">
                <a16:creationId xmlns:a16="http://schemas.microsoft.com/office/drawing/2014/main" id="{936D1669-C9DD-361E-AC50-89B476A8751B}"/>
              </a:ext>
            </a:extLst>
          </p:cNvPr>
          <p:cNvSpPr/>
          <p:nvPr/>
        </p:nvSpPr>
        <p:spPr>
          <a:xfrm>
            <a:off x="8886298" y="3628790"/>
            <a:ext cx="3008948" cy="1117480"/>
          </a:xfrm>
          <a:prstGeom prst="roundRect">
            <a:avLst>
              <a:gd name="adj" fmla="val 4862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7EE3B630-F4D7-D31F-0F16-DBE5E5160681}"/>
              </a:ext>
            </a:extLst>
          </p:cNvPr>
          <p:cNvSpPr/>
          <p:nvPr/>
        </p:nvSpPr>
        <p:spPr>
          <a:xfrm>
            <a:off x="11739690" y="3509775"/>
            <a:ext cx="257295" cy="1385527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13">
            <a:extLst>
              <a:ext uri="{FF2B5EF4-FFF2-40B4-BE49-F238E27FC236}">
                <a16:creationId xmlns:a16="http://schemas.microsoft.com/office/drawing/2014/main" id="{229A3365-ED73-8CBF-504D-3A4BF64F744D}"/>
              </a:ext>
            </a:extLst>
          </p:cNvPr>
          <p:cNvSpPr/>
          <p:nvPr/>
        </p:nvSpPr>
        <p:spPr>
          <a:xfrm>
            <a:off x="9160761" y="3746533"/>
            <a:ext cx="24029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000" b="1" err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Gustures</a:t>
            </a:r>
            <a:r>
              <a:rPr lang="en-US" sz="2000" b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 Analysis</a:t>
            </a:r>
            <a:endParaRPr lang="en-US" sz="2000"/>
          </a:p>
          <a:p>
            <a:pPr marL="0" indent="0" algn="l">
              <a:lnSpc>
                <a:spcPts val="2750"/>
              </a:lnSpc>
              <a:buNone/>
            </a:pPr>
            <a:endParaRPr lang="en-US" sz="220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175E854A-2285-4003-031C-223E7AB02022}"/>
              </a:ext>
            </a:extLst>
          </p:cNvPr>
          <p:cNvSpPr/>
          <p:nvPr/>
        </p:nvSpPr>
        <p:spPr>
          <a:xfrm>
            <a:off x="9249800" y="4182078"/>
            <a:ext cx="2477501" cy="47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b="1" err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OpenPose</a:t>
            </a:r>
            <a:endParaRPr lang="en-US" b="1">
              <a:solidFill>
                <a:srgbClr val="405449"/>
              </a:solidFill>
              <a:latin typeface="Fraunces Extra Bold" pitchFamily="34" charset="0"/>
              <a:ea typeface="Fraunces Extra Bold" pitchFamily="34" charset="-122"/>
              <a:cs typeface="Fraunces Extra Bold" pitchFamily="34" charset="-120"/>
            </a:endParaRPr>
          </a:p>
          <a:p>
            <a:pPr>
              <a:lnSpc>
                <a:spcPts val="2850"/>
              </a:lnSpc>
            </a:pPr>
            <a:endParaRPr lang="en-US" sz="17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E96E4F-04D0-CCA7-1EC4-E90498ED8E36}"/>
              </a:ext>
            </a:extLst>
          </p:cNvPr>
          <p:cNvSpPr txBox="1"/>
          <p:nvPr/>
        </p:nvSpPr>
        <p:spPr>
          <a:xfrm>
            <a:off x="3378564" y="472679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(</a:t>
            </a:r>
            <a:r>
              <a:rPr lang="en-US" sz="1400"/>
              <a:t>reading the video to preparing frames for deep learning models</a:t>
            </a:r>
            <a:r>
              <a:rPr lang="en-US" sz="140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)</a:t>
            </a:r>
            <a:endParaRPr lang="en-US" sz="140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7710D195-4E7D-15A8-E1C8-E4170FF7E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692" y="215048"/>
            <a:ext cx="1142916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it-IT" sz="2400">
                <a:solidFill>
                  <a:schemeClr val="accent1"/>
                </a:solidFill>
              </a:rPr>
              <a:t>AI-Integrated Multi-Modal Viva </a:t>
            </a:r>
            <a:r>
              <a:rPr lang="en-US" sz="2400">
                <a:solidFill>
                  <a:schemeClr val="accent1"/>
                </a:solidFill>
                <a:latin typeface="+mn-lt"/>
                <a:cs typeface="Times New Roman" panose="02020603050405020304" pitchFamily="18" charset="0"/>
              </a:rPr>
              <a:t>Evaluating  Module </a:t>
            </a:r>
          </a:p>
        </p:txBody>
      </p:sp>
    </p:spTree>
    <p:extLst>
      <p:ext uri="{BB962C8B-B14F-4D97-AF65-F5344CB8AC3E}">
        <p14:creationId xmlns:p14="http://schemas.microsoft.com/office/powerpoint/2010/main" val="1553817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F75834-9A09-449C-72CF-C0415636E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46" y="127816"/>
            <a:ext cx="11429160" cy="6217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42F038-D8FA-68E1-7CD8-69EF25620395}"/>
              </a:ext>
            </a:extLst>
          </p:cNvPr>
          <p:cNvSpPr/>
          <p:nvPr/>
        </p:nvSpPr>
        <p:spPr>
          <a:xfrm>
            <a:off x="2632435" y="650270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IT22557056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>
                <a:solidFill>
                  <a:schemeClr val="tx1"/>
                </a:solidFill>
              </a:rPr>
              <a:t>Herath</a:t>
            </a:r>
            <a:r>
              <a:rPr lang="en-US" sz="1800">
                <a:solidFill>
                  <a:schemeClr val="tx1"/>
                </a:solidFill>
              </a:rPr>
              <a:t> B.K.H.M.B.L 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89D6F1A5-1070-6DD4-B4AC-719B025AF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37" y="62440"/>
            <a:ext cx="1142916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it-IT" sz="2400">
                <a:solidFill>
                  <a:schemeClr val="accent1"/>
                </a:solidFill>
              </a:rPr>
              <a:t>AI-Integrated Multi-Modal Viva </a:t>
            </a:r>
            <a:r>
              <a:rPr lang="en-US" sz="2400">
                <a:solidFill>
                  <a:schemeClr val="accent1"/>
                </a:solidFill>
                <a:latin typeface="+mn-lt"/>
                <a:cs typeface="Times New Roman" panose="02020603050405020304" pitchFamily="18" charset="0"/>
              </a:rPr>
              <a:t>Evaluating  Module </a:t>
            </a:r>
          </a:p>
        </p:txBody>
      </p:sp>
    </p:spTree>
    <p:extLst>
      <p:ext uri="{BB962C8B-B14F-4D97-AF65-F5344CB8AC3E}">
        <p14:creationId xmlns:p14="http://schemas.microsoft.com/office/powerpoint/2010/main" val="36193422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714A-BB10-88EC-4548-FF329421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EFCC00-402C-0C3D-FDD2-FACF9052E55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IT22557056</a:t>
            </a:r>
            <a:r>
              <a:rPr lang="en-US" sz="1800">
                <a:solidFill>
                  <a:schemeClr val="tx1"/>
                </a:solidFill>
              </a:rPr>
              <a:t>   |   Herath B.K.H.M.B.L |   </a:t>
            </a:r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1F3CE2-4253-EC4A-DDE1-D29AA9E36B37}"/>
              </a:ext>
            </a:extLst>
          </p:cNvPr>
          <p:cNvSpPr/>
          <p:nvPr/>
        </p:nvSpPr>
        <p:spPr>
          <a:xfrm>
            <a:off x="6432433" y="813310"/>
            <a:ext cx="5698066" cy="5410200"/>
          </a:xfrm>
          <a:prstGeom prst="rect">
            <a:avLst/>
          </a:prstGeom>
          <a:solidFill>
            <a:srgbClr val="E7F3FD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A6A0610-C71F-B2BE-D916-4E0DE5DEB83C}"/>
              </a:ext>
            </a:extLst>
          </p:cNvPr>
          <p:cNvSpPr/>
          <p:nvPr/>
        </p:nvSpPr>
        <p:spPr>
          <a:xfrm>
            <a:off x="844139" y="3549340"/>
            <a:ext cx="1834158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Validation Workflow</a:t>
            </a:r>
            <a:endParaRPr lang="en-US" sz="135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5490F91-67E4-2234-9BD1-BCD058CA3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52" y="3862593"/>
            <a:ext cx="6120289" cy="2296597"/>
          </a:xfrm>
          <a:prstGeom prst="rect">
            <a:avLst/>
          </a:prstGeom>
        </p:spPr>
      </p:pic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2F1BC97E-7C05-C9F8-2833-03C6EE0BC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2930" y="4447578"/>
            <a:ext cx="316136" cy="316136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7427F65E-2842-2F2F-EF59-8CA1F87316AB}"/>
              </a:ext>
            </a:extLst>
          </p:cNvPr>
          <p:cNvSpPr/>
          <p:nvPr/>
        </p:nvSpPr>
        <p:spPr>
          <a:xfrm>
            <a:off x="5671273" y="5423844"/>
            <a:ext cx="923116" cy="53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Calculate Accuracy Metrics</a:t>
            </a:r>
            <a:endParaRPr lang="en-US" sz="1100"/>
          </a:p>
        </p:txBody>
      </p:sp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7A8349F9-D179-82A0-6019-94C4FDF65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5578" y="4448171"/>
            <a:ext cx="316136" cy="316135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C3FD230B-4644-5616-B25E-5D8CD776334C}"/>
              </a:ext>
            </a:extLst>
          </p:cNvPr>
          <p:cNvSpPr/>
          <p:nvPr/>
        </p:nvSpPr>
        <p:spPr>
          <a:xfrm>
            <a:off x="4507894" y="5423844"/>
            <a:ext cx="923116" cy="53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Compare with Human Evaluation</a:t>
            </a:r>
            <a:endParaRPr lang="en-US" sz="1100"/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0BECB7EF-DC47-81FD-EB92-A3BA071704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8522" y="4448171"/>
            <a:ext cx="316135" cy="316135"/>
          </a:xfrm>
          <a:prstGeom prst="rect">
            <a:avLst/>
          </a:prstGeom>
        </p:spPr>
      </p:pic>
      <p:sp>
        <p:nvSpPr>
          <p:cNvPr id="23" name="Text 4">
            <a:extLst>
              <a:ext uri="{FF2B5EF4-FFF2-40B4-BE49-F238E27FC236}">
                <a16:creationId xmlns:a16="http://schemas.microsoft.com/office/drawing/2014/main" id="{448375C6-93D0-5332-3DED-DAA78A869C35}"/>
              </a:ext>
            </a:extLst>
          </p:cNvPr>
          <p:cNvSpPr/>
          <p:nvPr/>
        </p:nvSpPr>
        <p:spPr>
          <a:xfrm>
            <a:off x="3350838" y="5423844"/>
            <a:ext cx="923115" cy="533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Confidence Score Generated</a:t>
            </a:r>
            <a:endParaRPr lang="en-US" sz="1100"/>
          </a:p>
        </p:txBody>
      </p:sp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21BCCBED-8020-163C-CD7A-DEE5CE51E0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1466" y="4448171"/>
            <a:ext cx="316135" cy="316135"/>
          </a:xfrm>
          <a:prstGeom prst="rect">
            <a:avLst/>
          </a:prstGeom>
        </p:spPr>
      </p:pic>
      <p:sp>
        <p:nvSpPr>
          <p:cNvPr id="26" name="Text 5">
            <a:extLst>
              <a:ext uri="{FF2B5EF4-FFF2-40B4-BE49-F238E27FC236}">
                <a16:creationId xmlns:a16="http://schemas.microsoft.com/office/drawing/2014/main" id="{0FE6DD37-DD8A-1C99-637E-262AC24EBE92}"/>
              </a:ext>
            </a:extLst>
          </p:cNvPr>
          <p:cNvSpPr/>
          <p:nvPr/>
        </p:nvSpPr>
        <p:spPr>
          <a:xfrm>
            <a:off x="2193783" y="5512757"/>
            <a:ext cx="923115" cy="355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AI Analysis System</a:t>
            </a:r>
            <a:endParaRPr lang="en-US" sz="1100"/>
          </a:p>
        </p:txBody>
      </p:sp>
      <p:pic>
        <p:nvPicPr>
          <p:cNvPr id="27" name="Image 5" descr="preencoded.png">
            <a:extLst>
              <a:ext uri="{FF2B5EF4-FFF2-40B4-BE49-F238E27FC236}">
                <a16:creationId xmlns:a16="http://schemas.microsoft.com/office/drawing/2014/main" id="{2B25E399-6A39-908D-BD41-5E30B90856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8087" y="4448171"/>
            <a:ext cx="316136" cy="316135"/>
          </a:xfrm>
          <a:prstGeom prst="rect">
            <a:avLst/>
          </a:prstGeom>
        </p:spPr>
      </p:pic>
      <p:sp>
        <p:nvSpPr>
          <p:cNvPr id="28" name="Text 6">
            <a:extLst>
              <a:ext uri="{FF2B5EF4-FFF2-40B4-BE49-F238E27FC236}">
                <a16:creationId xmlns:a16="http://schemas.microsoft.com/office/drawing/2014/main" id="{FE82546F-2283-6211-2EDF-63D8DB81F821}"/>
              </a:ext>
            </a:extLst>
          </p:cNvPr>
          <p:cNvSpPr/>
          <p:nvPr/>
        </p:nvSpPr>
        <p:spPr>
          <a:xfrm>
            <a:off x="1011436" y="5512757"/>
            <a:ext cx="923116" cy="355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Student Viva Recording</a:t>
            </a:r>
            <a:endParaRPr lang="en-US" sz="110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3C885859-DC92-15A7-46DB-24B2B5A2FB37}"/>
              </a:ext>
            </a:extLst>
          </p:cNvPr>
          <p:cNvSpPr/>
          <p:nvPr/>
        </p:nvSpPr>
        <p:spPr>
          <a:xfrm>
            <a:off x="1289413" y="1592457"/>
            <a:ext cx="3138845" cy="1342787"/>
          </a:xfrm>
          <a:prstGeom prst="roundRect">
            <a:avLst>
              <a:gd name="adj" fmla="val 5448"/>
            </a:avLst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1E7473C3-F8D0-077D-444C-0FD24431B29D}"/>
              </a:ext>
            </a:extLst>
          </p:cNvPr>
          <p:cNvSpPr/>
          <p:nvPr/>
        </p:nvSpPr>
        <p:spPr>
          <a:xfrm>
            <a:off x="1289413" y="1577217"/>
            <a:ext cx="3138845" cy="60960"/>
          </a:xfrm>
          <a:prstGeom prst="roundRect">
            <a:avLst>
              <a:gd name="adj" fmla="val 205380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6B124A54-E8C2-3080-B83C-CB611F38805E}"/>
              </a:ext>
            </a:extLst>
          </p:cNvPr>
          <p:cNvSpPr/>
          <p:nvPr/>
        </p:nvSpPr>
        <p:spPr>
          <a:xfrm>
            <a:off x="2650118" y="1383860"/>
            <a:ext cx="417314" cy="417314"/>
          </a:xfrm>
          <a:prstGeom prst="roundRect">
            <a:avLst>
              <a:gd name="adj" fmla="val 219116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54FBE19F-53F1-85E8-AC88-7A001E56CA80}"/>
              </a:ext>
            </a:extLst>
          </p:cNvPr>
          <p:cNvSpPr/>
          <p:nvPr/>
        </p:nvSpPr>
        <p:spPr>
          <a:xfrm>
            <a:off x="2775253" y="1488159"/>
            <a:ext cx="166926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30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170537AA-3E2B-4B4F-C62B-CF9567D881C6}"/>
              </a:ext>
            </a:extLst>
          </p:cNvPr>
          <p:cNvSpPr/>
          <p:nvPr/>
        </p:nvSpPr>
        <p:spPr>
          <a:xfrm>
            <a:off x="1443718" y="1940120"/>
            <a:ext cx="1738789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Availability</a:t>
            </a:r>
            <a:endParaRPr lang="en-US" sz="135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68CC61BC-23F0-EF8D-20C3-E54126168CF6}"/>
              </a:ext>
            </a:extLst>
          </p:cNvPr>
          <p:cNvSpPr/>
          <p:nvPr/>
        </p:nvSpPr>
        <p:spPr>
          <a:xfrm>
            <a:off x="1443718" y="2242658"/>
            <a:ext cx="3747714" cy="53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Public speech and emotion recognition datasets with sample academic viva recordings. Intern viva also can use  for as real data</a:t>
            </a:r>
          </a:p>
          <a:p>
            <a:pPr>
              <a:lnSpc>
                <a:spcPts val="1400"/>
              </a:lnSpc>
            </a:pPr>
            <a:r>
              <a:rPr lang="en-US" sz="1400"/>
              <a:t>compared with human examiner evaluations.</a:t>
            </a:r>
          </a:p>
          <a:p>
            <a:pPr>
              <a:lnSpc>
                <a:spcPts val="1400"/>
              </a:lnSpc>
            </a:pPr>
            <a:endParaRPr lang="en-US" sz="140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76E1F8CE-5D4F-9B42-5BA4-7723F3B1C752}"/>
              </a:ext>
            </a:extLst>
          </p:cNvPr>
          <p:cNvSpPr/>
          <p:nvPr/>
        </p:nvSpPr>
        <p:spPr>
          <a:xfrm>
            <a:off x="6540219" y="1413836"/>
            <a:ext cx="3310817" cy="1958106"/>
          </a:xfrm>
          <a:prstGeom prst="roundRect">
            <a:avLst>
              <a:gd name="adj" fmla="val 6288"/>
            </a:avLst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1F8C23D8-5F2B-7084-14FF-7DA8D826AA88}"/>
              </a:ext>
            </a:extLst>
          </p:cNvPr>
          <p:cNvSpPr/>
          <p:nvPr/>
        </p:nvSpPr>
        <p:spPr>
          <a:xfrm>
            <a:off x="6540219" y="1437579"/>
            <a:ext cx="3138845" cy="60960"/>
          </a:xfrm>
          <a:prstGeom prst="roundRect">
            <a:avLst>
              <a:gd name="adj" fmla="val 205380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C10FA4B9-EDAD-7D7C-E59E-B731A57C8574}"/>
              </a:ext>
            </a:extLst>
          </p:cNvPr>
          <p:cNvSpPr/>
          <p:nvPr/>
        </p:nvSpPr>
        <p:spPr>
          <a:xfrm>
            <a:off x="7900924" y="1244222"/>
            <a:ext cx="417314" cy="417314"/>
          </a:xfrm>
          <a:prstGeom prst="roundRect">
            <a:avLst>
              <a:gd name="adj" fmla="val 219116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6E39B9A2-89B8-A809-2EC2-E6D7B4D2B610}"/>
              </a:ext>
            </a:extLst>
          </p:cNvPr>
          <p:cNvSpPr/>
          <p:nvPr/>
        </p:nvSpPr>
        <p:spPr>
          <a:xfrm>
            <a:off x="8052233" y="1333280"/>
            <a:ext cx="166926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30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2309C474-EBBB-8806-D6CF-96279648B69B}"/>
              </a:ext>
            </a:extLst>
          </p:cNvPr>
          <p:cNvSpPr/>
          <p:nvPr/>
        </p:nvSpPr>
        <p:spPr>
          <a:xfrm>
            <a:off x="6694524" y="1800482"/>
            <a:ext cx="1738789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Security</a:t>
            </a:r>
            <a:endParaRPr lang="en-US" sz="135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A767E341-F9C6-3663-53B3-130048848C2E}"/>
              </a:ext>
            </a:extLst>
          </p:cNvPr>
          <p:cNvSpPr/>
          <p:nvPr/>
        </p:nvSpPr>
        <p:spPr>
          <a:xfrm>
            <a:off x="6694524" y="2103019"/>
            <a:ext cx="3049271" cy="107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400"/>
              </a:lnSpc>
              <a:buNone/>
            </a:pPr>
            <a:r>
              <a:rPr lang="en-US" sz="140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 video and audio recordings stored securely with personal data anonymized.</a:t>
            </a:r>
          </a:p>
          <a:p>
            <a:pPr marL="0" indent="0" algn="just">
              <a:lnSpc>
                <a:spcPts val="1400"/>
              </a:lnSpc>
              <a:buNone/>
            </a:pPr>
            <a:r>
              <a:rPr lang="en-US" sz="1400">
                <a:solidFill>
                  <a:srgbClr val="405449"/>
                </a:solidFill>
                <a:latin typeface="Nobile" pitchFamily="34" charset="0"/>
                <a:ea typeface="Nobile" pitchFamily="34" charset="-122"/>
              </a:rPr>
              <a:t>Sensitive recording will be anonymous.</a:t>
            </a:r>
          </a:p>
          <a:p>
            <a:pPr marL="0" indent="0" algn="just">
              <a:lnSpc>
                <a:spcPts val="1400"/>
              </a:lnSpc>
              <a:buNone/>
            </a:pPr>
            <a:r>
              <a:rPr lang="en-US" sz="1400">
                <a:solidFill>
                  <a:srgbClr val="405449"/>
                </a:solidFill>
                <a:latin typeface="Nobile" pitchFamily="34" charset="0"/>
                <a:ea typeface="Nobile" pitchFamily="34" charset="-122"/>
              </a:rPr>
              <a:t>Only authorized person will access to the data.</a:t>
            </a:r>
            <a:endParaRPr lang="en-US" sz="1400"/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30667FE4-66BE-20FC-11E4-1F6E8DFBE8D0}"/>
              </a:ext>
            </a:extLst>
          </p:cNvPr>
          <p:cNvSpPr/>
          <p:nvPr/>
        </p:nvSpPr>
        <p:spPr>
          <a:xfrm>
            <a:off x="8327003" y="4211410"/>
            <a:ext cx="3138845" cy="1742735"/>
          </a:xfrm>
          <a:prstGeom prst="roundRect">
            <a:avLst>
              <a:gd name="adj" fmla="val 5448"/>
            </a:avLst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E4A5D8E6-E23F-2F3D-249C-72A4AC11D932}"/>
              </a:ext>
            </a:extLst>
          </p:cNvPr>
          <p:cNvSpPr/>
          <p:nvPr/>
        </p:nvSpPr>
        <p:spPr>
          <a:xfrm>
            <a:off x="8317171" y="3960196"/>
            <a:ext cx="3138845" cy="60960"/>
          </a:xfrm>
          <a:prstGeom prst="roundRect">
            <a:avLst>
              <a:gd name="adj" fmla="val 205380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74A81F52-8824-72BB-9D32-6435286C92FC}"/>
              </a:ext>
            </a:extLst>
          </p:cNvPr>
          <p:cNvSpPr/>
          <p:nvPr/>
        </p:nvSpPr>
        <p:spPr>
          <a:xfrm>
            <a:off x="9677876" y="3766839"/>
            <a:ext cx="417314" cy="417314"/>
          </a:xfrm>
          <a:prstGeom prst="roundRect">
            <a:avLst>
              <a:gd name="adj" fmla="val 219116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C2239CB9-B62D-CECC-8236-3F98B19C7946}"/>
              </a:ext>
            </a:extLst>
          </p:cNvPr>
          <p:cNvSpPr/>
          <p:nvPr/>
        </p:nvSpPr>
        <p:spPr>
          <a:xfrm>
            <a:off x="9803011" y="3871138"/>
            <a:ext cx="166926" cy="20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1300"/>
          </a:p>
        </p:txBody>
      </p:sp>
      <p:sp>
        <p:nvSpPr>
          <p:cNvPr id="46" name="Text 24">
            <a:extLst>
              <a:ext uri="{FF2B5EF4-FFF2-40B4-BE49-F238E27FC236}">
                <a16:creationId xmlns:a16="http://schemas.microsoft.com/office/drawing/2014/main" id="{6936CD04-4121-4B86-BFB0-6B83FEB48915}"/>
              </a:ext>
            </a:extLst>
          </p:cNvPr>
          <p:cNvSpPr/>
          <p:nvPr/>
        </p:nvSpPr>
        <p:spPr>
          <a:xfrm>
            <a:off x="8471476" y="4323099"/>
            <a:ext cx="1738789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Ethical Clearance</a:t>
            </a:r>
            <a:endParaRPr lang="en-US" sz="1350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05E87803-0A5C-B27C-364F-EC7975455ADE}"/>
              </a:ext>
            </a:extLst>
          </p:cNvPr>
          <p:cNvSpPr/>
          <p:nvPr/>
        </p:nvSpPr>
        <p:spPr>
          <a:xfrm>
            <a:off x="8471476" y="4625636"/>
            <a:ext cx="2830235" cy="1136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University research ethics committee approval obtained with responsible AI practices followed.</a:t>
            </a:r>
          </a:p>
          <a:p>
            <a:pPr>
              <a:lnSpc>
                <a:spcPts val="1400"/>
              </a:lnSpc>
            </a:pPr>
            <a:r>
              <a:rPr lang="en-US" sz="1400"/>
              <a:t>AI system will be used </a:t>
            </a:r>
            <a:r>
              <a:rPr lang="en-US" sz="1400" b="1"/>
              <a:t>only as a support tool for evaluation</a:t>
            </a:r>
            <a:r>
              <a:rPr lang="en-US" sz="1400"/>
              <a:t>, not as a replacement for human examiners.</a:t>
            </a: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C95A802-9DA8-E29D-5178-B5D3E9F6D054}"/>
              </a:ext>
            </a:extLst>
          </p:cNvPr>
          <p:cNvSpPr txBox="1">
            <a:spLocks/>
          </p:cNvSpPr>
          <p:nvPr/>
        </p:nvSpPr>
        <p:spPr>
          <a:xfrm>
            <a:off x="381420" y="342900"/>
            <a:ext cx="11429160" cy="381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/>
            <a:r>
              <a:rPr lang="it-IT" sz="2400">
                <a:solidFill>
                  <a:schemeClr val="accent1"/>
                </a:solidFill>
              </a:rPr>
              <a:t>AI-Integrated Multi-Modal Viva </a:t>
            </a:r>
            <a:r>
              <a:rPr lang="en-US" sz="2400">
                <a:solidFill>
                  <a:schemeClr val="accent1"/>
                </a:solidFill>
                <a:latin typeface="+mn-lt"/>
                <a:cs typeface="Times New Roman" panose="02020603050405020304" pitchFamily="18" charset="0"/>
              </a:rPr>
              <a:t>Evaluating  Module </a:t>
            </a:r>
          </a:p>
        </p:txBody>
      </p:sp>
    </p:spTree>
    <p:extLst>
      <p:ext uri="{BB962C8B-B14F-4D97-AF65-F5344CB8AC3E}">
        <p14:creationId xmlns:p14="http://schemas.microsoft.com/office/powerpoint/2010/main" val="4069556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A4E17-C548-6561-6961-9FD6D0A73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01C93C-4220-3620-F130-427854A2FD0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IT22557056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  </a:t>
            </a:r>
            <a:r>
              <a:rPr lang="en-US" b="1">
                <a:solidFill>
                  <a:prstClr val="black"/>
                </a:solidFill>
                <a:latin typeface="Cambria"/>
              </a:rPr>
              <a:t>B.K.H.M.B L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Herath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RE26-SE-025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0DB08E2-768B-8204-D67C-79F606917BC3}"/>
              </a:ext>
            </a:extLst>
          </p:cNvPr>
          <p:cNvSpPr/>
          <p:nvPr/>
        </p:nvSpPr>
        <p:spPr>
          <a:xfrm>
            <a:off x="401680" y="515868"/>
            <a:ext cx="4461510" cy="446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>
                <a:solidFill>
                  <a:srgbClr val="423A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 Objectives</a:t>
            </a:r>
            <a:endParaRPr lang="en-US" sz="28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CB615B6-09E9-175F-9248-06F9C606C399}"/>
              </a:ext>
            </a:extLst>
          </p:cNvPr>
          <p:cNvSpPr/>
          <p:nvPr/>
        </p:nvSpPr>
        <p:spPr>
          <a:xfrm flipH="1">
            <a:off x="3336834" y="978568"/>
            <a:ext cx="70187" cy="5072589"/>
          </a:xfrm>
          <a:prstGeom prst="roundRect">
            <a:avLst>
              <a:gd name="adj" fmla="val 40000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F6E3DE5-37FB-0D8D-A787-05D401B79372}"/>
              </a:ext>
            </a:extLst>
          </p:cNvPr>
          <p:cNvSpPr/>
          <p:nvPr/>
        </p:nvSpPr>
        <p:spPr>
          <a:xfrm>
            <a:off x="3050192" y="1400236"/>
            <a:ext cx="356830" cy="22860"/>
          </a:xfrm>
          <a:prstGeom prst="roundRect">
            <a:avLst>
              <a:gd name="adj" fmla="val 40000"/>
            </a:avLst>
          </a:prstGeom>
          <a:solidFill>
            <a:srgbClr val="5B5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F4E40BB-518B-4831-984E-8665D58DDD34}"/>
              </a:ext>
            </a:extLst>
          </p:cNvPr>
          <p:cNvSpPr/>
          <p:nvPr/>
        </p:nvSpPr>
        <p:spPr>
          <a:xfrm>
            <a:off x="3317249" y="1344753"/>
            <a:ext cx="133826" cy="133826"/>
          </a:xfrm>
          <a:prstGeom prst="roundRect">
            <a:avLst>
              <a:gd name="adj" fmla="val 341638"/>
            </a:avLst>
          </a:prstGeom>
          <a:solidFill>
            <a:srgbClr val="423A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20719C4-EEF6-2EA8-D24A-139FA2287EBA}"/>
              </a:ext>
            </a:extLst>
          </p:cNvPr>
          <p:cNvSpPr/>
          <p:nvPr/>
        </p:nvSpPr>
        <p:spPr>
          <a:xfrm>
            <a:off x="484745" y="1277839"/>
            <a:ext cx="2303621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2100">
                <a:solidFill>
                  <a:srgbClr val="423A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Facial Expression Analysis</a:t>
            </a:r>
            <a:endParaRPr lang="en-US" sz="21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2176239-8FED-BDD7-14A4-0CF39F4D42DF}"/>
              </a:ext>
            </a:extLst>
          </p:cNvPr>
          <p:cNvSpPr/>
          <p:nvPr/>
        </p:nvSpPr>
        <p:spPr>
          <a:xfrm>
            <a:off x="484745" y="1973523"/>
            <a:ext cx="2303621" cy="133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400">
                <a:solidFill>
                  <a:srgbClr val="423A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 emotional engagement and confidence signals from video using computer vision techniques</a:t>
            </a:r>
            <a:endParaRPr lang="en-US" sz="140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9F8A95E-D8B9-3E31-7CE8-2621D5F86D0B}"/>
              </a:ext>
            </a:extLst>
          </p:cNvPr>
          <p:cNvSpPr/>
          <p:nvPr/>
        </p:nvSpPr>
        <p:spPr>
          <a:xfrm>
            <a:off x="3361302" y="2483015"/>
            <a:ext cx="356830" cy="22860"/>
          </a:xfrm>
          <a:prstGeom prst="roundRect">
            <a:avLst>
              <a:gd name="adj" fmla="val 40000"/>
            </a:avLst>
          </a:prstGeom>
          <a:solidFill>
            <a:srgbClr val="5B5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5E0FB46-08B9-ED70-EFA5-3BA5A2FF5307}"/>
              </a:ext>
            </a:extLst>
          </p:cNvPr>
          <p:cNvSpPr/>
          <p:nvPr/>
        </p:nvSpPr>
        <p:spPr>
          <a:xfrm>
            <a:off x="3317249" y="2427532"/>
            <a:ext cx="133826" cy="133826"/>
          </a:xfrm>
          <a:prstGeom prst="roundRect">
            <a:avLst>
              <a:gd name="adj" fmla="val 341638"/>
            </a:avLst>
          </a:prstGeom>
          <a:solidFill>
            <a:srgbClr val="423A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7C2F723-4F15-09E2-3D99-B1B518BA4F06}"/>
              </a:ext>
            </a:extLst>
          </p:cNvPr>
          <p:cNvSpPr/>
          <p:nvPr/>
        </p:nvSpPr>
        <p:spPr>
          <a:xfrm>
            <a:off x="3862436" y="2337180"/>
            <a:ext cx="2303621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>
                <a:solidFill>
                  <a:srgbClr val="423A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Voice Analysis Module</a:t>
            </a:r>
            <a:endParaRPr lang="en-US" sz="21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A844E1E-98EC-712E-B5C1-7854D55400C9}"/>
              </a:ext>
            </a:extLst>
          </p:cNvPr>
          <p:cNvSpPr/>
          <p:nvPr/>
        </p:nvSpPr>
        <p:spPr>
          <a:xfrm>
            <a:off x="3862436" y="2819101"/>
            <a:ext cx="1999110" cy="1273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>
                <a:solidFill>
                  <a:srgbClr val="423A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pitch, speech rate, pauses, and tone analysis to capture vocal confidence indicators</a:t>
            </a:r>
            <a:endParaRPr lang="en-US" sz="14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9B8C544-C078-D4F2-A7E6-9F61CD16EE6C}"/>
              </a:ext>
            </a:extLst>
          </p:cNvPr>
          <p:cNvSpPr/>
          <p:nvPr/>
        </p:nvSpPr>
        <p:spPr>
          <a:xfrm>
            <a:off x="3050192" y="3781861"/>
            <a:ext cx="356830" cy="22860"/>
          </a:xfrm>
          <a:prstGeom prst="roundRect">
            <a:avLst>
              <a:gd name="adj" fmla="val 40000"/>
            </a:avLst>
          </a:prstGeom>
          <a:solidFill>
            <a:srgbClr val="5B5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E5C143C-BFE0-A40B-7DAA-93E59C86D479}"/>
              </a:ext>
            </a:extLst>
          </p:cNvPr>
          <p:cNvSpPr/>
          <p:nvPr/>
        </p:nvSpPr>
        <p:spPr>
          <a:xfrm>
            <a:off x="3317249" y="3726378"/>
            <a:ext cx="133826" cy="133826"/>
          </a:xfrm>
          <a:prstGeom prst="roundRect">
            <a:avLst>
              <a:gd name="adj" fmla="val 341638"/>
            </a:avLst>
          </a:prstGeom>
          <a:solidFill>
            <a:srgbClr val="423A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9C80318-B460-BB4A-856C-885D984F215C}"/>
              </a:ext>
            </a:extLst>
          </p:cNvPr>
          <p:cNvSpPr/>
          <p:nvPr/>
        </p:nvSpPr>
        <p:spPr>
          <a:xfrm>
            <a:off x="484745" y="3739675"/>
            <a:ext cx="2303621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2100">
                <a:solidFill>
                  <a:srgbClr val="423A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Speech-to-Text </a:t>
            </a:r>
          </a:p>
          <a:p>
            <a:pPr marL="0" indent="0" algn="r">
              <a:lnSpc>
                <a:spcPts val="2100"/>
              </a:lnSpc>
              <a:buNone/>
            </a:pPr>
            <a:r>
              <a:rPr lang="en-US" sz="2100">
                <a:solidFill>
                  <a:srgbClr val="423A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&amp; NLP</a:t>
            </a:r>
            <a:endParaRPr lang="en-US" sz="21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B6E6D87-9BE4-A4F1-D93E-216A811DDE2B}"/>
              </a:ext>
            </a:extLst>
          </p:cNvPr>
          <p:cNvSpPr/>
          <p:nvPr/>
        </p:nvSpPr>
        <p:spPr>
          <a:xfrm>
            <a:off x="623759" y="4435357"/>
            <a:ext cx="2154775" cy="1185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850"/>
              </a:lnSpc>
              <a:buNone/>
            </a:pPr>
            <a:r>
              <a:rPr lang="en-US" sz="1400">
                <a:solidFill>
                  <a:srgbClr val="423A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transcription and natural language processing to evaluate the relevance and quality of student answers</a:t>
            </a:r>
            <a:endParaRPr lang="en-US" sz="14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E3CD8BE5-694C-8554-76FB-0F5438F958F2}"/>
              </a:ext>
            </a:extLst>
          </p:cNvPr>
          <p:cNvSpPr/>
          <p:nvPr/>
        </p:nvSpPr>
        <p:spPr>
          <a:xfrm>
            <a:off x="3361302" y="5795219"/>
            <a:ext cx="356830" cy="22860"/>
          </a:xfrm>
          <a:prstGeom prst="roundRect">
            <a:avLst>
              <a:gd name="adj" fmla="val 40000"/>
            </a:avLst>
          </a:prstGeom>
          <a:solidFill>
            <a:srgbClr val="5B5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A101A5C1-9945-1DDE-B485-8CD792BEAF63}"/>
              </a:ext>
            </a:extLst>
          </p:cNvPr>
          <p:cNvSpPr/>
          <p:nvPr/>
        </p:nvSpPr>
        <p:spPr>
          <a:xfrm>
            <a:off x="3317249" y="5739735"/>
            <a:ext cx="133826" cy="133826"/>
          </a:xfrm>
          <a:prstGeom prst="roundRect">
            <a:avLst>
              <a:gd name="adj" fmla="val 341638"/>
            </a:avLst>
          </a:prstGeom>
          <a:solidFill>
            <a:srgbClr val="423A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A0FA712-1A98-F721-BB4B-8695A8222179}"/>
              </a:ext>
            </a:extLst>
          </p:cNvPr>
          <p:cNvSpPr/>
          <p:nvPr/>
        </p:nvSpPr>
        <p:spPr>
          <a:xfrm>
            <a:off x="3780730" y="5687188"/>
            <a:ext cx="2303621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>
                <a:solidFill>
                  <a:srgbClr val="423A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Multimodal Fusion &amp; Reporting</a:t>
            </a:r>
            <a:endParaRPr lang="en-US" sz="210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5BAF9B31-FFD2-FBA6-F0FF-B2282B926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372" y="682138"/>
            <a:ext cx="5916573" cy="2678371"/>
          </a:xfrm>
          <a:prstGeom prst="rect">
            <a:avLst/>
          </a:prstGeom>
        </p:spPr>
      </p:pic>
      <p:sp>
        <p:nvSpPr>
          <p:cNvPr id="23" name="Shape 19">
            <a:extLst>
              <a:ext uri="{FF2B5EF4-FFF2-40B4-BE49-F238E27FC236}">
                <a16:creationId xmlns:a16="http://schemas.microsoft.com/office/drawing/2014/main" id="{10742DF9-CBF2-C953-CAC4-83D7E0FD4283}"/>
              </a:ext>
            </a:extLst>
          </p:cNvPr>
          <p:cNvSpPr/>
          <p:nvPr/>
        </p:nvSpPr>
        <p:spPr>
          <a:xfrm>
            <a:off x="10577054" y="840258"/>
            <a:ext cx="178356" cy="178356"/>
          </a:xfrm>
          <a:prstGeom prst="roundRect">
            <a:avLst>
              <a:gd name="adj" fmla="val 10254"/>
            </a:avLst>
          </a:prstGeom>
          <a:solidFill>
            <a:srgbClr val="302A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F4A78091-5FEB-5A18-9829-E040D77A3BAB}"/>
              </a:ext>
            </a:extLst>
          </p:cNvPr>
          <p:cNvSpPr/>
          <p:nvPr/>
        </p:nvSpPr>
        <p:spPr>
          <a:xfrm>
            <a:off x="10957131" y="834976"/>
            <a:ext cx="1125498" cy="356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>
                <a:solidFill>
                  <a:srgbClr val="423A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Facial Analysis</a:t>
            </a:r>
            <a:endParaRPr lang="en-US" sz="140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97D6B714-EB8A-B6DA-AD7B-4DF6AC6ECF89}"/>
              </a:ext>
            </a:extLst>
          </p:cNvPr>
          <p:cNvSpPr/>
          <p:nvPr/>
        </p:nvSpPr>
        <p:spPr>
          <a:xfrm>
            <a:off x="10567222" y="1300104"/>
            <a:ext cx="178356" cy="178356"/>
          </a:xfrm>
          <a:prstGeom prst="roundRect">
            <a:avLst>
              <a:gd name="adj" fmla="val 10254"/>
            </a:avLst>
          </a:prstGeom>
          <a:solidFill>
            <a:srgbClr val="5C51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EEA2DF6-E80E-F59C-B22F-C0F0A7BD7CD8}"/>
              </a:ext>
            </a:extLst>
          </p:cNvPr>
          <p:cNvSpPr/>
          <p:nvPr/>
        </p:nvSpPr>
        <p:spPr>
          <a:xfrm>
            <a:off x="10957131" y="1289917"/>
            <a:ext cx="1125498" cy="356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>
                <a:solidFill>
                  <a:srgbClr val="423A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Voice Analysis</a:t>
            </a:r>
            <a:endParaRPr lang="en-US" sz="14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325D9DFC-8C5D-0E55-7E63-F60E26BA0D4D}"/>
              </a:ext>
            </a:extLst>
          </p:cNvPr>
          <p:cNvSpPr/>
          <p:nvPr/>
        </p:nvSpPr>
        <p:spPr>
          <a:xfrm>
            <a:off x="10556486" y="1884345"/>
            <a:ext cx="178356" cy="178356"/>
          </a:xfrm>
          <a:prstGeom prst="roundRect">
            <a:avLst>
              <a:gd name="adj" fmla="val 10254"/>
            </a:avLst>
          </a:prstGeom>
          <a:solidFill>
            <a:srgbClr val="8777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D5197466-F48A-B41B-A343-C87403EBD70F}"/>
              </a:ext>
            </a:extLst>
          </p:cNvPr>
          <p:cNvSpPr/>
          <p:nvPr/>
        </p:nvSpPr>
        <p:spPr>
          <a:xfrm>
            <a:off x="10924890" y="1842850"/>
            <a:ext cx="1125498" cy="356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>
                <a:solidFill>
                  <a:srgbClr val="423A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Speech &amp; NLP</a:t>
            </a:r>
            <a:endParaRPr lang="en-US" sz="140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C280D476-AF07-011F-14F8-B2D81C1752F3}"/>
              </a:ext>
            </a:extLst>
          </p:cNvPr>
          <p:cNvSpPr/>
          <p:nvPr/>
        </p:nvSpPr>
        <p:spPr>
          <a:xfrm>
            <a:off x="10567991" y="2460742"/>
            <a:ext cx="178356" cy="178356"/>
          </a:xfrm>
          <a:prstGeom prst="roundRect">
            <a:avLst>
              <a:gd name="adj" fmla="val 10254"/>
            </a:avLst>
          </a:prstGeom>
          <a:solidFill>
            <a:srgbClr val="AB9A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54ED43E2-26DB-B5BF-B910-56D9A9C56F43}"/>
              </a:ext>
            </a:extLst>
          </p:cNvPr>
          <p:cNvSpPr/>
          <p:nvPr/>
        </p:nvSpPr>
        <p:spPr>
          <a:xfrm>
            <a:off x="10924890" y="2426105"/>
            <a:ext cx="1125617" cy="356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>
                <a:solidFill>
                  <a:srgbClr val="423A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Multimodal Fusion</a:t>
            </a:r>
            <a:endParaRPr lang="en-US" sz="140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30AD233E-1FBF-9F5D-6D14-524DA72FF7AF}"/>
              </a:ext>
            </a:extLst>
          </p:cNvPr>
          <p:cNvSpPr/>
          <p:nvPr/>
        </p:nvSpPr>
        <p:spPr>
          <a:xfrm>
            <a:off x="10556486" y="3038951"/>
            <a:ext cx="178356" cy="178356"/>
          </a:xfrm>
          <a:prstGeom prst="roundRect">
            <a:avLst>
              <a:gd name="adj" fmla="val 10254"/>
            </a:avLst>
          </a:prstGeom>
          <a:solidFill>
            <a:srgbClr val="C5B9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4B197A37-2A85-843C-0D35-61FDC882EEE2}"/>
              </a:ext>
            </a:extLst>
          </p:cNvPr>
          <p:cNvSpPr/>
          <p:nvPr/>
        </p:nvSpPr>
        <p:spPr>
          <a:xfrm>
            <a:off x="10957131" y="3029399"/>
            <a:ext cx="799981" cy="178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>
                <a:solidFill>
                  <a:srgbClr val="423A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Reporting</a:t>
            </a:r>
            <a:endParaRPr lang="en-US" sz="140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80A4D96C-AC50-3CF7-757D-9D43C28842EE}"/>
              </a:ext>
            </a:extLst>
          </p:cNvPr>
          <p:cNvSpPr/>
          <p:nvPr/>
        </p:nvSpPr>
        <p:spPr>
          <a:xfrm>
            <a:off x="7059561" y="3992303"/>
            <a:ext cx="4707032" cy="123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1850"/>
              </a:lnSpc>
              <a:buNone/>
            </a:pPr>
            <a:r>
              <a:rPr lang="en-US" sz="1600">
                <a:solidFill>
                  <a:srgbClr val="423A2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Chart illustrates the proposed research emphasis across the five core objective areas, with facial analysis and NLP each receiving the highest focus as the primary signal sources.</a:t>
            </a:r>
            <a:endParaRPr lang="en-US" sz="1600"/>
          </a:p>
        </p:txBody>
      </p:sp>
      <p:sp>
        <p:nvSpPr>
          <p:cNvPr id="3" name="Text 17">
            <a:extLst>
              <a:ext uri="{FF2B5EF4-FFF2-40B4-BE49-F238E27FC236}">
                <a16:creationId xmlns:a16="http://schemas.microsoft.com/office/drawing/2014/main" id="{FE1A4F4A-EE54-353C-83E9-459A87AD533A}"/>
              </a:ext>
            </a:extLst>
          </p:cNvPr>
          <p:cNvSpPr/>
          <p:nvPr/>
        </p:nvSpPr>
        <p:spPr>
          <a:xfrm>
            <a:off x="3862436" y="4466585"/>
            <a:ext cx="2303621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>
                <a:solidFill>
                  <a:srgbClr val="423A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Body Gestures Analysis</a:t>
            </a:r>
            <a:endParaRPr lang="en-US" sz="210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2678016E-55C1-2B83-310A-F9B15F18540F}"/>
              </a:ext>
            </a:extLst>
          </p:cNvPr>
          <p:cNvSpPr/>
          <p:nvPr/>
        </p:nvSpPr>
        <p:spPr>
          <a:xfrm>
            <a:off x="3376154" y="4610223"/>
            <a:ext cx="356830" cy="22860"/>
          </a:xfrm>
          <a:prstGeom prst="roundRect">
            <a:avLst>
              <a:gd name="adj" fmla="val 40000"/>
            </a:avLst>
          </a:prstGeom>
          <a:solidFill>
            <a:srgbClr val="5B53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FEEF007B-CBE6-A7F5-8ACE-B4DB6810B05A}"/>
              </a:ext>
            </a:extLst>
          </p:cNvPr>
          <p:cNvSpPr/>
          <p:nvPr/>
        </p:nvSpPr>
        <p:spPr>
          <a:xfrm>
            <a:off x="3325864" y="4555461"/>
            <a:ext cx="133826" cy="133826"/>
          </a:xfrm>
          <a:prstGeom prst="roundRect">
            <a:avLst>
              <a:gd name="adj" fmla="val 341638"/>
            </a:avLst>
          </a:prstGeom>
          <a:solidFill>
            <a:srgbClr val="423A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D323103E-79BE-E867-A5B6-D0BFE72CB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469" y="38509"/>
            <a:ext cx="11429160" cy="381000"/>
          </a:xfrm>
        </p:spPr>
        <p:txBody>
          <a:bodyPr>
            <a:normAutofit fontScale="90000"/>
          </a:bodyPr>
          <a:lstStyle/>
          <a:p>
            <a:pPr algn="ctr"/>
            <a:r>
              <a:rPr lang="it-IT" sz="2400">
                <a:solidFill>
                  <a:schemeClr val="accent1"/>
                </a:solidFill>
              </a:rPr>
              <a:t>AI-Integrated Multi-Modal Viva </a:t>
            </a:r>
            <a:r>
              <a:rPr lang="en-US" sz="2400">
                <a:solidFill>
                  <a:schemeClr val="accent1"/>
                </a:solidFill>
                <a:latin typeface="+mn-lt"/>
                <a:cs typeface="Times New Roman" panose="02020603050405020304" pitchFamily="18" charset="0"/>
              </a:rPr>
              <a:t>Evaluating  Module </a:t>
            </a:r>
          </a:p>
        </p:txBody>
      </p:sp>
    </p:spTree>
    <p:extLst>
      <p:ext uri="{BB962C8B-B14F-4D97-AF65-F5344CB8AC3E}">
        <p14:creationId xmlns:p14="http://schemas.microsoft.com/office/powerpoint/2010/main" val="8798189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6F8E4-8BAA-AAAC-1ADB-7FB6F7C24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219CABB-2680-9F3A-A76F-6F784D378748}"/>
              </a:ext>
            </a:extLst>
          </p:cNvPr>
          <p:cNvSpPr txBox="1">
            <a:spLocks/>
          </p:cNvSpPr>
          <p:nvPr/>
        </p:nvSpPr>
        <p:spPr>
          <a:xfrm>
            <a:off x="349667" y="0"/>
            <a:ext cx="11492665" cy="9805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400"/>
              <a:t>AI-Integrated Multi-Modal Academic Evaluation, Performance Intelligence, and Automated Viva Assessment System</a:t>
            </a:r>
            <a:endParaRPr lang="en-US" sz="240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414605-1C08-1171-2455-E2766EFB904F}"/>
              </a:ext>
            </a:extLst>
          </p:cNvPr>
          <p:cNvSpPr txBox="1"/>
          <p:nvPr/>
        </p:nvSpPr>
        <p:spPr>
          <a:xfrm>
            <a:off x="5202519" y="1166789"/>
            <a:ext cx="6800941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B0F0"/>
                </a:solidFill>
              </a:rPr>
              <a:t>Microservices-Based Product Architecture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/>
              <a:t>Microservices Architecture for modular deployment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/>
              <a:t>Each component works as an independent service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B0F0"/>
                </a:solidFill>
              </a:rPr>
              <a:t>Flexible Deployment Model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/>
              <a:t>Core system can be hosted centrally as a full platform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/>
              <a:t>Allows quick delivery to different clients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B0F0"/>
                </a:solidFill>
              </a:rPr>
              <a:t>Value Proposition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/>
              <a:t>Automated academic evaluation reduces educator workload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/>
              <a:t>AI-powered diagram and answer analysis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B0F0"/>
                </a:solidFill>
              </a:rPr>
              <a:t>Investment / Cost Structure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/>
              <a:t>Software-as-a-Service (SaaS) subscription model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/>
              <a:t>Institutional licensing for universities and institutes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/>
              <a:t>Pay-per-module pricing for individual components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B0F0"/>
                </a:solidFill>
              </a:rPr>
              <a:t>High Availability Deployment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/>
              <a:t>Multiple replicas for scalability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/>
              <a:t>Zero downtime deployment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469160-E561-B799-C684-544400B6898D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1DFF44-EE86-9B7E-A44C-7A25C0A9753C}"/>
              </a:ext>
            </a:extLst>
          </p:cNvPr>
          <p:cNvSpPr/>
          <p:nvPr/>
        </p:nvSpPr>
        <p:spPr>
          <a:xfrm>
            <a:off x="-76767" y="737558"/>
            <a:ext cx="5698066" cy="5410200"/>
          </a:xfrm>
          <a:prstGeom prst="rect">
            <a:avLst/>
          </a:prstGeom>
          <a:solidFill>
            <a:srgbClr val="FEF4E6"/>
          </a:solidFill>
          <a:ln>
            <a:noFill/>
          </a:ln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945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D0BB0-B4AD-62E6-42B7-56BB1784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4387C6-7CCE-BCE7-E621-964BF8C6F59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1110981-13B8-EABE-AE27-8B798D176372}"/>
              </a:ext>
            </a:extLst>
          </p:cNvPr>
          <p:cNvSpPr txBox="1">
            <a:spLocks/>
          </p:cNvSpPr>
          <p:nvPr/>
        </p:nvSpPr>
        <p:spPr>
          <a:xfrm>
            <a:off x="349667" y="0"/>
            <a:ext cx="11492665" cy="9805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2400"/>
              <a:t>AI-Integrated Multi-Modal Academic Evaluation, Performance Intelligence, and Automated Viva Assessment System</a:t>
            </a:r>
            <a:endParaRPr lang="en-US" sz="240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FB05B0-DC04-00D9-A49E-A876B3B7B0E3}"/>
              </a:ext>
            </a:extLst>
          </p:cNvPr>
          <p:cNvSpPr txBox="1"/>
          <p:nvPr/>
        </p:nvSpPr>
        <p:spPr>
          <a:xfrm>
            <a:off x="2254488" y="1233595"/>
            <a:ext cx="1785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Gannt Chart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96D386-AC0D-9129-3A33-0D8C4E0DFEDA}"/>
              </a:ext>
            </a:extLst>
          </p:cNvPr>
          <p:cNvSpPr txBox="1"/>
          <p:nvPr/>
        </p:nvSpPr>
        <p:spPr>
          <a:xfrm>
            <a:off x="8151857" y="1233594"/>
            <a:ext cx="1785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WBS Chart</a:t>
            </a:r>
          </a:p>
        </p:txBody>
      </p:sp>
    </p:spTree>
    <p:extLst>
      <p:ext uri="{BB962C8B-B14F-4D97-AF65-F5344CB8AC3E}">
        <p14:creationId xmlns:p14="http://schemas.microsoft.com/office/powerpoint/2010/main" val="3274371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81E7-DE04-D465-CBE5-A848AB156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019E3F-AF6B-BC5A-EA43-47132324CBCC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>
                <a:solidFill>
                  <a:schemeClr val="tx1"/>
                </a:solidFill>
              </a:rPr>
              <a:t>R26-SE-025</a:t>
            </a:r>
          </a:p>
        </p:txBody>
      </p:sp>
    </p:spTree>
    <p:extLst>
      <p:ext uri="{BB962C8B-B14F-4D97-AF65-F5344CB8AC3E}">
        <p14:creationId xmlns:p14="http://schemas.microsoft.com/office/powerpoint/2010/main" val="2148317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476C4981FE2047819081DBF807662E" ma:contentTypeVersion="16" ma:contentTypeDescription="Create a new document." ma:contentTypeScope="" ma:versionID="fa9c7c0e0052cb5d8cc00896fe5aa7e7">
  <xsd:schema xmlns:xsd="http://www.w3.org/2001/XMLSchema" xmlns:xs="http://www.w3.org/2001/XMLSchema" xmlns:p="http://schemas.microsoft.com/office/2006/metadata/properties" xmlns:ns3="42d1e402-c42d-419a-bd83-d8d365e28f11" xmlns:ns4="fdf483cb-5937-4af3-915e-55fd2d7d3a90" targetNamespace="http://schemas.microsoft.com/office/2006/metadata/properties" ma:root="true" ma:fieldsID="e68192e7d6eb0ce8920df7ba855e6c2f" ns3:_="" ns4:_="">
    <xsd:import namespace="42d1e402-c42d-419a-bd83-d8d365e28f11"/>
    <xsd:import namespace="fdf483cb-5937-4af3-915e-55fd2d7d3a9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d1e402-c42d-419a-bd83-d8d365e28f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483cb-5937-4af3-915e-55fd2d7d3a9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d1e402-c42d-419a-bd83-d8d365e28f11" xsi:nil="true"/>
  </documentManagement>
</p:properties>
</file>

<file path=customXml/itemProps1.xml><?xml version="1.0" encoding="utf-8"?>
<ds:datastoreItem xmlns:ds="http://schemas.openxmlformats.org/officeDocument/2006/customXml" ds:itemID="{841305FA-969E-41DB-9AFF-1CCE802A59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06245A-FF32-4D48-84B9-1D8BC44D687D}">
  <ds:schemaRefs>
    <ds:schemaRef ds:uri="42d1e402-c42d-419a-bd83-d8d365e28f11"/>
    <ds:schemaRef ds:uri="fdf483cb-5937-4af3-915e-55fd2d7d3a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C4857C4-11C2-4C93-A3A5-F9407742B5C3}">
  <ds:schemaRefs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fdf483cb-5937-4af3-915e-55fd2d7d3a90"/>
    <ds:schemaRef ds:uri="42d1e402-c42d-419a-bd83-d8d365e28f11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2153</Words>
  <Application>Microsoft Office PowerPoint</Application>
  <PresentationFormat>Widescreen</PresentationFormat>
  <Paragraphs>372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9" baseType="lpstr">
      <vt:lpstr>Adobe Devanagari</vt:lpstr>
      <vt:lpstr>Aharoni</vt:lpstr>
      <vt:lpstr>Arial</vt:lpstr>
      <vt:lpstr>Arial,Sans-Serif</vt:lpstr>
      <vt:lpstr>Calibri</vt:lpstr>
      <vt:lpstr>Cambria</vt:lpstr>
      <vt:lpstr>DM Sans</vt:lpstr>
      <vt:lpstr>DM Sans Medium</vt:lpstr>
      <vt:lpstr>Fraunces Extra Bold</vt:lpstr>
      <vt:lpstr>Instrument Sans Semi Bold</vt:lpstr>
      <vt:lpstr>Inter</vt:lpstr>
      <vt:lpstr>Inter Bold</vt:lpstr>
      <vt:lpstr>Nobile</vt:lpstr>
      <vt:lpstr>Playfair Display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IT22262554 | Senarathna A.M</vt:lpstr>
      <vt:lpstr>Handwritten ER Diagram Extraction and Evaluating  Module </vt:lpstr>
      <vt:lpstr>Handwritten ER Diagram Extraction and Evaluating  Module </vt:lpstr>
      <vt:lpstr>Handwritten ER Diagram Extraction and Evaluating  Module </vt:lpstr>
      <vt:lpstr>Handwritten ER Diagram Extraction and Evaluating  Module </vt:lpstr>
      <vt:lpstr>Handwritten ER Diagram Extraction and Evaluating  Module </vt:lpstr>
      <vt:lpstr>IT22239198 | Wickramarathne H.I.B </vt:lpstr>
      <vt:lpstr>PowerPoint Presentation</vt:lpstr>
      <vt:lpstr>PowerPoint Presentation</vt:lpstr>
      <vt:lpstr>PowerPoint Presentation</vt:lpstr>
      <vt:lpstr>PowerPoint Presentation</vt:lpstr>
      <vt:lpstr>IT22134776 | L.S.B Hemarathne</vt:lpstr>
      <vt:lpstr>AI-Driven Exam Question Analytics and Prediction Module</vt:lpstr>
      <vt:lpstr>AI-Driven Exam Question Analytics and Prediction Module</vt:lpstr>
      <vt:lpstr>AI-Driven Exam Question Analytics and Prediction Module</vt:lpstr>
      <vt:lpstr>AI-Driven Exam Question Analytics and Prediction Module</vt:lpstr>
      <vt:lpstr>AI-Driven Exam Question Analytics and Prediction Module</vt:lpstr>
      <vt:lpstr>AI-Driven Exam Question Analytics and Prediction Module</vt:lpstr>
      <vt:lpstr>IT22557056 | HERATH B.K.H.M.B.L</vt:lpstr>
      <vt:lpstr>AI-Integrated Multi-Modal Viva Evaluating  Module </vt:lpstr>
      <vt:lpstr>AI-Integrated Multi-Modal Viva Evaluating  Module </vt:lpstr>
      <vt:lpstr>AI-Integrated Multi-Modal Viva Evaluating  Module </vt:lpstr>
      <vt:lpstr>AI-Integrated Multi-Modal Viva Evaluating  Module </vt:lpstr>
      <vt:lpstr>PowerPoint Presentation</vt:lpstr>
      <vt:lpstr>AI-Integrated Multi-Modal Viva Evaluating  Module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SENARATHNA A.M it22262554</cp:lastModifiedBy>
  <cp:revision>3</cp:revision>
  <dcterms:created xsi:type="dcterms:W3CDTF">2025-08-25T09:34:25Z</dcterms:created>
  <dcterms:modified xsi:type="dcterms:W3CDTF">2026-10-10T11:06:13Z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0x01010018476C4981FE2047819081DBF807662E</vt:lpwstr>
  </property>
</Properties>
</file>