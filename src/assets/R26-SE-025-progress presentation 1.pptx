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95" r:id="rId5"/>
    <p:sldId id="327" r:id="rId6"/>
    <p:sldId id="302" r:id="rId7"/>
    <p:sldId id="337" r:id="rId8"/>
    <p:sldId id="338" r:id="rId9"/>
    <p:sldId id="339" r:id="rId10"/>
    <p:sldId id="340" r:id="rId11"/>
    <p:sldId id="264" r:id="rId12"/>
    <p:sldId id="279" r:id="rId13"/>
    <p:sldId id="325" r:id="rId14"/>
    <p:sldId id="326" r:id="rId15"/>
    <p:sldId id="328" r:id="rId16"/>
    <p:sldId id="329" r:id="rId17"/>
    <p:sldId id="330" r:id="rId18"/>
    <p:sldId id="331" r:id="rId19"/>
    <p:sldId id="335" r:id="rId20"/>
    <p:sldId id="333" r:id="rId21"/>
    <p:sldId id="334" r:id="rId22"/>
    <p:sldId id="336" r:id="rId23"/>
    <p:sldId id="29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DFFE71-ABB0-4CE5-8A7B-75324CBA98D4}" v="38" dt="2026-05-11T09:20:15.841"/>
    <p1510:client id="{5AD13741-0AF2-4E37-ABE6-36E328DC8708}" v="585" dt="2026-05-11T07:09:05.986"/>
    <p1510:client id="{5E738250-003B-962E-147D-B00F76B9594B}" v="18" dt="2026-05-11T07:15:09.278"/>
    <p1510:client id="{6DE104D4-7A0D-EA6B-E50E-FE6CD6C5EFE6}" v="303" dt="2026-05-10T10:32:41.688"/>
    <p1510:client id="{E6F64FEC-318B-3CAA-B492-9490CC32729E}" v="419" dt="2026-05-10T18:16:30.2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5/12/2026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9F014-595B-83F1-44E7-60F561FD3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71A0980-74E1-9BB3-5F17-52E93898C0D7}"/>
              </a:ext>
            </a:extLst>
          </p:cNvPr>
          <p:cNvSpPr txBox="1">
            <a:spLocks/>
          </p:cNvSpPr>
          <p:nvPr/>
        </p:nvSpPr>
        <p:spPr>
          <a:xfrm>
            <a:off x="5029200" y="2571750"/>
            <a:ext cx="6734175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/>
              <a:t>AI-Integrated Multi-Modal Academic Evaluation, Performance Intelligence, and Automated Viva Assessment System</a:t>
            </a:r>
            <a:endParaRPr lang="en-US" sz="3200" b="1">
              <a:latin typeface="+mn-lt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2D5A9AC-835B-6C6C-5086-297B213B4CAF}"/>
              </a:ext>
            </a:extLst>
          </p:cNvPr>
          <p:cNvSpPr>
            <a:spLocks noGrp="1"/>
          </p:cNvSpPr>
          <p:nvPr/>
        </p:nvSpPr>
        <p:spPr>
          <a:xfrm>
            <a:off x="9115425" y="5731510"/>
            <a:ext cx="2343150" cy="5638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R26-SE-025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9CC9CD-E67C-A81E-CD69-C421C4209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00599" cy="64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67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>
            <a:extLst>
              <a:ext uri="{FF2B5EF4-FFF2-40B4-BE49-F238E27FC236}">
                <a16:creationId xmlns:a16="http://schemas.microsoft.com/office/drawing/2014/main" id="{A343AF5D-D92C-5098-2953-2B0837769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70134"/>
            <a:ext cx="11684000" cy="762000"/>
          </a:xfrm>
        </p:spPr>
        <p:txBody>
          <a:bodyPr>
            <a:noAutofit/>
          </a:bodyPr>
          <a:lstStyle/>
          <a:p>
            <a:r>
              <a:rPr lang="en-US" sz="2400" b="1"/>
              <a:t>AI-Integrated Multi-Modal Academic Evaluation, Performance Intelligence, and Automated Viva Assessment System</a:t>
            </a:r>
            <a:endParaRPr lang="en-US" sz="24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1CBC4A-13DB-145C-CEA9-04B3B17EE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632170"/>
              </p:ext>
            </p:extLst>
          </p:nvPr>
        </p:nvGraphicFramePr>
        <p:xfrm>
          <a:off x="2032000" y="3124200"/>
          <a:ext cx="8128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3473033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052636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What we have include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71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IT22262554 -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IT22134776 -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556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IT22557056 -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124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IT22239198 - Support Essey Type             Questions too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The AI modal is being trained to evaluate Essey type questions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9944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5803F3-703E-A9AC-09EC-1A7D750956D7}"/>
              </a:ext>
            </a:extLst>
          </p:cNvPr>
          <p:cNvSpPr txBox="1"/>
          <p:nvPr/>
        </p:nvSpPr>
        <p:spPr>
          <a:xfrm>
            <a:off x="914400" y="1556657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Panel Comments</a:t>
            </a:r>
          </a:p>
        </p:txBody>
      </p:sp>
    </p:spTree>
    <p:extLst>
      <p:ext uri="{BB962C8B-B14F-4D97-AF65-F5344CB8AC3E}">
        <p14:creationId xmlns:p14="http://schemas.microsoft.com/office/powerpoint/2010/main" val="3136535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D4BD6-03F7-50F6-52FE-BE0CF4EC2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7F67AAF-8C32-9523-347D-09798567C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70134"/>
            <a:ext cx="11684000" cy="762000"/>
          </a:xfrm>
        </p:spPr>
        <p:txBody>
          <a:bodyPr>
            <a:noAutofit/>
          </a:bodyPr>
          <a:lstStyle/>
          <a:p>
            <a:r>
              <a:rPr lang="en-US" sz="2400" b="1"/>
              <a:t>AI-Integrated Multi-Modal Academic Evaluation, Performance Intelligence, and Automated Viva Assessment System</a:t>
            </a:r>
            <a:endParaRPr 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384653-69A0-21D8-B9ED-055B61246943}"/>
              </a:ext>
            </a:extLst>
          </p:cNvPr>
          <p:cNvSpPr txBox="1"/>
          <p:nvPr/>
        </p:nvSpPr>
        <p:spPr>
          <a:xfrm>
            <a:off x="254000" y="828006"/>
            <a:ext cx="10978070" cy="2524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Problem</a:t>
            </a:r>
            <a:endParaRPr lang="en-US">
              <a:solidFill>
                <a:srgbClr val="FF0000"/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/>
              <a:t>Time-consuming, inconsistent, and difficult to scale.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3200"/>
              <a:t>Examiner fatigue, stress, and bias affect grading fairness.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/>
              <a:t>Delayed feedback.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E38BD9-A32D-C993-83E6-60515B51FE9F}"/>
              </a:ext>
            </a:extLst>
          </p:cNvPr>
          <p:cNvSpPr txBox="1"/>
          <p:nvPr/>
        </p:nvSpPr>
        <p:spPr>
          <a:xfrm>
            <a:off x="254000" y="3733800"/>
            <a:ext cx="7501413" cy="2524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accent1">
                    <a:lumMod val="75000"/>
                  </a:schemeClr>
                </a:solidFill>
              </a:rPr>
              <a:t>Affected Groups</a:t>
            </a: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/>
              <a:t>Lecturers / Examiners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3200"/>
              <a:t>Universities &amp; Educational Institutes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/>
              <a:t>Students</a:t>
            </a:r>
          </a:p>
        </p:txBody>
      </p:sp>
    </p:spTree>
    <p:extLst>
      <p:ext uri="{BB962C8B-B14F-4D97-AF65-F5344CB8AC3E}">
        <p14:creationId xmlns:p14="http://schemas.microsoft.com/office/powerpoint/2010/main" val="200334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F9C066FA-FFD7-7CC4-77BC-9721D7C81297}"/>
              </a:ext>
            </a:extLst>
          </p:cNvPr>
          <p:cNvSpPr txBox="1"/>
          <p:nvPr/>
        </p:nvSpPr>
        <p:spPr>
          <a:xfrm>
            <a:off x="887361" y="3524647"/>
            <a:ext cx="8121649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solidFill>
                  <a:schemeClr val="accent1">
                    <a:lumMod val="75000"/>
                  </a:schemeClr>
                </a:solidFill>
              </a:rPr>
              <a:t>AI-Driven Handwriting Parsing and evaluation Module​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86C1F4-1297-7BA8-53DA-221CEECA28F1}"/>
              </a:ext>
            </a:extLst>
          </p:cNvPr>
          <p:cNvSpPr txBox="1"/>
          <p:nvPr/>
        </p:nvSpPr>
        <p:spPr>
          <a:xfrm>
            <a:off x="963084" y="5715000"/>
            <a:ext cx="3989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Software Engineering</a:t>
            </a: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14A4A36-D7B0-908D-FE9C-C9BDBA1B0922}"/>
              </a:ext>
            </a:extLst>
          </p:cNvPr>
          <p:cNvSpPr>
            <a:spLocks noGrp="1"/>
          </p:cNvSpPr>
          <p:nvPr/>
        </p:nvSpPr>
        <p:spPr>
          <a:xfrm>
            <a:off x="889743" y="2676606"/>
            <a:ext cx="10363200" cy="7554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>
                <a:latin typeface="Adobe Devanagari"/>
              </a:rPr>
              <a:t>IT22239198 | H.I.B </a:t>
            </a:r>
            <a:r>
              <a:rPr lang="en-US" err="1">
                <a:latin typeface="Adobe Devanagari"/>
              </a:rPr>
              <a:t>Wickramarathne</a:t>
            </a:r>
          </a:p>
        </p:txBody>
      </p:sp>
      <p:pic>
        <p:nvPicPr>
          <p:cNvPr id="13" name="Picture 12" descr="A person in a suit&#10;&#10;AI-generated content may be incorrect.">
            <a:extLst>
              <a:ext uri="{FF2B5EF4-FFF2-40B4-BE49-F238E27FC236}">
                <a16:creationId xmlns:a16="http://schemas.microsoft.com/office/drawing/2014/main" id="{75C973B5-8F86-73CD-D36C-3BCC27058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007" y="267469"/>
            <a:ext cx="1499727" cy="197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84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61C06E4D-FE1F-CAA9-5C10-9A1EF0042C4D}"/>
              </a:ext>
            </a:extLst>
          </p:cNvPr>
          <p:cNvSpPr txBox="1"/>
          <p:nvPr/>
        </p:nvSpPr>
        <p:spPr>
          <a:xfrm>
            <a:off x="1447450" y="241684"/>
            <a:ext cx="9186333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>
                <a:solidFill>
                  <a:schemeClr val="accent1">
                    <a:lumMod val="75000"/>
                  </a:schemeClr>
                </a:solidFill>
              </a:rPr>
              <a:t>AI-Driven Handwriting Parsing and Evaluation Module </a:t>
            </a:r>
            <a:endParaRPr lang="en-US" sz="3000">
              <a:solidFill>
                <a:schemeClr val="accent1">
                  <a:lumMod val="75000"/>
                </a:schemeClr>
              </a:solidFill>
              <a:ea typeface="Cambria"/>
            </a:endParaRPr>
          </a:p>
          <a:p>
            <a:endParaRPr lang="en-US" sz="2800">
              <a:solidFill>
                <a:schemeClr val="accent1">
                  <a:lumMod val="75000"/>
                </a:schemeClr>
              </a:solidFill>
              <a:ea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ACA86-C9CB-E11F-F6F7-68EEA7673E10}"/>
              </a:ext>
            </a:extLst>
          </p:cNvPr>
          <p:cNvSpPr txBox="1"/>
          <p:nvPr/>
        </p:nvSpPr>
        <p:spPr>
          <a:xfrm>
            <a:off x="347242" y="1523999"/>
            <a:ext cx="6528120" cy="44436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r>
              <a:rPr lang="en-US" sz="2600">
                <a:solidFill>
                  <a:srgbClr val="FF0000"/>
                </a:solidFill>
              </a:rPr>
              <a:t>Solution</a:t>
            </a: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>
                <a:ea typeface="+mn-lt"/>
                <a:cs typeface="+mn-lt"/>
              </a:rPr>
              <a:t>Handwritten Answer Parsing</a:t>
            </a:r>
            <a:endParaRPr lang="en-US">
              <a:ea typeface="Cambria"/>
            </a:endParaRP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>
                <a:ea typeface="+mn-lt"/>
                <a:cs typeface="+mn-lt"/>
              </a:rPr>
              <a:t>Unified AI Evaluation Engine</a:t>
            </a: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>
                <a:ea typeface="+mn-lt"/>
                <a:cs typeface="+mn-lt"/>
              </a:rPr>
              <a:t>Explainable AI (XAI) Feedback</a:t>
            </a: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GB">
                <a:ea typeface="+mn-lt"/>
                <a:cs typeface="+mn-lt"/>
              </a:rPr>
              <a:t>Misconception Detection</a:t>
            </a:r>
            <a:endParaRPr lang="en-US"/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GB">
                <a:ea typeface="+mn-lt"/>
                <a:cs typeface="+mn-lt"/>
              </a:rPr>
              <a:t>Human-in-the-Loop</a:t>
            </a:r>
            <a:endParaRPr lang="en-GB">
              <a:ea typeface="Cambria"/>
            </a:endParaRP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>
              <a:ea typeface="Cambria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A2757C-A1F0-E14E-D0BF-7CE60649F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776" y="2071618"/>
            <a:ext cx="7436068" cy="375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13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940AFB-07CD-A6FF-D019-EFBBF54A3BFC}"/>
              </a:ext>
            </a:extLst>
          </p:cNvPr>
          <p:cNvSpPr txBox="1"/>
          <p:nvPr/>
        </p:nvSpPr>
        <p:spPr>
          <a:xfrm>
            <a:off x="5506172" y="692381"/>
            <a:ext cx="6353489" cy="57270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sz="2600">
                <a:solidFill>
                  <a:srgbClr val="FF0000"/>
                </a:solidFill>
              </a:rPr>
              <a:t>User Requirements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C9B74"/>
              </a:buClr>
              <a:buFont typeface="Wingdings" panose="05000000000000000000" pitchFamily="2" charset="2"/>
              <a:buChar char="ü"/>
            </a:pPr>
            <a:r>
              <a:rPr lang="en-US" sz="2000">
                <a:ea typeface="+mn-lt"/>
                <a:cs typeface="+mn-lt"/>
              </a:rPr>
              <a:t>Neural OCR Handwriting Recognition</a:t>
            </a:r>
            <a:endParaRPr lang="en-US" sz="2000">
              <a:ea typeface="Cambria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C9B74"/>
              </a:buClr>
              <a:buFont typeface="Wingdings" panose="05000000000000000000" pitchFamily="2" charset="2"/>
              <a:buChar char="ü"/>
            </a:pPr>
            <a:r>
              <a:rPr lang="en-US" sz="2000">
                <a:ea typeface="+mn-lt"/>
                <a:cs typeface="+mn-lt"/>
              </a:rPr>
              <a:t>Semantic Rubric Alignment</a:t>
            </a:r>
            <a:endParaRPr lang="en-US" sz="2000">
              <a:ea typeface="Cambria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C9B74"/>
              </a:buClr>
              <a:buFont typeface="Wingdings" panose="05000000000000000000" pitchFamily="2" charset="2"/>
              <a:buChar char="ü"/>
            </a:pPr>
            <a:r>
              <a:rPr lang="en-US" sz="2000">
                <a:ea typeface="+mn-lt"/>
                <a:cs typeface="+mn-lt"/>
              </a:rPr>
              <a:t>Automated Scoring &amp; Justification</a:t>
            </a:r>
            <a:endParaRPr lang="en-US"/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C9B74"/>
              </a:buClr>
              <a:buFont typeface="Wingdings" panose="05000000000000000000" pitchFamily="2" charset="2"/>
              <a:buChar char="ü"/>
            </a:pPr>
            <a:r>
              <a:rPr lang="en-US" sz="2000">
                <a:ea typeface="+mn-lt"/>
                <a:cs typeface="+mn-lt"/>
              </a:rPr>
              <a:t>Bias-Free Evaluation Logic</a:t>
            </a:r>
            <a:endParaRPr lang="en-US"/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C9B74"/>
              </a:buClr>
              <a:buFont typeface="Wingdings" panose="05000000000000000000" pitchFamily="2" charset="2"/>
              <a:buChar char="ü"/>
            </a:pPr>
            <a:r>
              <a:rPr lang="en-US" sz="2000">
                <a:ea typeface="+mn-lt"/>
                <a:cs typeface="+mn-lt"/>
              </a:rPr>
              <a:t>Dynamic Mark Scaling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C9B74"/>
              </a:buClr>
              <a:buFont typeface="Wingdings" panose="05000000000000000000" pitchFamily="2" charset="2"/>
              <a:buChar char="ü"/>
            </a:pPr>
            <a:r>
              <a:rPr lang="en-US" sz="2000">
                <a:ea typeface="+mn-lt"/>
                <a:cs typeface="+mn-lt"/>
              </a:rPr>
              <a:t>Forensic Misconception Auditing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C9B74"/>
              </a:buClr>
              <a:buFont typeface="Wingdings" panose="05000000000000000000" pitchFamily="2" charset="2"/>
              <a:buChar char="ü"/>
            </a:pPr>
            <a:r>
              <a:rPr lang="en-US" sz="2000">
                <a:ea typeface="+mn-lt"/>
                <a:cs typeface="+mn-lt"/>
              </a:rPr>
              <a:t>Structured JSON Data Export</a:t>
            </a:r>
          </a:p>
        </p:txBody>
      </p:sp>
      <p:pic>
        <p:nvPicPr>
          <p:cNvPr id="9" name="Picture 8" descr="A diagram of a process&#10;&#10;AI-generated content may be incorrect.">
            <a:extLst>
              <a:ext uri="{FF2B5EF4-FFF2-40B4-BE49-F238E27FC236}">
                <a16:creationId xmlns:a16="http://schemas.microsoft.com/office/drawing/2014/main" id="{1629DD9D-07BE-9727-7721-C30A5AAFB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5" y="384848"/>
            <a:ext cx="4127732" cy="556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27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908336-C574-BB0E-27B6-1B94F499B04B}"/>
              </a:ext>
            </a:extLst>
          </p:cNvPr>
          <p:cNvSpPr txBox="1"/>
          <p:nvPr/>
        </p:nvSpPr>
        <p:spPr>
          <a:xfrm>
            <a:off x="370419" y="1363723"/>
            <a:ext cx="6474882" cy="35765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600">
                <a:solidFill>
                  <a:srgbClr val="FF0000"/>
                </a:solidFill>
              </a:rPr>
              <a:t>Design Excellence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>
                <a:ea typeface="+mn-lt"/>
                <a:cs typeface="+mn-lt"/>
              </a:rPr>
              <a:t>Forensic Semantic Alignment</a:t>
            </a:r>
            <a:endParaRPr lang="en-US">
              <a:ea typeface="Cambri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>
                <a:ea typeface="+mn-lt"/>
                <a:cs typeface="+mn-lt"/>
              </a:rPr>
              <a:t>Cognitive Guardrails &amp; Bias Mitigation</a:t>
            </a:r>
            <a:endParaRPr lang="en-US">
              <a:ea typeface="Cambri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>
                <a:ea typeface="+mn-lt"/>
                <a:cs typeface="+mn-lt"/>
              </a:rPr>
              <a:t>Error Tolerant OCR Pipeline</a:t>
            </a:r>
            <a:endParaRPr lang="en-US">
              <a:ea typeface="Cambri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>
                <a:ea typeface="+mn-lt"/>
                <a:cs typeface="+mn-lt"/>
              </a:rPr>
              <a:t>Explainable AI (XAI)</a:t>
            </a:r>
            <a:endParaRPr lang="en-US">
              <a:ea typeface="Cambri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>
                <a:ea typeface="+mn-lt"/>
                <a:cs typeface="+mn-lt"/>
              </a:rPr>
              <a:t>Deterministic Data Architecture</a:t>
            </a:r>
            <a:endParaRPr lang="en-US">
              <a:ea typeface="Cambria"/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DC957CE4-02A4-9CA8-1356-C27C5FB43609}"/>
              </a:ext>
            </a:extLst>
          </p:cNvPr>
          <p:cNvSpPr txBox="1"/>
          <p:nvPr/>
        </p:nvSpPr>
        <p:spPr>
          <a:xfrm>
            <a:off x="1447450" y="241684"/>
            <a:ext cx="9186333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>
                <a:solidFill>
                  <a:schemeClr val="accent1">
                    <a:lumMod val="75000"/>
                  </a:schemeClr>
                </a:solidFill>
              </a:rPr>
              <a:t>AI-Driven Handwriting Parsing and Evaluation Module </a:t>
            </a:r>
            <a:endParaRPr lang="en-US" sz="3000">
              <a:solidFill>
                <a:schemeClr val="accent1">
                  <a:lumMod val="75000"/>
                </a:schemeClr>
              </a:solidFill>
              <a:ea typeface="Cambria"/>
            </a:endParaRPr>
          </a:p>
          <a:p>
            <a:endParaRPr lang="en-US" sz="2800">
              <a:solidFill>
                <a:schemeClr val="accent1">
                  <a:lumMod val="75000"/>
                </a:schemeClr>
              </a:solidFill>
              <a:ea typeface="Cambria"/>
            </a:endParaRPr>
          </a:p>
        </p:txBody>
      </p:sp>
      <p:pic>
        <p:nvPicPr>
          <p:cNvPr id="13" name="Picture 12" descr="A diagram of a process&#10;&#10;AI-generated content may be incorrect.">
            <a:extLst>
              <a:ext uri="{FF2B5EF4-FFF2-40B4-BE49-F238E27FC236}">
                <a16:creationId xmlns:a16="http://schemas.microsoft.com/office/drawing/2014/main" id="{1CE66ECE-E2CC-856A-52AA-7B780060E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404" y="1044466"/>
            <a:ext cx="3898813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02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32F61A-D86A-D269-5C7E-19099CC57A71}"/>
              </a:ext>
            </a:extLst>
          </p:cNvPr>
          <p:cNvSpPr/>
          <p:nvPr/>
        </p:nvSpPr>
        <p:spPr>
          <a:xfrm>
            <a:off x="9982200" y="76200"/>
            <a:ext cx="2209800" cy="2380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IT22262554</a:t>
            </a:r>
            <a:r>
              <a:rPr lang="en-US" sz="1800">
                <a:solidFill>
                  <a:schemeClr val="tx1"/>
                </a:solidFill>
              </a:rPr>
              <a:t>   |   Senarathna A.M|   </a:t>
            </a:r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33456B-CE51-164F-19CB-6B30EC01C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76200"/>
            <a:ext cx="1981200" cy="2304774"/>
          </a:xfrm>
          <a:prstGeom prst="rect">
            <a:avLst/>
          </a:prstGeom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/>
        </p:nvSpPr>
        <p:spPr>
          <a:xfrm>
            <a:off x="838200" y="1701748"/>
            <a:ext cx="7799916" cy="7554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>
                <a:latin typeface="+mn-lt"/>
              </a:rPr>
              <a:t>IT22262554 | Senarathna A.M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2D6169ED-18C1-3CB1-4EF6-E24598B8D7CA}"/>
              </a:ext>
            </a:extLst>
          </p:cNvPr>
          <p:cNvSpPr txBox="1"/>
          <p:nvPr/>
        </p:nvSpPr>
        <p:spPr>
          <a:xfrm>
            <a:off x="838200" y="2762647"/>
            <a:ext cx="81216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solidFill>
                  <a:srgbClr val="0070C0"/>
                </a:solidFill>
              </a:rPr>
              <a:t>Handwritten ER Diagram Extraction and Evaluating  Module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C9EC80-045F-DF35-B728-4EFDE43ADBC3}"/>
              </a:ext>
            </a:extLst>
          </p:cNvPr>
          <p:cNvSpPr txBox="1"/>
          <p:nvPr/>
        </p:nvSpPr>
        <p:spPr>
          <a:xfrm>
            <a:off x="963084" y="5715000"/>
            <a:ext cx="3989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3EA8D9BC-748E-A4B5-7B72-D585AF15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228600"/>
            <a:ext cx="11684000" cy="427036"/>
          </a:xfrm>
        </p:spPr>
        <p:txBody>
          <a:bodyPr>
            <a:normAutofit fontScale="90000"/>
          </a:bodyPr>
          <a:lstStyle/>
          <a:p>
            <a:r>
              <a:rPr lang="en-US" sz="2800">
                <a:solidFill>
                  <a:srgbClr val="0070C0"/>
                </a:solidFill>
              </a:rPr>
              <a:t>Handwritten ER Diagram Extraction and Evaluating  Module </a:t>
            </a:r>
            <a:endParaRPr lang="en-US" sz="2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A11249-6958-426D-39A7-E7277D4AC0B0}"/>
              </a:ext>
            </a:extLst>
          </p:cNvPr>
          <p:cNvSpPr txBox="1"/>
          <p:nvPr/>
        </p:nvSpPr>
        <p:spPr>
          <a:xfrm>
            <a:off x="381000" y="1166016"/>
            <a:ext cx="538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sz="2600">
                <a:solidFill>
                  <a:srgbClr val="FF0000"/>
                </a:solidFill>
              </a:rPr>
              <a:t>Solution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/>
              <a:t>Uses a custom-trained YOLO-based object detection model to identify ER diagram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/>
              <a:t>Integrates OCR models to recognize handwritten and printed text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/>
              <a:t>Detects connecting lines between Objects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/>
              <a:t>Reduces manual effort required by lecturers to mark ER diagrams.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/>
              <a:t>Improves consistency and fairness in grading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/>
              <a:t>Designed as a modular prototype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D5606A-2CA0-4F99-E3DF-62E275E06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0" y="1118107"/>
            <a:ext cx="6089270" cy="5054093"/>
          </a:xfrm>
          <a:prstGeom prst="rect">
            <a:avLst/>
          </a:prstGeom>
          <a:noFill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2A28273-6D78-DB9E-B4D0-72DA75DE08E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IT22262554</a:t>
            </a:r>
            <a:r>
              <a:rPr lang="en-US" sz="1800">
                <a:solidFill>
                  <a:schemeClr val="tx1"/>
                </a:solidFill>
              </a:rPr>
              <a:t>   |   Senarathna A.M|   </a:t>
            </a:r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</p:spTree>
    <p:extLst>
      <p:ext uri="{BB962C8B-B14F-4D97-AF65-F5344CB8AC3E}">
        <p14:creationId xmlns:p14="http://schemas.microsoft.com/office/powerpoint/2010/main" val="4163232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4E9B357-B1CD-5E0A-4BB8-4F1BFBCD2181}"/>
              </a:ext>
            </a:extLst>
          </p:cNvPr>
          <p:cNvSpPr/>
          <p:nvPr/>
        </p:nvSpPr>
        <p:spPr>
          <a:xfrm>
            <a:off x="381000" y="647169"/>
            <a:ext cx="6108620" cy="5759452"/>
          </a:xfrm>
          <a:prstGeom prst="rect">
            <a:avLst/>
          </a:prstGeom>
          <a:solidFill>
            <a:srgbClr val="E7F3FD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3DBBAC-E6E1-CB52-E427-6E3595D29BE9}"/>
              </a:ext>
            </a:extLst>
          </p:cNvPr>
          <p:cNvSpPr txBox="1"/>
          <p:nvPr/>
        </p:nvSpPr>
        <p:spPr>
          <a:xfrm>
            <a:off x="6337039" y="1166017"/>
            <a:ext cx="5397761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sz="2600">
                <a:solidFill>
                  <a:srgbClr val="FF0000"/>
                </a:solidFill>
              </a:rPr>
              <a:t>User Requirements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000"/>
              <a:t>evaluate handwritten ER diagrams automatically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000"/>
              <a:t>Recognition of diagram symbols and relationships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000"/>
              <a:t>Faster generation of marks and feedback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000"/>
              <a:t>Capability to process scanned images or uploaded diagram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000"/>
              <a:t>Accurate identification of connections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CCF36D2-2845-86BD-3A7B-2A2FC3A98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228600"/>
            <a:ext cx="11684000" cy="427036"/>
          </a:xfrm>
        </p:spPr>
        <p:txBody>
          <a:bodyPr>
            <a:normAutofit fontScale="90000"/>
          </a:bodyPr>
          <a:lstStyle/>
          <a:p>
            <a:r>
              <a:rPr lang="en-US" sz="2800">
                <a:solidFill>
                  <a:srgbClr val="0070C0"/>
                </a:solidFill>
              </a:rPr>
              <a:t>Handwritten ER Diagram Extraction and Evaluating  Module </a:t>
            </a:r>
            <a:endParaRPr lang="en-US" sz="28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AD0214-DF40-7354-BC53-77718E4476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00"/>
          <a:stretch>
            <a:fillRect/>
          </a:stretch>
        </p:blipFill>
        <p:spPr>
          <a:xfrm>
            <a:off x="1219200" y="960120"/>
            <a:ext cx="4114800" cy="493776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393AE8E-3050-C9DD-1216-4889D53167D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IT22262554</a:t>
            </a:r>
            <a:r>
              <a:rPr lang="en-US" sz="1800">
                <a:solidFill>
                  <a:schemeClr val="tx1"/>
                </a:solidFill>
              </a:rPr>
              <a:t>   |   Senarathna A.M|   </a:t>
            </a:r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</p:spTree>
    <p:extLst>
      <p:ext uri="{BB962C8B-B14F-4D97-AF65-F5344CB8AC3E}">
        <p14:creationId xmlns:p14="http://schemas.microsoft.com/office/powerpoint/2010/main" val="2797616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C31512-BCEB-72EC-D6AB-FCD35BC12E3C}"/>
              </a:ext>
            </a:extLst>
          </p:cNvPr>
          <p:cNvSpPr txBox="1"/>
          <p:nvPr/>
        </p:nvSpPr>
        <p:spPr>
          <a:xfrm>
            <a:off x="687918" y="1086520"/>
            <a:ext cx="6096000" cy="4684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600">
                <a:solidFill>
                  <a:srgbClr val="FF0000"/>
                </a:solidFill>
              </a:rPr>
              <a:t>Design Excellence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/>
              <a:t>Combines computer vision, OCR, and structural relationship analysis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/>
              <a:t>Introduces automated semantic understanding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/>
              <a:t>Uses deep learning object detection for higher adaptability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/>
              <a:t>Supports both visual recognition and logical validation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/>
              <a:t>practical applicability in real educational environments.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54EE48-CD27-9917-4D2E-5FC3D58C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228600"/>
            <a:ext cx="11684000" cy="427036"/>
          </a:xfrm>
        </p:spPr>
        <p:txBody>
          <a:bodyPr>
            <a:normAutofit fontScale="90000"/>
          </a:bodyPr>
          <a:lstStyle/>
          <a:p>
            <a:r>
              <a:rPr lang="en-US" sz="2800">
                <a:solidFill>
                  <a:srgbClr val="0070C0"/>
                </a:solidFill>
              </a:rPr>
              <a:t>Handwritten ER Diagram Extraction and Evaluating  Module </a:t>
            </a:r>
            <a:endParaRPr lang="en-US" sz="2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3D38D9-E258-5A25-0E68-E8533C2BB7CF}"/>
              </a:ext>
            </a:extLst>
          </p:cNvPr>
          <p:cNvSpPr/>
          <p:nvPr/>
        </p:nvSpPr>
        <p:spPr>
          <a:xfrm>
            <a:off x="6223001" y="723900"/>
            <a:ext cx="5698066" cy="5410200"/>
          </a:xfrm>
          <a:prstGeom prst="rect">
            <a:avLst/>
          </a:prstGeom>
          <a:solidFill>
            <a:srgbClr val="FEF4E6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8D1630-DEE8-B1DF-6170-AB2EE43F47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834" y="1086724"/>
            <a:ext cx="3454400" cy="5181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3D31B30-FD14-E34B-B173-D9F56883E1C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IT22262554</a:t>
            </a:r>
            <a:r>
              <a:rPr lang="en-US" sz="1800">
                <a:solidFill>
                  <a:schemeClr val="tx1"/>
                </a:solidFill>
              </a:rPr>
              <a:t>   |   Senarathna A.M|   </a:t>
            </a:r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</p:spTree>
    <p:extLst>
      <p:ext uri="{BB962C8B-B14F-4D97-AF65-F5344CB8AC3E}">
        <p14:creationId xmlns:p14="http://schemas.microsoft.com/office/powerpoint/2010/main" val="1806562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45F71-43CF-B38D-58CF-F55D78E4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>
            <a:extLst>
              <a:ext uri="{FF2B5EF4-FFF2-40B4-BE49-F238E27FC236}">
                <a16:creationId xmlns:a16="http://schemas.microsoft.com/office/drawing/2014/main" id="{1B987B6A-F351-3799-F7A9-AF271E33BE6D}"/>
              </a:ext>
            </a:extLst>
          </p:cNvPr>
          <p:cNvSpPr txBox="1"/>
          <p:nvPr/>
        </p:nvSpPr>
        <p:spPr>
          <a:xfrm>
            <a:off x="838200" y="2762647"/>
            <a:ext cx="81216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solidFill>
                  <a:schemeClr val="accent1">
                    <a:lumMod val="75000"/>
                  </a:schemeClr>
                </a:solidFill>
              </a:rPr>
              <a:t>AI-Driven Exam Question Analytics and Prediction Module​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FC0401-DBBC-EA24-CB00-ED56EEBECA06}"/>
              </a:ext>
            </a:extLst>
          </p:cNvPr>
          <p:cNvSpPr txBox="1"/>
          <p:nvPr/>
        </p:nvSpPr>
        <p:spPr>
          <a:xfrm>
            <a:off x="963084" y="5715000"/>
            <a:ext cx="3989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Software Engineering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FABEA4-B206-FFFE-1425-F6F16DF1C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400" y="116549"/>
            <a:ext cx="2506133" cy="235957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/>
        </p:nvSpPr>
        <p:spPr>
          <a:xfrm>
            <a:off x="859017" y="1570477"/>
            <a:ext cx="10363200" cy="7554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/>
              <a:t>IT22134776 | L.S.B </a:t>
            </a:r>
            <a:r>
              <a:rPr lang="en-US" err="1"/>
              <a:t>Hemarathne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590800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IT22134776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L.S.B Hemarathne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RE26-SE-025</a:t>
            </a:r>
          </a:p>
        </p:txBody>
      </p:sp>
    </p:spTree>
    <p:extLst>
      <p:ext uri="{BB962C8B-B14F-4D97-AF65-F5344CB8AC3E}">
        <p14:creationId xmlns:p14="http://schemas.microsoft.com/office/powerpoint/2010/main" val="2833564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8D640-FCE9-8FF2-F3DB-1B43D65E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7CB0737-786A-B158-AD31-03C17A179EA8}"/>
              </a:ext>
            </a:extLst>
          </p:cNvPr>
          <p:cNvSpPr txBox="1"/>
          <p:nvPr/>
        </p:nvSpPr>
        <p:spPr>
          <a:xfrm>
            <a:off x="347242" y="1523999"/>
            <a:ext cx="6528120" cy="4443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r>
              <a:rPr lang="en-US" sz="2600">
                <a:solidFill>
                  <a:srgbClr val="FF0000"/>
                </a:solidFill>
              </a:rPr>
              <a:t>Solution</a:t>
            </a: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/>
              <a:t>Analyzes </a:t>
            </a:r>
            <a:r>
              <a:rPr lang="en-US" b="1"/>
              <a:t>historical exam papers</a:t>
            </a:r>
            <a:r>
              <a:rPr lang="en-US"/>
              <a:t> to identify important topics and question patterns</a:t>
            </a: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/>
              <a:t>Identifies </a:t>
            </a:r>
            <a:r>
              <a:rPr lang="en-US" b="1"/>
              <a:t>weak concepts and learning gaps</a:t>
            </a:r>
            <a:r>
              <a:rPr lang="en-US"/>
              <a:t> automatically</a:t>
            </a: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/>
              <a:t>Provides </a:t>
            </a:r>
            <a:r>
              <a:rPr lang="en-US" b="1"/>
              <a:t>predictive insights</a:t>
            </a:r>
            <a:r>
              <a:rPr lang="en-US"/>
              <a:t> for future exam preparation</a:t>
            </a: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GB"/>
              <a:t>Detects </a:t>
            </a:r>
            <a:r>
              <a:rPr lang="en-GB" b="1"/>
              <a:t>frequently misunderstood questions</a:t>
            </a:r>
            <a:r>
              <a:rPr lang="en-GB"/>
              <a:t> </a:t>
            </a:r>
            <a:endParaRPr lang="en-US"/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DB470E26-5A1D-71E8-520A-F4F65F9AAC21}"/>
              </a:ext>
            </a:extLst>
          </p:cNvPr>
          <p:cNvSpPr txBox="1"/>
          <p:nvPr/>
        </p:nvSpPr>
        <p:spPr>
          <a:xfrm>
            <a:off x="1447450" y="241684"/>
            <a:ext cx="9186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chemeClr val="accent1">
                    <a:lumMod val="75000"/>
                  </a:schemeClr>
                </a:solidFill>
              </a:rPr>
              <a:t>AI-Driven Exam Question Analytics and Prediction Module​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EC463E-C1C9-CB3F-8897-161228FD981C}"/>
              </a:ext>
            </a:extLst>
          </p:cNvPr>
          <p:cNvSpPr/>
          <p:nvPr/>
        </p:nvSpPr>
        <p:spPr>
          <a:xfrm>
            <a:off x="2590800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IT22134776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L.S.B Hemarathne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RE26-SE-025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354F0C-A626-C729-EE64-53D5EB687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684"/>
          <a:stretch>
            <a:fillRect/>
          </a:stretch>
        </p:blipFill>
        <p:spPr>
          <a:xfrm>
            <a:off x="6795865" y="1400094"/>
            <a:ext cx="5048893" cy="469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29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252A-4C4E-53DD-3F37-5871EA5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F0FC880-4761-A7AD-EFF7-CD634934349A}"/>
              </a:ext>
            </a:extLst>
          </p:cNvPr>
          <p:cNvSpPr/>
          <p:nvPr/>
        </p:nvSpPr>
        <p:spPr>
          <a:xfrm>
            <a:off x="381000" y="647169"/>
            <a:ext cx="6108620" cy="5759452"/>
          </a:xfrm>
          <a:prstGeom prst="rect">
            <a:avLst/>
          </a:prstGeom>
          <a:solidFill>
            <a:srgbClr val="E7F3FD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EA5C8B-315F-3DF7-EFB7-D2E404F3C688}"/>
              </a:ext>
            </a:extLst>
          </p:cNvPr>
          <p:cNvSpPr txBox="1"/>
          <p:nvPr/>
        </p:nvSpPr>
        <p:spPr>
          <a:xfrm>
            <a:off x="6413239" y="1263913"/>
            <a:ext cx="5397761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sz="2600">
                <a:solidFill>
                  <a:srgbClr val="FF0000"/>
                </a:solidFill>
              </a:rPr>
              <a:t>User Requirements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000"/>
              <a:t>Analyze historical student performance data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000"/>
              <a:t>Generate diagnostic reports identifying weak topics and cognitive skill gaps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000"/>
              <a:t>Predict future exam questions based on pattern analysis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GB" sz="2000"/>
              <a:t>Visualize student performance analytics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000"/>
              <a:t>Generate reports and insights for lecturers and students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ECC290BE-8872-4E75-4CCB-33B9F13AE35F}"/>
              </a:ext>
            </a:extLst>
          </p:cNvPr>
          <p:cNvSpPr txBox="1"/>
          <p:nvPr/>
        </p:nvSpPr>
        <p:spPr>
          <a:xfrm>
            <a:off x="1447450" y="241684"/>
            <a:ext cx="9186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chemeClr val="accent1">
                    <a:lumMod val="75000"/>
                  </a:schemeClr>
                </a:solidFill>
              </a:rPr>
              <a:t>AI-Driven Exam Question Analytics and Prediction Module​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C5ACE5-0521-3271-C192-912D4F2E4B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801" y="731037"/>
            <a:ext cx="3895017" cy="58425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F90467-ADE2-0E0A-FEA1-ED63366FD942}"/>
              </a:ext>
            </a:extLst>
          </p:cNvPr>
          <p:cNvSpPr/>
          <p:nvPr/>
        </p:nvSpPr>
        <p:spPr>
          <a:xfrm>
            <a:off x="2590800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IT22134776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L.S.B Hemarathne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RE26-SE-025</a:t>
            </a:r>
          </a:p>
        </p:txBody>
      </p:sp>
    </p:spTree>
    <p:extLst>
      <p:ext uri="{BB962C8B-B14F-4D97-AF65-F5344CB8AC3E}">
        <p14:creationId xmlns:p14="http://schemas.microsoft.com/office/powerpoint/2010/main" val="2659730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2773-E83B-DDA6-ACBB-78B5D2961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7BAA0A-D0EE-1663-6E5E-84D54CF48E2F}"/>
              </a:ext>
            </a:extLst>
          </p:cNvPr>
          <p:cNvSpPr txBox="1"/>
          <p:nvPr/>
        </p:nvSpPr>
        <p:spPr>
          <a:xfrm>
            <a:off x="370419" y="1363723"/>
            <a:ext cx="6474882" cy="4684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600">
                <a:solidFill>
                  <a:srgbClr val="FF0000"/>
                </a:solidFill>
              </a:rPr>
              <a:t>Design Excellence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/>
              <a:t>Separates content knowledge from cognitive skill application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/>
              <a:t>Combines</a:t>
            </a:r>
            <a:r>
              <a:rPr lang="en-US" b="1"/>
              <a:t> Machine learning, and learning analytics</a:t>
            </a:r>
            <a:r>
              <a:rPr lang="en-US"/>
              <a:t> in one platform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/>
              <a:t>Provides </a:t>
            </a:r>
            <a:r>
              <a:rPr lang="en-US" b="1"/>
              <a:t>question-level analytics</a:t>
            </a:r>
            <a:r>
              <a:rPr lang="en-US"/>
              <a:t> instead of only final grade analysis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/>
              <a:t>Supports </a:t>
            </a:r>
            <a:r>
              <a:rPr lang="en-US" b="1"/>
              <a:t>data-driven educational decision making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/>
              <a:t>Adaptive Question Generation Engine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F8D767-CEEA-6D58-4E6C-2EA18512B82D}"/>
              </a:ext>
            </a:extLst>
          </p:cNvPr>
          <p:cNvSpPr/>
          <p:nvPr/>
        </p:nvSpPr>
        <p:spPr>
          <a:xfrm>
            <a:off x="6493934" y="945560"/>
            <a:ext cx="5698066" cy="5410200"/>
          </a:xfrm>
          <a:prstGeom prst="rect">
            <a:avLst/>
          </a:prstGeom>
          <a:solidFill>
            <a:srgbClr val="FEF4E6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B32938-451E-0A4E-6E60-91922AC0D3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1113175"/>
            <a:ext cx="3345392" cy="5018087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68A6E02B-770F-ADF2-5664-3372458FF071}"/>
              </a:ext>
            </a:extLst>
          </p:cNvPr>
          <p:cNvSpPr txBox="1"/>
          <p:nvPr/>
        </p:nvSpPr>
        <p:spPr>
          <a:xfrm>
            <a:off x="1447450" y="241684"/>
            <a:ext cx="9186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chemeClr val="accent1">
                    <a:lumMod val="75000"/>
                  </a:schemeClr>
                </a:solidFill>
              </a:rPr>
              <a:t>AI-Driven Exam Question Analytics and Prediction Module​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A7043F-5861-BD18-A9F6-254D7045838B}"/>
              </a:ext>
            </a:extLst>
          </p:cNvPr>
          <p:cNvSpPr/>
          <p:nvPr/>
        </p:nvSpPr>
        <p:spPr>
          <a:xfrm>
            <a:off x="2590800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IT22134776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L.S.B Hemarathne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RE26-SE-025</a:t>
            </a:r>
          </a:p>
        </p:txBody>
      </p:sp>
    </p:spTree>
    <p:extLst>
      <p:ext uri="{BB962C8B-B14F-4D97-AF65-F5344CB8AC3E}">
        <p14:creationId xmlns:p14="http://schemas.microsoft.com/office/powerpoint/2010/main" val="2841928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6A557-9F43-2514-B1F0-F58774175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>
            <a:extLst>
              <a:ext uri="{FF2B5EF4-FFF2-40B4-BE49-F238E27FC236}">
                <a16:creationId xmlns:a16="http://schemas.microsoft.com/office/drawing/2014/main" id="{F6F30CC3-8DD9-CFD8-31E9-FFCD7B8E57AC}"/>
              </a:ext>
            </a:extLst>
          </p:cNvPr>
          <p:cNvSpPr txBox="1"/>
          <p:nvPr/>
        </p:nvSpPr>
        <p:spPr>
          <a:xfrm>
            <a:off x="864031" y="3227596"/>
            <a:ext cx="8121649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rgbClr val="0F6FC6"/>
                </a:solidFill>
              </a:rPr>
              <a:t>AI-Integrated Multi-Modal Viva Evaluation System</a:t>
            </a:r>
            <a:endParaRPr lang="en-US" sz="4000">
              <a:ea typeface="Cambr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89C439-899D-9561-FD81-2C438AD38758}"/>
              </a:ext>
            </a:extLst>
          </p:cNvPr>
          <p:cNvSpPr txBox="1"/>
          <p:nvPr/>
        </p:nvSpPr>
        <p:spPr>
          <a:xfrm>
            <a:off x="963084" y="5715000"/>
            <a:ext cx="3989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Software Engineering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41BD26-2C69-2443-9A50-3812971218F6}"/>
              </a:ext>
            </a:extLst>
          </p:cNvPr>
          <p:cNvSpPr>
            <a:spLocks noGrp="1"/>
          </p:cNvSpPr>
          <p:nvPr/>
        </p:nvSpPr>
        <p:spPr>
          <a:xfrm>
            <a:off x="859017" y="1570477"/>
            <a:ext cx="10363200" cy="7554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>
                <a:latin typeface="Adobe Devanagari"/>
              </a:rPr>
              <a:t>IT22557056 | HERATH B.K.H.M.B.L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C8D856-B257-043B-F69A-0DB410FED36A}"/>
              </a:ext>
            </a:extLst>
          </p:cNvPr>
          <p:cNvSpPr/>
          <p:nvPr/>
        </p:nvSpPr>
        <p:spPr>
          <a:xfrm>
            <a:off x="2590800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IT22134776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L.S.B Hemarathne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RE26-SE-025</a:t>
            </a:r>
          </a:p>
        </p:txBody>
      </p:sp>
      <p:pic>
        <p:nvPicPr>
          <p:cNvPr id="2" name="Picture 1" descr="A person in a suit&#10;&#10;AI-generated content may be incorrect.">
            <a:extLst>
              <a:ext uri="{FF2B5EF4-FFF2-40B4-BE49-F238E27FC236}">
                <a16:creationId xmlns:a16="http://schemas.microsoft.com/office/drawing/2014/main" id="{7C86F284-2B32-FD00-F101-A3ADCA511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729" y="24530"/>
            <a:ext cx="2543828" cy="265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195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CB0848-421F-E409-4AEF-66B3CF4737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7" b="-152"/>
          <a:stretch>
            <a:fillRect/>
          </a:stretch>
        </p:blipFill>
        <p:spPr>
          <a:xfrm>
            <a:off x="6915535" y="368690"/>
            <a:ext cx="4123222" cy="58706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D81CE8-7124-1BCC-AEF1-ECA8BE9F1864}"/>
              </a:ext>
            </a:extLst>
          </p:cNvPr>
          <p:cNvSpPr txBox="1"/>
          <p:nvPr/>
        </p:nvSpPr>
        <p:spPr>
          <a:xfrm>
            <a:off x="753020" y="981560"/>
            <a:ext cx="5346055" cy="41279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r>
              <a:rPr lang="en-US" b="1">
                <a:solidFill>
                  <a:srgbClr val="000000"/>
                </a:solidFill>
              </a:rPr>
              <a:t>Solution</a:t>
            </a: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Continuous Frame-by-Frame Analysis</a:t>
            </a:r>
            <a:endParaRPr lang="en-US">
              <a:solidFill>
                <a:srgbClr val="000000"/>
              </a:solidFill>
            </a:endParaRP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Automated Facial Emotion Detection</a:t>
            </a: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Detect Student Engagement and Attention</a:t>
            </a:r>
            <a:endParaRPr lang="en-US">
              <a:solidFill>
                <a:srgbClr val="000000"/>
              </a:solidFill>
              <a:ea typeface="Cambria"/>
            </a:endParaRP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Confidence Prediction </a:t>
            </a: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Oral Emotion Recognition</a:t>
            </a:r>
          </a:p>
        </p:txBody>
      </p:sp>
    </p:spTree>
    <p:extLst>
      <p:ext uri="{BB962C8B-B14F-4D97-AF65-F5344CB8AC3E}">
        <p14:creationId xmlns:p14="http://schemas.microsoft.com/office/powerpoint/2010/main" val="4071957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387069-F54A-7038-D8D7-52D7B2BB80E7}"/>
              </a:ext>
            </a:extLst>
          </p:cNvPr>
          <p:cNvSpPr txBox="1"/>
          <p:nvPr/>
        </p:nvSpPr>
        <p:spPr>
          <a:xfrm>
            <a:off x="5444596" y="592320"/>
            <a:ext cx="6353489" cy="57270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sz="2600">
                <a:solidFill>
                  <a:srgbClr val="FF0000"/>
                </a:solidFill>
              </a:rPr>
              <a:t>User Requirements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C9B74"/>
              </a:buClr>
              <a:buFont typeface="Wingdings" panose="05000000000000000000" pitchFamily="2" charset="2"/>
              <a:buChar char="ü"/>
            </a:pPr>
            <a:r>
              <a:rPr lang="en-US" sz="2000">
                <a:ea typeface="+mn-lt"/>
                <a:cs typeface="+mn-lt"/>
              </a:rPr>
              <a:t>Analyze facial emotions, engagement confidence levels</a:t>
            </a:r>
            <a:endParaRPr lang="en-US" sz="2000">
              <a:ea typeface="Cambria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C9B74"/>
              </a:buClr>
              <a:buFont typeface="Wingdings" panose="05000000000000000000" pitchFamily="2" charset="2"/>
              <a:buChar char="ü"/>
            </a:pPr>
            <a:r>
              <a:rPr lang="en-US" sz="2000">
                <a:ea typeface="+mn-lt"/>
                <a:cs typeface="+mn-lt"/>
              </a:rPr>
              <a:t>Detect behavioral patterns such as nervousness, attentiveness, and interaction</a:t>
            </a:r>
            <a:endParaRPr lang="en-US" sz="2000">
              <a:ea typeface="Cambria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C9B74"/>
              </a:buClr>
              <a:buFont typeface="Wingdings" panose="05000000000000000000" pitchFamily="2" charset="2"/>
              <a:buChar char="ü"/>
            </a:pPr>
            <a:r>
              <a:rPr lang="en-US" sz="2000">
                <a:ea typeface="+mn-lt"/>
                <a:cs typeface="+mn-lt"/>
              </a:rPr>
              <a:t>Generate automated confidence and engagement scores</a:t>
            </a:r>
            <a:endParaRPr lang="en-US"/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C9B74"/>
              </a:buClr>
              <a:buFont typeface="Wingdings" panose="05000000000000000000" pitchFamily="2" charset="2"/>
              <a:buChar char="ü"/>
            </a:pPr>
            <a:r>
              <a:rPr lang="en-US" sz="2000">
                <a:ea typeface="+mn-lt"/>
                <a:cs typeface="+mn-lt"/>
              </a:rPr>
              <a:t>Provide objective and consistent viva evaluation support to reduce examiner bias</a:t>
            </a:r>
            <a:endParaRPr lang="en-US"/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C9B74"/>
              </a:buClr>
              <a:buFont typeface="Wingdings" panose="05000000000000000000" pitchFamily="2" charset="2"/>
              <a:buChar char="ü"/>
            </a:pPr>
            <a:r>
              <a:rPr lang="en-US" sz="2000">
                <a:ea typeface="+mn-lt"/>
                <a:cs typeface="+mn-lt"/>
              </a:rPr>
              <a:t>future AI model enhancements and analytics integration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C9B74"/>
              </a:buClr>
              <a:buFont typeface="Wingdings" panose="05000000000000000000" pitchFamily="2" charset="2"/>
              <a:buChar char="ü"/>
            </a:pPr>
            <a:r>
              <a:rPr lang="en-US" sz="2000">
                <a:ea typeface="Cambria"/>
              </a:rPr>
              <a:t>Monitor </a:t>
            </a:r>
            <a:r>
              <a:rPr lang="en-US" sz="2000">
                <a:ea typeface="+mn-lt"/>
                <a:cs typeface="+mn-lt"/>
              </a:rPr>
              <a:t>detailed emotion timelines and behavioral insights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Clr>
                <a:srgbClr val="0C9B74"/>
              </a:buClr>
              <a:buFont typeface="Wingdings" panose="05000000000000000000" pitchFamily="2" charset="2"/>
              <a:buChar char="ü"/>
            </a:pPr>
            <a:r>
              <a:rPr lang="en-US" sz="2000">
                <a:ea typeface="Cambria"/>
              </a:rPr>
              <a:t>Upload and process recorded viva videos automatically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995758-ABE4-04C7-2A20-56A2493D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44" y="490780"/>
            <a:ext cx="4636576" cy="592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193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908EBB-AF41-7E11-FCD8-51B4BB3F40A7}"/>
              </a:ext>
            </a:extLst>
          </p:cNvPr>
          <p:cNvSpPr txBox="1"/>
          <p:nvPr/>
        </p:nvSpPr>
        <p:spPr>
          <a:xfrm>
            <a:off x="150860" y="756706"/>
            <a:ext cx="7985965" cy="52905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200">
                <a:solidFill>
                  <a:srgbClr val="FF0000"/>
                </a:solidFill>
              </a:rPr>
              <a:t>Design Excellence</a:t>
            </a:r>
            <a:endParaRPr lang="en-US" sz="2200">
              <a:solidFill>
                <a:srgbClr val="FF0000"/>
              </a:solidFill>
              <a:ea typeface="Cambri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>
                <a:ea typeface="+mn-lt"/>
                <a:cs typeface="+mn-lt"/>
              </a:rPr>
              <a:t>Facial emotion, engagement, confidence analysis in one system</a:t>
            </a:r>
            <a:endParaRPr lang="en-US" sz="2000">
              <a:ea typeface="Cambria"/>
            </a:endParaRPr>
          </a:p>
          <a:p>
            <a:pPr marL="285750" indent="-285750">
              <a:buFont typeface="Wingdings"/>
              <a:buChar char="Ø"/>
            </a:pPr>
            <a:r>
              <a:rPr lang="en-US" sz="2000">
                <a:ea typeface="+mn-lt"/>
                <a:cs typeface="+mn-lt"/>
              </a:rPr>
              <a:t>Uses AI and computer vision for automated viva evaluation </a:t>
            </a:r>
            <a:endParaRPr lang="en-US" sz="2000">
              <a:ea typeface="Cambria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000">
              <a:ea typeface="Cambria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ea typeface="+mn-lt"/>
                <a:cs typeface="+mn-lt"/>
              </a:rPr>
              <a:t> Performs continuous frame-by-frame behavioral analysis </a:t>
            </a:r>
            <a:endParaRPr lang="en-US" sz="2000">
              <a:ea typeface="Cambria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000">
              <a:ea typeface="+mn-lt"/>
              <a:cs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ea typeface="+mn-lt"/>
                <a:cs typeface="+mn-lt"/>
              </a:rPr>
              <a:t> Uses </a:t>
            </a:r>
            <a:r>
              <a:rPr lang="en-US" sz="2000" err="1">
                <a:ea typeface="+mn-lt"/>
                <a:cs typeface="+mn-lt"/>
              </a:rPr>
              <a:t>MediaPipe</a:t>
            </a:r>
            <a:r>
              <a:rPr lang="en-US" sz="2000">
                <a:ea typeface="+mn-lt"/>
                <a:cs typeface="+mn-lt"/>
              </a:rPr>
              <a:t> for accurate face detection and tracking </a:t>
            </a:r>
            <a:endParaRPr lang="en-US" sz="2000">
              <a:ea typeface="Cambria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000">
              <a:ea typeface="Cambria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>
                <a:ea typeface="+mn-lt"/>
                <a:cs typeface="+mn-lt"/>
              </a:rPr>
              <a:t> Applies deep learning models for emotion recognition </a:t>
            </a:r>
            <a:endParaRPr lang="en-US" sz="2000">
              <a:ea typeface="Cambri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>
                <a:ea typeface="+mn-lt"/>
                <a:cs typeface="+mn-lt"/>
              </a:rPr>
              <a:t>Supports future integration with audio and NLP modules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>
                <a:ea typeface="+mn-lt"/>
                <a:cs typeface="+mn-lt"/>
              </a:rPr>
              <a:t>Suitable for real-world online viva assessment environments </a:t>
            </a:r>
            <a:endParaRPr lang="en-US" sz="2000">
              <a:ea typeface="Cambria"/>
            </a:endParaRPr>
          </a:p>
          <a:p>
            <a:pPr>
              <a:lnSpc>
                <a:spcPct val="200000"/>
              </a:lnSpc>
            </a:pPr>
            <a:endParaRPr lang="en-US" sz="2000">
              <a:ea typeface="Cambri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A81C51-C323-28F4-AB3F-DF43ECB5B943}"/>
              </a:ext>
            </a:extLst>
          </p:cNvPr>
          <p:cNvSpPr/>
          <p:nvPr/>
        </p:nvSpPr>
        <p:spPr>
          <a:xfrm>
            <a:off x="7591731" y="997221"/>
            <a:ext cx="4445287" cy="5487691"/>
          </a:xfrm>
          <a:prstGeom prst="rect">
            <a:avLst/>
          </a:prstGeom>
          <a:solidFill>
            <a:srgbClr val="FEF4E6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2691FFC2-7BF9-3DAF-0C81-2942B88B9F61}"/>
              </a:ext>
            </a:extLst>
          </p:cNvPr>
          <p:cNvSpPr txBox="1"/>
          <p:nvPr/>
        </p:nvSpPr>
        <p:spPr>
          <a:xfrm>
            <a:off x="1447450" y="241684"/>
            <a:ext cx="9186333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>
                <a:solidFill>
                  <a:srgbClr val="0F6FC6"/>
                </a:solidFill>
              </a:rPr>
              <a:t>AI-Integrated Multi-Modal Viva Evaluation System</a:t>
            </a:r>
            <a:endParaRPr lang="en-US" sz="3000">
              <a:solidFill>
                <a:srgbClr val="000000"/>
              </a:solidFill>
              <a:ea typeface="Cambria"/>
            </a:endParaRPr>
          </a:p>
          <a:p>
            <a:endParaRPr lang="en-US" sz="3000">
              <a:solidFill>
                <a:schemeClr val="accent1">
                  <a:lumMod val="75000"/>
                </a:schemeClr>
              </a:solidFill>
              <a:ea typeface="Cambria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BA0521-A4A2-50A0-161A-017C82FC1D43}"/>
              </a:ext>
            </a:extLst>
          </p:cNvPr>
          <p:cNvSpPr/>
          <p:nvPr/>
        </p:nvSpPr>
        <p:spPr>
          <a:xfrm>
            <a:off x="2590800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IT22134776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L.S.B Hemarathne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RE26-SE-025</a:t>
            </a:r>
          </a:p>
        </p:txBody>
      </p:sp>
      <p:pic>
        <p:nvPicPr>
          <p:cNvPr id="15" name="Picture 1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96EDD43-C876-0C4F-E813-C797C41357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9" b="20527"/>
          <a:stretch>
            <a:fillRect/>
          </a:stretch>
        </p:blipFill>
        <p:spPr>
          <a:xfrm>
            <a:off x="8289356" y="994475"/>
            <a:ext cx="3091262" cy="547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427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F8E4-8BAA-AAAC-1ADB-7FB6F7C2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0">
            <a:extLst>
              <a:ext uri="{FF2B5EF4-FFF2-40B4-BE49-F238E27FC236}">
                <a16:creationId xmlns:a16="http://schemas.microsoft.com/office/drawing/2014/main" id="{3A4F960F-B06D-1B51-6A4B-707C3B683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16487"/>
            <a:ext cx="11684000" cy="79216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1"/>
              <a:t>AI-Integrated Multi-Modal Academic Evaluation, Performance Intelligence, and Automated Viva Assessment System</a:t>
            </a:r>
            <a:endParaRPr lang="en-US" sz="24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698565-6AEA-11C2-5FAC-839ADAFD6A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011756"/>
            <a:ext cx="4267200" cy="50842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3F68606-BEED-AB1D-9D26-83FFAEC06192}"/>
              </a:ext>
            </a:extLst>
          </p:cNvPr>
          <p:cNvSpPr txBox="1"/>
          <p:nvPr/>
        </p:nvSpPr>
        <p:spPr>
          <a:xfrm>
            <a:off x="5257800" y="940998"/>
            <a:ext cx="69342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>
                <a:solidFill>
                  <a:srgbClr val="0070C0"/>
                </a:solidFill>
              </a:rPr>
              <a:t>Primary Target Market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/>
              <a:t>Universities and higher education institutions.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/>
              <a:t>Online learning platforms and EdTech providers.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/>
              <a:t>Professional certification organizations.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/>
              <a:t>Corporate training and assessment centers.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7C618-B54B-7369-B9AA-3F82D8A6C7D0}"/>
              </a:ext>
            </a:extLst>
          </p:cNvPr>
          <p:cNvSpPr txBox="1"/>
          <p:nvPr/>
        </p:nvSpPr>
        <p:spPr>
          <a:xfrm>
            <a:off x="5257800" y="2587916"/>
            <a:ext cx="5562600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>
                <a:solidFill>
                  <a:srgbClr val="0070C0"/>
                </a:solidFill>
              </a:rPr>
              <a:t>Unique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/>
              <a:t>Unified Multi-Modal Evaluation Platform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/>
              <a:t>Reasoning-Based Assessment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/>
              <a:t>Explainable AI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/>
              <a:t>Predictive Analytics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/>
              <a:t>Automated Viva Intelligence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/>
              <a:t>Diagram Evaluation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16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A0E05F-8610-379F-7686-7AC48ED251F7}"/>
              </a:ext>
            </a:extLst>
          </p:cNvPr>
          <p:cNvSpPr txBox="1"/>
          <p:nvPr/>
        </p:nvSpPr>
        <p:spPr>
          <a:xfrm>
            <a:off x="5257800" y="4942696"/>
            <a:ext cx="55626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>
                <a:solidFill>
                  <a:srgbClr val="FF0000"/>
                </a:solidFill>
              </a:rPr>
              <a:t>Cost Be Recovered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600"/>
              <a:t>Subscription Licensing (SaaS)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600"/>
              <a:t>Institutional Enterprise Licensing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600"/>
              <a:t>Premium Features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600"/>
              <a:t>White-Label Licensing</a:t>
            </a:r>
          </a:p>
        </p:txBody>
      </p:sp>
    </p:spTree>
    <p:extLst>
      <p:ext uri="{BB962C8B-B14F-4D97-AF65-F5344CB8AC3E}">
        <p14:creationId xmlns:p14="http://schemas.microsoft.com/office/powerpoint/2010/main" val="1059694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6B3147-9648-4201-9463-EFC0D944D981}">
  <we:reference id="WA200008583" version="1.0.0.1" store="Omex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E668C4-A027-4C7A-BB29-84F43E272FEA}">
  <ds:schemaRefs>
    <ds:schemaRef ds:uri="http://schemas.microsoft.com/office/infopath/2007/PartnerControls"/>
    <ds:schemaRef ds:uri="42d1e402-c42d-419a-bd83-d8d365e28f11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  <ds:schemaRef ds:uri="fdf483cb-5937-4af3-915e-55fd2d7d3a90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14DCEB3-C59A-4C9E-AE56-C867D1FF087D}"/>
</file>

<file path=customXml/itemProps3.xml><?xml version="1.0" encoding="utf-8"?>
<ds:datastoreItem xmlns:ds="http://schemas.openxmlformats.org/officeDocument/2006/customXml" ds:itemID="{50890430-ED83-44A8-A404-7BBDF00853C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TotalTime>0</TotalTime>
  <Words>824</Words>
  <Application>Microsoft Office PowerPoint</Application>
  <PresentationFormat>Widescreen</PresentationFormat>
  <Paragraphs>153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Adobe Devanagari</vt:lpstr>
      <vt:lpstr>Arial</vt:lpstr>
      <vt:lpstr>Calibri</vt:lpstr>
      <vt:lpstr>Cambria</vt:lpstr>
      <vt:lpstr>Wingdings</vt:lpstr>
      <vt:lpstr>Office Theme</vt:lpstr>
      <vt:lpstr>PowerPoint Presentation</vt:lpstr>
      <vt:lpstr>AI-Integrated Multi-Modal Academic Evaluation, Performance Intelligence, and Automated Viva Assessment System</vt:lpstr>
      <vt:lpstr>AI-Integrated Multi-Modal Academic Evaluation, Performance Intelligence, and Automated Viva Assessment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Handwritten ER Diagram Extraction and Evaluating  Module </vt:lpstr>
      <vt:lpstr>Handwritten ER Diagram Extraction and Evaluating  Module </vt:lpstr>
      <vt:lpstr>Handwritten ER Diagram Extraction and Evaluating  Module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AI-Integrated Multi-Modal Academic Evaluation, Performance Intelligence, and Automated Viva Assessment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SENARATHNA A.M it22262554</cp:lastModifiedBy>
  <cp:revision>2</cp:revision>
  <dcterms:created xsi:type="dcterms:W3CDTF">2025-08-25T09:34:25Z</dcterms:created>
  <dcterms:modified xsi:type="dcterms:W3CDTF">2026-05-12T08:51:59Z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