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DM Sans" pitchFamily="2" charset="0"/>
      <p:regular r:id="rId12"/>
    </p:embeddedFont>
    <p:embeddedFont>
      <p:font typeface="DM Sans Bold" charset="0"/>
      <p:regular r:id="rId13"/>
    </p:embeddedFont>
    <p:embeddedFont>
      <p:font typeface="Open Sauce" panose="020B0604020202020204" charset="0"/>
      <p:regular r:id="rId14"/>
    </p:embeddedFont>
    <p:embeddedFont>
      <p:font typeface="Open Sauce Bold" panose="020B0604020202020204" charset="0"/>
      <p:regular r:id="rId15"/>
    </p:embeddedFont>
    <p:embeddedFont>
      <p:font typeface="Poppins" panose="00000500000000000000" pitchFamily="2" charset="0"/>
      <p:regular r:id="rId16"/>
    </p:embeddedFont>
    <p:embeddedFont>
      <p:font typeface="Poppins Semi-Bold" panose="020B0604020202020204" charset="0"/>
      <p:regular r:id="rId17"/>
    </p:embeddedFont>
    <p:embeddedFont>
      <p:font typeface="Pragmatica" panose="020B0604020202020204" charset="0"/>
      <p:regular r:id="rId18"/>
    </p:embeddedFont>
    <p:embeddedFont>
      <p:font typeface="Signika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BFB"/>
    <a:srgbClr val="5C8485"/>
    <a:srgbClr val="1C5739"/>
    <a:srgbClr val="006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9" d="100"/>
          <a:sy n="69" d="100"/>
        </p:scale>
        <p:origin x="1188" y="3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5537BA-99CF-4497-AE79-E2F00163074E}"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2F605C-8DEA-49A3-A28C-6629BAF28609}" type="slidenum">
              <a:rPr lang="en-US" smtClean="0"/>
              <a:t>‹#›</a:t>
            </a:fld>
            <a:endParaRPr lang="en-US"/>
          </a:p>
        </p:txBody>
      </p:sp>
    </p:spTree>
    <p:extLst>
      <p:ext uri="{BB962C8B-B14F-4D97-AF65-F5344CB8AC3E}">
        <p14:creationId xmlns:p14="http://schemas.microsoft.com/office/powerpoint/2010/main" val="3360571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02F605C-8DEA-49A3-A28C-6629BAF28609}" type="slidenum">
              <a:rPr lang="en-US" smtClean="0"/>
              <a:t>8</a:t>
            </a:fld>
            <a:endParaRPr lang="en-US"/>
          </a:p>
        </p:txBody>
      </p:sp>
    </p:spTree>
    <p:extLst>
      <p:ext uri="{BB962C8B-B14F-4D97-AF65-F5344CB8AC3E}">
        <p14:creationId xmlns:p14="http://schemas.microsoft.com/office/powerpoint/2010/main" val="1542101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3275985" y="-207071"/>
            <a:ext cx="2956329" cy="11299900"/>
            <a:chOff x="0" y="0"/>
            <a:chExt cx="812800" cy="2976105"/>
          </a:xfrm>
        </p:grpSpPr>
        <p:sp>
          <p:nvSpPr>
            <p:cNvPr id="3" name="Freeform 3"/>
            <p:cNvSpPr/>
            <p:nvPr/>
          </p:nvSpPr>
          <p:spPr>
            <a:xfrm>
              <a:off x="0" y="0"/>
              <a:ext cx="812800" cy="2976105"/>
            </a:xfrm>
            <a:custGeom>
              <a:avLst/>
              <a:gdLst/>
              <a:ahLst/>
              <a:cxnLst/>
              <a:rect l="l" t="t" r="r" b="b"/>
              <a:pathLst>
                <a:path w="812800" h="2976105">
                  <a:moveTo>
                    <a:pt x="0" y="0"/>
                  </a:moveTo>
                  <a:lnTo>
                    <a:pt x="812800" y="0"/>
                  </a:lnTo>
                  <a:lnTo>
                    <a:pt x="812800" y="2976105"/>
                  </a:lnTo>
                  <a:lnTo>
                    <a:pt x="0" y="2976105"/>
                  </a:lnTo>
                  <a:close/>
                </a:path>
              </a:pathLst>
            </a:custGeom>
            <a:solidFill>
              <a:srgbClr val="1C5739"/>
            </a:solidFill>
          </p:spPr>
          <p:txBody>
            <a:bodyPr/>
            <a:lstStyle/>
            <a:p>
              <a:endParaRPr lang="en-US"/>
            </a:p>
          </p:txBody>
        </p:sp>
        <p:sp>
          <p:nvSpPr>
            <p:cNvPr id="4" name="TextBox 4"/>
            <p:cNvSpPr txBox="1"/>
            <p:nvPr/>
          </p:nvSpPr>
          <p:spPr>
            <a:xfrm>
              <a:off x="0" y="-19050"/>
              <a:ext cx="812800" cy="2995155"/>
            </a:xfrm>
            <a:prstGeom prst="rect">
              <a:avLst/>
            </a:prstGeom>
          </p:spPr>
          <p:txBody>
            <a:bodyPr lIns="50800" tIns="50800" rIns="50800" bIns="50800" rtlCol="0" anchor="ctr"/>
            <a:lstStyle/>
            <a:p>
              <a:pPr algn="ctr">
                <a:lnSpc>
                  <a:spcPts val="2859"/>
                </a:lnSpc>
              </a:pPr>
              <a:endParaRPr/>
            </a:p>
          </p:txBody>
        </p:sp>
      </p:grpSp>
      <p:sp>
        <p:nvSpPr>
          <p:cNvPr id="5" name="Freeform 5"/>
          <p:cNvSpPr/>
          <p:nvPr/>
        </p:nvSpPr>
        <p:spPr>
          <a:xfrm>
            <a:off x="16384715" y="9009597"/>
            <a:ext cx="3806571" cy="2083232"/>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6" name="Group 6"/>
          <p:cNvGrpSpPr/>
          <p:nvPr/>
        </p:nvGrpSpPr>
        <p:grpSpPr>
          <a:xfrm>
            <a:off x="-1543050" y="-558218"/>
            <a:ext cx="3086100" cy="11299900"/>
            <a:chOff x="0" y="0"/>
            <a:chExt cx="812800" cy="2976105"/>
          </a:xfrm>
        </p:grpSpPr>
        <p:sp>
          <p:nvSpPr>
            <p:cNvPr id="7" name="Freeform 7"/>
            <p:cNvSpPr/>
            <p:nvPr/>
          </p:nvSpPr>
          <p:spPr>
            <a:xfrm>
              <a:off x="0" y="0"/>
              <a:ext cx="812800" cy="2976105"/>
            </a:xfrm>
            <a:custGeom>
              <a:avLst/>
              <a:gdLst/>
              <a:ahLst/>
              <a:cxnLst/>
              <a:rect l="l" t="t" r="r" b="b"/>
              <a:pathLst>
                <a:path w="812800" h="2976105">
                  <a:moveTo>
                    <a:pt x="0" y="0"/>
                  </a:moveTo>
                  <a:lnTo>
                    <a:pt x="812800" y="0"/>
                  </a:lnTo>
                  <a:lnTo>
                    <a:pt x="812800" y="2976105"/>
                  </a:lnTo>
                  <a:lnTo>
                    <a:pt x="0" y="2976105"/>
                  </a:lnTo>
                  <a:close/>
                </a:path>
              </a:pathLst>
            </a:custGeom>
            <a:solidFill>
              <a:srgbClr val="1C5739"/>
            </a:solidFill>
          </p:spPr>
          <p:txBody>
            <a:bodyPr/>
            <a:lstStyle/>
            <a:p>
              <a:endParaRPr lang="en-US"/>
            </a:p>
          </p:txBody>
        </p:sp>
        <p:sp>
          <p:nvSpPr>
            <p:cNvPr id="8" name="TextBox 8"/>
            <p:cNvSpPr txBox="1"/>
            <p:nvPr/>
          </p:nvSpPr>
          <p:spPr>
            <a:xfrm>
              <a:off x="0" y="-19050"/>
              <a:ext cx="812800" cy="2995155"/>
            </a:xfrm>
            <a:prstGeom prst="rect">
              <a:avLst/>
            </a:prstGeom>
          </p:spPr>
          <p:txBody>
            <a:bodyPr lIns="50800" tIns="50800" rIns="50800" bIns="50800" rtlCol="0" anchor="ctr"/>
            <a:lstStyle/>
            <a:p>
              <a:pPr algn="ctr">
                <a:lnSpc>
                  <a:spcPts val="2859"/>
                </a:lnSpc>
              </a:pPr>
              <a:endParaRPr/>
            </a:p>
          </p:txBody>
        </p:sp>
      </p:grpSp>
      <p:grpSp>
        <p:nvGrpSpPr>
          <p:cNvPr id="9" name="Group 9"/>
          <p:cNvGrpSpPr/>
          <p:nvPr/>
        </p:nvGrpSpPr>
        <p:grpSpPr>
          <a:xfrm>
            <a:off x="1227773" y="4163622"/>
            <a:ext cx="110236" cy="2818996"/>
            <a:chOff x="0" y="0"/>
            <a:chExt cx="26312" cy="672855"/>
          </a:xfrm>
        </p:grpSpPr>
        <p:sp>
          <p:nvSpPr>
            <p:cNvPr id="10" name="Freeform 10"/>
            <p:cNvSpPr/>
            <p:nvPr/>
          </p:nvSpPr>
          <p:spPr>
            <a:xfrm>
              <a:off x="0" y="0"/>
              <a:ext cx="26312" cy="672855"/>
            </a:xfrm>
            <a:custGeom>
              <a:avLst/>
              <a:gdLst/>
              <a:ahLst/>
              <a:cxnLst/>
              <a:rect l="l" t="t" r="r" b="b"/>
              <a:pathLst>
                <a:path w="26312" h="672855">
                  <a:moveTo>
                    <a:pt x="0" y="0"/>
                  </a:moveTo>
                  <a:lnTo>
                    <a:pt x="26312" y="0"/>
                  </a:lnTo>
                  <a:lnTo>
                    <a:pt x="26312" y="672855"/>
                  </a:lnTo>
                  <a:lnTo>
                    <a:pt x="0" y="672855"/>
                  </a:lnTo>
                  <a:close/>
                </a:path>
              </a:pathLst>
            </a:custGeom>
            <a:solidFill>
              <a:srgbClr val="FFFFFF"/>
            </a:solidFill>
          </p:spPr>
          <p:txBody>
            <a:bodyPr/>
            <a:lstStyle/>
            <a:p>
              <a:endParaRPr lang="en-US"/>
            </a:p>
          </p:txBody>
        </p:sp>
        <p:sp>
          <p:nvSpPr>
            <p:cNvPr id="11" name="TextBox 11"/>
            <p:cNvSpPr txBox="1"/>
            <p:nvPr/>
          </p:nvSpPr>
          <p:spPr>
            <a:xfrm>
              <a:off x="0" y="-19050"/>
              <a:ext cx="26312" cy="691905"/>
            </a:xfrm>
            <a:prstGeom prst="rect">
              <a:avLst/>
            </a:prstGeom>
          </p:spPr>
          <p:txBody>
            <a:bodyPr lIns="50800" tIns="50800" rIns="50800" bIns="50800" rtlCol="0" anchor="ctr"/>
            <a:lstStyle/>
            <a:p>
              <a:pPr algn="ctr">
                <a:lnSpc>
                  <a:spcPts val="2859"/>
                </a:lnSpc>
              </a:pPr>
              <a:endParaRPr/>
            </a:p>
          </p:txBody>
        </p:sp>
      </p:grpSp>
      <p:sp>
        <p:nvSpPr>
          <p:cNvPr id="12" name="Freeform 12"/>
          <p:cNvSpPr/>
          <p:nvPr/>
        </p:nvSpPr>
        <p:spPr>
          <a:xfrm>
            <a:off x="-2777871" y="-207071"/>
            <a:ext cx="3806571" cy="2083232"/>
          </a:xfrm>
          <a:custGeom>
            <a:avLst/>
            <a:gdLst/>
            <a:ahLst/>
            <a:cxnLst/>
            <a:rect l="l" t="t" r="r" b="b"/>
            <a:pathLst>
              <a:path w="3806571" h="2083232">
                <a:moveTo>
                  <a:pt x="0" y="0"/>
                </a:moveTo>
                <a:lnTo>
                  <a:pt x="3806571" y="0"/>
                </a:lnTo>
                <a:lnTo>
                  <a:pt x="3806571" y="2083233"/>
                </a:lnTo>
                <a:lnTo>
                  <a:pt x="0" y="208323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TextBox 13"/>
          <p:cNvSpPr txBox="1"/>
          <p:nvPr/>
        </p:nvSpPr>
        <p:spPr>
          <a:xfrm>
            <a:off x="2297934" y="1403508"/>
            <a:ext cx="11175190" cy="4431983"/>
          </a:xfrm>
          <a:prstGeom prst="rect">
            <a:avLst/>
          </a:prstGeom>
        </p:spPr>
        <p:txBody>
          <a:bodyPr wrap="square" lIns="0" tIns="0" rIns="0" bIns="0" rtlCol="0" anchor="t">
            <a:spAutoFit/>
          </a:bodyPr>
          <a:lstStyle/>
          <a:p>
            <a:pPr>
              <a:spcBef>
                <a:spcPct val="0"/>
              </a:spcBef>
            </a:pPr>
            <a:r>
              <a:rPr lang="en-US" sz="9600" b="1" dirty="0">
                <a:solidFill>
                  <a:srgbClr val="1C5739"/>
                </a:solidFill>
              </a:rPr>
              <a:t>Multimodal Exam </a:t>
            </a:r>
          </a:p>
          <a:p>
            <a:pPr>
              <a:spcBef>
                <a:spcPct val="0"/>
              </a:spcBef>
            </a:pPr>
            <a:r>
              <a:rPr lang="en-US" sz="9600" b="1" dirty="0">
                <a:solidFill>
                  <a:srgbClr val="1C5739"/>
                </a:solidFill>
              </a:rPr>
              <a:t>Assessment </a:t>
            </a:r>
          </a:p>
          <a:p>
            <a:pPr>
              <a:spcBef>
                <a:spcPct val="0"/>
              </a:spcBef>
            </a:pPr>
            <a:r>
              <a:rPr lang="en-US" sz="9600" b="1" dirty="0">
                <a:solidFill>
                  <a:srgbClr val="1C5739"/>
                </a:solidFill>
              </a:rPr>
              <a:t>Platform</a:t>
            </a:r>
            <a:endParaRPr lang="en-US" sz="9600" b="1" spc="44" dirty="0">
              <a:solidFill>
                <a:srgbClr val="1C5739"/>
              </a:solidFill>
              <a:latin typeface="Poppins Semi-Bold"/>
              <a:ea typeface="Poppins Semi-Bold"/>
              <a:cs typeface="Poppins Semi-Bold"/>
              <a:sym typeface="Poppins Semi-Bold"/>
            </a:endParaRPr>
          </a:p>
        </p:txBody>
      </p:sp>
      <p:grpSp>
        <p:nvGrpSpPr>
          <p:cNvPr id="14" name="Group 14"/>
          <p:cNvGrpSpPr/>
          <p:nvPr/>
        </p:nvGrpSpPr>
        <p:grpSpPr>
          <a:xfrm>
            <a:off x="2297934" y="6743700"/>
            <a:ext cx="2296177" cy="959104"/>
            <a:chOff x="0" y="0"/>
            <a:chExt cx="2829882" cy="1209029"/>
          </a:xfrm>
        </p:grpSpPr>
        <p:sp>
          <p:nvSpPr>
            <p:cNvPr id="15" name="Freeform 15"/>
            <p:cNvSpPr/>
            <p:nvPr/>
          </p:nvSpPr>
          <p:spPr>
            <a:xfrm>
              <a:off x="0" y="0"/>
              <a:ext cx="2829882" cy="1209029"/>
            </a:xfrm>
            <a:custGeom>
              <a:avLst/>
              <a:gdLst/>
              <a:ahLst/>
              <a:cxnLst/>
              <a:rect l="l" t="t" r="r" b="b"/>
              <a:pathLst>
                <a:path w="2829882" h="1209029">
                  <a:moveTo>
                    <a:pt x="2829882" y="113806"/>
                  </a:moveTo>
                  <a:lnTo>
                    <a:pt x="2829882" y="1095224"/>
                  </a:lnTo>
                  <a:cubicBezTo>
                    <a:pt x="2829882" y="1125407"/>
                    <a:pt x="2817891" y="1154354"/>
                    <a:pt x="2796549" y="1175696"/>
                  </a:cubicBezTo>
                  <a:cubicBezTo>
                    <a:pt x="2775206" y="1197039"/>
                    <a:pt x="2746259" y="1209029"/>
                    <a:pt x="2716076" y="1209029"/>
                  </a:cubicBezTo>
                  <a:lnTo>
                    <a:pt x="113806" y="1209029"/>
                  </a:lnTo>
                  <a:cubicBezTo>
                    <a:pt x="83622" y="1209029"/>
                    <a:pt x="54676" y="1197039"/>
                    <a:pt x="33333" y="1175696"/>
                  </a:cubicBezTo>
                  <a:cubicBezTo>
                    <a:pt x="11990" y="1154354"/>
                    <a:pt x="0" y="1125407"/>
                    <a:pt x="0" y="1095224"/>
                  </a:cubicBezTo>
                  <a:lnTo>
                    <a:pt x="0" y="113806"/>
                  </a:lnTo>
                  <a:cubicBezTo>
                    <a:pt x="0" y="83622"/>
                    <a:pt x="11990" y="54676"/>
                    <a:pt x="33333" y="33333"/>
                  </a:cubicBezTo>
                  <a:cubicBezTo>
                    <a:pt x="54676" y="11990"/>
                    <a:pt x="83622" y="0"/>
                    <a:pt x="113806" y="0"/>
                  </a:cubicBezTo>
                  <a:lnTo>
                    <a:pt x="2716076" y="0"/>
                  </a:lnTo>
                  <a:cubicBezTo>
                    <a:pt x="2746259" y="0"/>
                    <a:pt x="2775206" y="11990"/>
                    <a:pt x="2796549" y="33333"/>
                  </a:cubicBezTo>
                  <a:cubicBezTo>
                    <a:pt x="2817891" y="54676"/>
                    <a:pt x="2829882" y="83622"/>
                    <a:pt x="2829882" y="113806"/>
                  </a:cubicBezTo>
                  <a:close/>
                </a:path>
              </a:pathLst>
            </a:custGeom>
            <a:solidFill>
              <a:srgbClr val="1C5739">
                <a:alpha val="14902"/>
              </a:srgbClr>
            </a:solidFill>
          </p:spPr>
          <p:txBody>
            <a:bodyPr/>
            <a:lstStyle/>
            <a:p>
              <a:endParaRPr lang="en-US"/>
            </a:p>
          </p:txBody>
        </p:sp>
        <p:sp>
          <p:nvSpPr>
            <p:cNvPr id="16" name="TextBox 16"/>
            <p:cNvSpPr txBox="1"/>
            <p:nvPr/>
          </p:nvSpPr>
          <p:spPr>
            <a:xfrm>
              <a:off x="0" y="-19050"/>
              <a:ext cx="2829882" cy="1228079"/>
            </a:xfrm>
            <a:prstGeom prst="rect">
              <a:avLst/>
            </a:prstGeom>
          </p:spPr>
          <p:txBody>
            <a:bodyPr lIns="50800" tIns="50800" rIns="50800" bIns="50800" rtlCol="0" anchor="ctr"/>
            <a:lstStyle/>
            <a:p>
              <a:pPr algn="ctr">
                <a:lnSpc>
                  <a:spcPts val="2859"/>
                </a:lnSpc>
              </a:pPr>
              <a:endParaRPr/>
            </a:p>
          </p:txBody>
        </p:sp>
      </p:grpSp>
      <p:sp>
        <p:nvSpPr>
          <p:cNvPr id="17" name="TextBox 17"/>
          <p:cNvSpPr txBox="1"/>
          <p:nvPr/>
        </p:nvSpPr>
        <p:spPr>
          <a:xfrm>
            <a:off x="2413148" y="6979915"/>
            <a:ext cx="2485763" cy="422552"/>
          </a:xfrm>
          <a:prstGeom prst="rect">
            <a:avLst/>
          </a:prstGeom>
        </p:spPr>
        <p:txBody>
          <a:bodyPr wrap="square" lIns="0" tIns="0" rIns="0" bIns="0" rtlCol="0" anchor="t">
            <a:spAutoFit/>
          </a:bodyPr>
          <a:lstStyle/>
          <a:p>
            <a:pPr algn="l">
              <a:lnSpc>
                <a:spcPts val="3625"/>
              </a:lnSpc>
            </a:pPr>
            <a:r>
              <a:rPr lang="en-US" sz="2589" spc="129" dirty="0">
                <a:solidFill>
                  <a:srgbClr val="397D5A"/>
                </a:solidFill>
                <a:latin typeface="Open Sauce"/>
                <a:ea typeface="Open Sauce"/>
                <a:cs typeface="Open Sauce"/>
                <a:sym typeface="Open Sauce"/>
              </a:rPr>
              <a:t>R26-SE-025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Freeform 2"/>
          <p:cNvSpPr/>
          <p:nvPr/>
        </p:nvSpPr>
        <p:spPr>
          <a:xfrm>
            <a:off x="14592495" y="7573922"/>
            <a:ext cx="4687320" cy="4687320"/>
          </a:xfrm>
          <a:custGeom>
            <a:avLst/>
            <a:gdLst/>
            <a:ahLst/>
            <a:cxnLst/>
            <a:rect l="l" t="t" r="r" b="b"/>
            <a:pathLst>
              <a:path w="4687320" h="4687320">
                <a:moveTo>
                  <a:pt x="0" y="0"/>
                </a:moveTo>
                <a:lnTo>
                  <a:pt x="4687320" y="0"/>
                </a:lnTo>
                <a:lnTo>
                  <a:pt x="4687320" y="4687319"/>
                </a:lnTo>
                <a:lnTo>
                  <a:pt x="0" y="468731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16887962" y="5985119"/>
            <a:ext cx="2085109" cy="208510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5739"/>
            </a:solidFill>
            <a:ln cap="sq">
              <a:noFill/>
              <a:prstDash val="solid"/>
              <a:miter/>
            </a:ln>
          </p:spPr>
          <p:txBody>
            <a:bodyPr/>
            <a:lstStyle/>
            <a:p>
              <a:endParaRPr lang="en-US"/>
            </a:p>
          </p:txBody>
        </p:sp>
        <p:sp>
          <p:nvSpPr>
            <p:cNvPr id="5" name="TextBox 5"/>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6" name="TextBox 6"/>
          <p:cNvSpPr txBox="1"/>
          <p:nvPr/>
        </p:nvSpPr>
        <p:spPr>
          <a:xfrm>
            <a:off x="3880998" y="2303685"/>
            <a:ext cx="4926136" cy="717042"/>
          </a:xfrm>
          <a:prstGeom prst="rect">
            <a:avLst/>
          </a:prstGeom>
        </p:spPr>
        <p:txBody>
          <a:bodyPr lIns="0" tIns="0" rIns="0" bIns="0" rtlCol="0" anchor="t">
            <a:spAutoFit/>
          </a:bodyPr>
          <a:lstStyle/>
          <a:p>
            <a:pPr marL="0" lvl="0" indent="0" algn="l">
              <a:lnSpc>
                <a:spcPts val="5588"/>
              </a:lnSpc>
              <a:spcBef>
                <a:spcPct val="0"/>
              </a:spcBef>
            </a:pPr>
            <a:r>
              <a:rPr lang="en-US" sz="4050" spc="396" dirty="0">
                <a:solidFill>
                  <a:srgbClr val="000000"/>
                </a:solidFill>
                <a:latin typeface="Poppins"/>
                <a:ea typeface="Poppins"/>
                <a:cs typeface="Poppins"/>
                <a:sym typeface="Poppins"/>
              </a:rPr>
              <a:t>Problem in Brief</a:t>
            </a:r>
          </a:p>
        </p:txBody>
      </p:sp>
      <p:sp>
        <p:nvSpPr>
          <p:cNvPr id="7" name="TextBox 7"/>
          <p:cNvSpPr txBox="1"/>
          <p:nvPr/>
        </p:nvSpPr>
        <p:spPr>
          <a:xfrm>
            <a:off x="2741179" y="294171"/>
            <a:ext cx="13366509" cy="510667"/>
          </a:xfrm>
          <a:prstGeom prst="rect">
            <a:avLst/>
          </a:prstGeom>
        </p:spPr>
        <p:txBody>
          <a:bodyPr lIns="0" tIns="0" rIns="0" bIns="0" rtlCol="0" anchor="t">
            <a:spAutoFit/>
          </a:bodyPr>
          <a:lstStyle/>
          <a:p>
            <a:pPr algn="l">
              <a:lnSpc>
                <a:spcPts val="3913"/>
              </a:lnSpc>
            </a:pPr>
            <a:r>
              <a:rPr lang="en-US" sz="3799">
                <a:solidFill>
                  <a:srgbClr val="000000"/>
                </a:solidFill>
                <a:latin typeface="Pragmatica"/>
                <a:ea typeface="Pragmatica"/>
                <a:cs typeface="Pragmatica"/>
                <a:sym typeface="Pragmatica"/>
              </a:rPr>
              <a:t>AI-POWERED INTELLIGENT TALENT ACQUISITION SYSTEM</a:t>
            </a:r>
          </a:p>
        </p:txBody>
      </p:sp>
      <p:grpSp>
        <p:nvGrpSpPr>
          <p:cNvPr id="8" name="Group 8"/>
          <p:cNvGrpSpPr/>
          <p:nvPr/>
        </p:nvGrpSpPr>
        <p:grpSpPr>
          <a:xfrm>
            <a:off x="9144000" y="1154095"/>
            <a:ext cx="8395594" cy="3684605"/>
            <a:chOff x="0" y="0"/>
            <a:chExt cx="2349373" cy="1190752"/>
          </a:xfrm>
        </p:grpSpPr>
        <p:sp>
          <p:nvSpPr>
            <p:cNvPr id="9" name="Freeform 9"/>
            <p:cNvSpPr/>
            <p:nvPr/>
          </p:nvSpPr>
          <p:spPr>
            <a:xfrm>
              <a:off x="0" y="0"/>
              <a:ext cx="2349373" cy="1190752"/>
            </a:xfrm>
            <a:custGeom>
              <a:avLst/>
              <a:gdLst/>
              <a:ahLst/>
              <a:cxnLst/>
              <a:rect l="l" t="t" r="r" b="b"/>
              <a:pathLst>
                <a:path w="2349373" h="1190752">
                  <a:moveTo>
                    <a:pt x="2349373" y="40574"/>
                  </a:moveTo>
                  <a:lnTo>
                    <a:pt x="2349373" y="1150178"/>
                  </a:lnTo>
                  <a:cubicBezTo>
                    <a:pt x="2349373" y="1160939"/>
                    <a:pt x="2345098" y="1171259"/>
                    <a:pt x="2337489" y="1178868"/>
                  </a:cubicBezTo>
                  <a:cubicBezTo>
                    <a:pt x="2329880" y="1186477"/>
                    <a:pt x="2319560" y="1190752"/>
                    <a:pt x="2308799" y="1190752"/>
                  </a:cubicBezTo>
                  <a:lnTo>
                    <a:pt x="40574" y="1190752"/>
                  </a:lnTo>
                  <a:cubicBezTo>
                    <a:pt x="29813" y="1190752"/>
                    <a:pt x="19493" y="1186477"/>
                    <a:pt x="11884" y="1178868"/>
                  </a:cubicBezTo>
                  <a:cubicBezTo>
                    <a:pt x="4275" y="1171259"/>
                    <a:pt x="0" y="1160939"/>
                    <a:pt x="0" y="1150178"/>
                  </a:cubicBezTo>
                  <a:lnTo>
                    <a:pt x="0" y="40574"/>
                  </a:lnTo>
                  <a:cubicBezTo>
                    <a:pt x="0" y="29813"/>
                    <a:pt x="4275" y="19493"/>
                    <a:pt x="11884" y="11884"/>
                  </a:cubicBezTo>
                  <a:cubicBezTo>
                    <a:pt x="19493" y="4275"/>
                    <a:pt x="29813" y="0"/>
                    <a:pt x="40574" y="0"/>
                  </a:cubicBezTo>
                  <a:lnTo>
                    <a:pt x="2308799" y="0"/>
                  </a:lnTo>
                  <a:cubicBezTo>
                    <a:pt x="2319560" y="0"/>
                    <a:pt x="2329880" y="4275"/>
                    <a:pt x="2337489" y="11884"/>
                  </a:cubicBezTo>
                  <a:cubicBezTo>
                    <a:pt x="2345098" y="19493"/>
                    <a:pt x="2349373" y="29813"/>
                    <a:pt x="2349373" y="40574"/>
                  </a:cubicBezTo>
                  <a:close/>
                </a:path>
              </a:pathLst>
            </a:custGeom>
            <a:solidFill>
              <a:srgbClr val="1C5739"/>
            </a:solidFill>
          </p:spPr>
          <p:txBody>
            <a:bodyPr/>
            <a:lstStyle/>
            <a:p>
              <a:endParaRPr lang="en-US"/>
            </a:p>
          </p:txBody>
        </p:sp>
        <p:sp>
          <p:nvSpPr>
            <p:cNvPr id="10" name="TextBox 10"/>
            <p:cNvSpPr txBox="1"/>
            <p:nvPr/>
          </p:nvSpPr>
          <p:spPr>
            <a:xfrm>
              <a:off x="0" y="-19050"/>
              <a:ext cx="2349373" cy="1209802"/>
            </a:xfrm>
            <a:prstGeom prst="rect">
              <a:avLst/>
            </a:prstGeom>
          </p:spPr>
          <p:txBody>
            <a:bodyPr lIns="50800" tIns="50800" rIns="50800" bIns="50800" rtlCol="0" anchor="ctr"/>
            <a:lstStyle/>
            <a:p>
              <a:pPr algn="ctr">
                <a:lnSpc>
                  <a:spcPts val="2859"/>
                </a:lnSpc>
              </a:pPr>
              <a:endParaRPr/>
            </a:p>
          </p:txBody>
        </p:sp>
      </p:grpSp>
      <p:sp>
        <p:nvSpPr>
          <p:cNvPr id="11" name="TextBox 11"/>
          <p:cNvSpPr txBox="1"/>
          <p:nvPr/>
        </p:nvSpPr>
        <p:spPr>
          <a:xfrm>
            <a:off x="9481176" y="1766887"/>
            <a:ext cx="7721241" cy="2462213"/>
          </a:xfrm>
          <a:prstGeom prst="rect">
            <a:avLst/>
          </a:prstGeom>
        </p:spPr>
        <p:txBody>
          <a:bodyPr wrap="square" lIns="0" tIns="0" rIns="0" bIns="0" rtlCol="0" anchor="t">
            <a:spAutoFit/>
          </a:bodyPr>
          <a:lstStyle/>
          <a:p>
            <a:pPr lvl="0">
              <a:spcBef>
                <a:spcPct val="0"/>
              </a:spcBef>
            </a:pPr>
            <a:r>
              <a:rPr lang="en-US" sz="2000" dirty="0">
                <a:solidFill>
                  <a:schemeClr val="bg1"/>
                </a:solidFill>
                <a:latin typeface="Poppins" panose="00000500000000000000" pitchFamily="2" charset="0"/>
                <a:cs typeface="Poppins" panose="00000500000000000000" pitchFamily="2" charset="0"/>
              </a:rPr>
              <a:t>Lecturers mark handwritten scripts, diagrams, and vivas by hand. Effort grows with cohort size; wording of a correct answer can vary; partial credit is inconsistent; and feedback is delayed. </a:t>
            </a:r>
          </a:p>
          <a:p>
            <a:pPr lvl="0">
              <a:spcBef>
                <a:spcPct val="0"/>
              </a:spcBef>
            </a:pPr>
            <a:endParaRPr lang="en-US" sz="2000" dirty="0">
              <a:solidFill>
                <a:schemeClr val="bg1"/>
              </a:solidFill>
              <a:latin typeface="Poppins" panose="00000500000000000000" pitchFamily="2" charset="0"/>
              <a:cs typeface="Poppins" panose="00000500000000000000" pitchFamily="2" charset="0"/>
            </a:endParaRPr>
          </a:p>
          <a:p>
            <a:pPr lvl="0">
              <a:spcBef>
                <a:spcPct val="0"/>
              </a:spcBef>
            </a:pPr>
            <a:r>
              <a:rPr lang="en-US" sz="2000" dirty="0">
                <a:solidFill>
                  <a:schemeClr val="bg1"/>
                </a:solidFill>
                <a:latin typeface="Poppins" panose="00000500000000000000" pitchFamily="2" charset="0"/>
                <a:cs typeface="Poppins" panose="00000500000000000000" pitchFamily="2" charset="0"/>
              </a:rPr>
              <a:t>Existing tools usually cover only one mode (typed text, or recognition without grading), so institutions still lack one pipeline from scan or recording to a reviewable mark.</a:t>
            </a:r>
            <a:endParaRPr lang="en-US" sz="2000" spc="205" dirty="0">
              <a:solidFill>
                <a:schemeClr val="bg1"/>
              </a:solidFill>
              <a:latin typeface="Poppins" panose="00000500000000000000" pitchFamily="2" charset="0"/>
              <a:ea typeface="Open Sauce"/>
              <a:cs typeface="Poppins" panose="00000500000000000000" pitchFamily="2" charset="0"/>
              <a:sym typeface="Open Sauce"/>
            </a:endParaRPr>
          </a:p>
        </p:txBody>
      </p:sp>
      <p:sp>
        <p:nvSpPr>
          <p:cNvPr id="12" name="TextBox 12"/>
          <p:cNvSpPr txBox="1"/>
          <p:nvPr/>
        </p:nvSpPr>
        <p:spPr>
          <a:xfrm>
            <a:off x="9424433" y="7224665"/>
            <a:ext cx="5747455" cy="717113"/>
          </a:xfrm>
          <a:prstGeom prst="rect">
            <a:avLst/>
          </a:prstGeom>
        </p:spPr>
        <p:txBody>
          <a:bodyPr lIns="0" tIns="0" rIns="0" bIns="0" rtlCol="0" anchor="t">
            <a:spAutoFit/>
          </a:bodyPr>
          <a:lstStyle/>
          <a:p>
            <a:pPr marL="0" lvl="0" indent="0" algn="l">
              <a:lnSpc>
                <a:spcPts val="5584"/>
              </a:lnSpc>
              <a:spcBef>
                <a:spcPct val="0"/>
              </a:spcBef>
            </a:pPr>
            <a:r>
              <a:rPr lang="en-US" sz="4046" spc="396">
                <a:solidFill>
                  <a:srgbClr val="000000"/>
                </a:solidFill>
                <a:latin typeface="Poppins"/>
                <a:ea typeface="Poppins"/>
                <a:cs typeface="Poppins"/>
                <a:sym typeface="Poppins"/>
              </a:rPr>
              <a:t>Design Excellence</a:t>
            </a:r>
          </a:p>
        </p:txBody>
      </p:sp>
      <p:sp>
        <p:nvSpPr>
          <p:cNvPr id="13" name="Freeform 13"/>
          <p:cNvSpPr/>
          <p:nvPr/>
        </p:nvSpPr>
        <p:spPr>
          <a:xfrm>
            <a:off x="-2940384" y="824549"/>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4" name="Group 14"/>
          <p:cNvGrpSpPr/>
          <p:nvPr/>
        </p:nvGrpSpPr>
        <p:grpSpPr>
          <a:xfrm>
            <a:off x="-644916" y="-764253"/>
            <a:ext cx="2085109" cy="208510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5739"/>
            </a:solidFill>
            <a:ln cap="sq">
              <a:noFill/>
              <a:prstDash val="solid"/>
              <a:miter/>
            </a:ln>
          </p:spPr>
          <p:txBody>
            <a:bodyPr/>
            <a:lstStyle/>
            <a:p>
              <a:endParaRPr lang="en-US"/>
            </a:p>
          </p:txBody>
        </p:sp>
        <p:sp>
          <p:nvSpPr>
            <p:cNvPr id="16" name="TextBox 16"/>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7" name="Group 17"/>
          <p:cNvGrpSpPr/>
          <p:nvPr/>
        </p:nvGrpSpPr>
        <p:grpSpPr>
          <a:xfrm>
            <a:off x="702962" y="5679572"/>
            <a:ext cx="8441038" cy="4206542"/>
            <a:chOff x="0" y="0"/>
            <a:chExt cx="2267360" cy="1209029"/>
          </a:xfrm>
        </p:grpSpPr>
        <p:sp>
          <p:nvSpPr>
            <p:cNvPr id="18" name="Freeform 18"/>
            <p:cNvSpPr/>
            <p:nvPr/>
          </p:nvSpPr>
          <p:spPr>
            <a:xfrm>
              <a:off x="0" y="0"/>
              <a:ext cx="2267360" cy="1209029"/>
            </a:xfrm>
            <a:custGeom>
              <a:avLst/>
              <a:gdLst/>
              <a:ahLst/>
              <a:cxnLst/>
              <a:rect l="l" t="t" r="r" b="b"/>
              <a:pathLst>
                <a:path w="2267360" h="1209029">
                  <a:moveTo>
                    <a:pt x="2267360" y="40356"/>
                  </a:moveTo>
                  <a:lnTo>
                    <a:pt x="2267360" y="1168673"/>
                  </a:lnTo>
                  <a:cubicBezTo>
                    <a:pt x="2267360" y="1190961"/>
                    <a:pt x="2249292" y="1209029"/>
                    <a:pt x="2227004" y="1209029"/>
                  </a:cubicBezTo>
                  <a:lnTo>
                    <a:pt x="40356" y="1209029"/>
                  </a:lnTo>
                  <a:cubicBezTo>
                    <a:pt x="18068" y="1209029"/>
                    <a:pt x="0" y="1190961"/>
                    <a:pt x="0" y="1168673"/>
                  </a:cubicBezTo>
                  <a:lnTo>
                    <a:pt x="0" y="40356"/>
                  </a:lnTo>
                  <a:cubicBezTo>
                    <a:pt x="0" y="18068"/>
                    <a:pt x="18068" y="0"/>
                    <a:pt x="40356" y="0"/>
                  </a:cubicBezTo>
                  <a:lnTo>
                    <a:pt x="2227004" y="0"/>
                  </a:lnTo>
                  <a:cubicBezTo>
                    <a:pt x="2249292" y="0"/>
                    <a:pt x="2267360" y="18068"/>
                    <a:pt x="2267360" y="40356"/>
                  </a:cubicBezTo>
                  <a:close/>
                </a:path>
              </a:pathLst>
            </a:custGeom>
            <a:solidFill>
              <a:srgbClr val="1C5739"/>
            </a:solidFill>
          </p:spPr>
          <p:txBody>
            <a:bodyPr/>
            <a:lstStyle/>
            <a:p>
              <a:endParaRPr lang="en-US"/>
            </a:p>
          </p:txBody>
        </p:sp>
        <p:sp>
          <p:nvSpPr>
            <p:cNvPr id="19" name="TextBox 19"/>
            <p:cNvSpPr txBox="1"/>
            <p:nvPr/>
          </p:nvSpPr>
          <p:spPr>
            <a:xfrm>
              <a:off x="0" y="-19050"/>
              <a:ext cx="2267360" cy="1228079"/>
            </a:xfrm>
            <a:prstGeom prst="rect">
              <a:avLst/>
            </a:prstGeom>
          </p:spPr>
          <p:txBody>
            <a:bodyPr lIns="50800" tIns="50800" rIns="50800" bIns="50800" rtlCol="0" anchor="ctr"/>
            <a:lstStyle/>
            <a:p>
              <a:pPr algn="ctr">
                <a:lnSpc>
                  <a:spcPts val="2859"/>
                </a:lnSpc>
              </a:pPr>
              <a:endParaRPr/>
            </a:p>
          </p:txBody>
        </p:sp>
      </p:grpSp>
      <p:sp>
        <p:nvSpPr>
          <p:cNvPr id="20" name="TextBox 20"/>
          <p:cNvSpPr txBox="1"/>
          <p:nvPr/>
        </p:nvSpPr>
        <p:spPr>
          <a:xfrm>
            <a:off x="1143000" y="6286500"/>
            <a:ext cx="7539497" cy="3077766"/>
          </a:xfrm>
          <a:prstGeom prst="rect">
            <a:avLst/>
          </a:prstGeom>
        </p:spPr>
        <p:txBody>
          <a:bodyPr lIns="0" tIns="0" rIns="0" bIns="0" rtlCol="0" anchor="t">
            <a:spAutoFit/>
          </a:bodyPr>
          <a:lstStyle/>
          <a:p>
            <a:pPr lvl="0">
              <a:spcBef>
                <a:spcPct val="0"/>
              </a:spcBef>
            </a:pPr>
            <a:r>
              <a:rPr lang="en-US" sz="2000" dirty="0" err="1">
                <a:solidFill>
                  <a:schemeClr val="bg1"/>
                </a:solidFill>
                <a:latin typeface="Poppins" panose="00000500000000000000" pitchFamily="2" charset="0"/>
                <a:cs typeface="Poppins" panose="00000500000000000000" pitchFamily="2" charset="0"/>
              </a:rPr>
              <a:t>Gradex</a:t>
            </a:r>
            <a:r>
              <a:rPr lang="en-US" sz="2000" dirty="0">
                <a:solidFill>
                  <a:schemeClr val="bg1"/>
                </a:solidFill>
                <a:latin typeface="Poppins" panose="00000500000000000000" pitchFamily="2" charset="0"/>
                <a:cs typeface="Poppins" panose="00000500000000000000" pitchFamily="2" charset="0"/>
              </a:rPr>
              <a:t> integrates four engines behind a shared server (</a:t>
            </a:r>
            <a:r>
              <a:rPr lang="en-US" sz="2000" dirty="0" err="1">
                <a:solidFill>
                  <a:schemeClr val="bg1"/>
                </a:solidFill>
                <a:latin typeface="Poppins" panose="00000500000000000000" pitchFamily="2" charset="0"/>
                <a:cs typeface="Poppins" panose="00000500000000000000" pitchFamily="2" charset="0"/>
              </a:rPr>
              <a:t>Gradex_AI_Server</a:t>
            </a:r>
            <a:r>
              <a:rPr lang="en-US" sz="2000" dirty="0">
                <a:solidFill>
                  <a:schemeClr val="bg1"/>
                </a:solidFill>
                <a:latin typeface="Poppins" panose="00000500000000000000" pitchFamily="2" charset="0"/>
                <a:cs typeface="Poppins" panose="00000500000000000000" pitchFamily="2" charset="0"/>
              </a:rPr>
              <a:t>) and client (</a:t>
            </a:r>
            <a:r>
              <a:rPr lang="en-US" sz="2000" dirty="0" err="1">
                <a:solidFill>
                  <a:schemeClr val="bg1"/>
                </a:solidFill>
                <a:latin typeface="Poppins" panose="00000500000000000000" pitchFamily="2" charset="0"/>
                <a:cs typeface="Poppins" panose="00000500000000000000" pitchFamily="2" charset="0"/>
              </a:rPr>
              <a:t>Gradex_AI_Client</a:t>
            </a:r>
            <a:r>
              <a:rPr lang="en-US" sz="2000" dirty="0">
                <a:solidFill>
                  <a:schemeClr val="bg1"/>
                </a:solidFill>
                <a:latin typeface="Poppins" panose="00000500000000000000" pitchFamily="2" charset="0"/>
                <a:cs typeface="Poppins" panose="00000500000000000000" pitchFamily="2" charset="0"/>
              </a:rPr>
              <a:t>): Handwritten Grading, Diagram Evaluation, Viva Evaluation, and Adaptive Exam Analytics / Exam Creator. </a:t>
            </a:r>
          </a:p>
          <a:p>
            <a:pPr lvl="0">
              <a:spcBef>
                <a:spcPct val="0"/>
              </a:spcBef>
            </a:pPr>
            <a:endParaRPr lang="en-US" sz="2000" dirty="0">
              <a:solidFill>
                <a:schemeClr val="bg1"/>
              </a:solidFill>
              <a:latin typeface="Poppins" panose="00000500000000000000" pitchFamily="2" charset="0"/>
              <a:cs typeface="Poppins" panose="00000500000000000000" pitchFamily="2" charset="0"/>
            </a:endParaRPr>
          </a:p>
          <a:p>
            <a:pPr lvl="0">
              <a:spcBef>
                <a:spcPct val="0"/>
              </a:spcBef>
            </a:pPr>
            <a:r>
              <a:rPr lang="en-US" sz="2000" dirty="0">
                <a:solidFill>
                  <a:schemeClr val="bg1"/>
                </a:solidFill>
                <a:latin typeface="Poppins" panose="00000500000000000000" pitchFamily="2" charset="0"/>
                <a:cs typeface="Poppins" panose="00000500000000000000" pitchFamily="2" charset="0"/>
              </a:rPr>
              <a:t>It conditions scripts, extracts answers, grades against lecturer rubrics, scores diagrams and vivas, and returns Bloom-aware analytics and generated questions. Lecturers keep final authority over every mark.</a:t>
            </a:r>
            <a:endParaRPr lang="en-US" sz="2000" spc="196" dirty="0">
              <a:solidFill>
                <a:schemeClr val="bg1"/>
              </a:solidFill>
              <a:latin typeface="Poppins" panose="00000500000000000000" pitchFamily="2" charset="0"/>
              <a:ea typeface="Open Sauce"/>
              <a:cs typeface="Poppins" panose="00000500000000000000" pitchFamily="2" charset="0"/>
              <a:sym typeface="Open Sauce"/>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TextBox 2"/>
          <p:cNvSpPr txBox="1"/>
          <p:nvPr/>
        </p:nvSpPr>
        <p:spPr>
          <a:xfrm>
            <a:off x="999203" y="571500"/>
            <a:ext cx="14283470" cy="923330"/>
          </a:xfrm>
          <a:prstGeom prst="rect">
            <a:avLst/>
          </a:prstGeom>
        </p:spPr>
        <p:txBody>
          <a:bodyPr wrap="square" lIns="0" tIns="0" rIns="0" bIns="0" rtlCol="0" anchor="t">
            <a:spAutoFit/>
          </a:bodyPr>
          <a:lstStyle/>
          <a:p>
            <a:r>
              <a:rPr lang="en-US" sz="6000" b="1" dirty="0">
                <a:latin typeface="Signika Bold" panose="020B0604020202020204" charset="0"/>
                <a:ea typeface="STXinwei" panose="02010800040101010101" pitchFamily="2" charset="-122"/>
              </a:rPr>
              <a:t>IT22262554 - A. M. Senarathne</a:t>
            </a:r>
            <a:endParaRPr lang="en-US" sz="23900" b="1" dirty="0">
              <a:solidFill>
                <a:srgbClr val="000000"/>
              </a:solidFill>
              <a:latin typeface="Signika Bold" panose="020B0604020202020204" charset="0"/>
              <a:ea typeface="STXinwei" panose="02010800040101010101" pitchFamily="2" charset="-122"/>
              <a:cs typeface="Signika Bold"/>
              <a:sym typeface="Signika Bold"/>
            </a:endParaRPr>
          </a:p>
        </p:txBody>
      </p:sp>
      <p:sp>
        <p:nvSpPr>
          <p:cNvPr id="3" name="TextBox 3"/>
          <p:cNvSpPr txBox="1"/>
          <p:nvPr/>
        </p:nvSpPr>
        <p:spPr>
          <a:xfrm>
            <a:off x="999203" y="1742214"/>
            <a:ext cx="4991100" cy="430887"/>
          </a:xfrm>
          <a:prstGeom prst="rect">
            <a:avLst/>
          </a:prstGeom>
        </p:spPr>
        <p:txBody>
          <a:bodyPr wrap="square" lIns="0" tIns="0" rIns="0" bIns="0" rtlCol="0" anchor="t">
            <a:spAutoFit/>
          </a:bodyPr>
          <a:lstStyle/>
          <a:p>
            <a:r>
              <a:rPr lang="en-US" sz="2800" b="1" dirty="0">
                <a:solidFill>
                  <a:srgbClr val="5C8485"/>
                </a:solidFill>
                <a:latin typeface="DM Sans" pitchFamily="2" charset="0"/>
              </a:rPr>
              <a:t>Diagram Evaluation Engine</a:t>
            </a:r>
            <a:r>
              <a:rPr lang="en-US" sz="2400" b="1" dirty="0">
                <a:solidFill>
                  <a:srgbClr val="5C8485"/>
                </a:solidFill>
                <a:latin typeface="DM Sans" pitchFamily="2" charset="0"/>
                <a:ea typeface="DM Sans Bold"/>
                <a:cs typeface="DM Sans Bold"/>
                <a:sym typeface="DM Sans Bold"/>
              </a:rPr>
              <a:t> </a:t>
            </a:r>
          </a:p>
        </p:txBody>
      </p:sp>
      <p:grpSp>
        <p:nvGrpSpPr>
          <p:cNvPr id="7" name="Group 7"/>
          <p:cNvGrpSpPr/>
          <p:nvPr/>
        </p:nvGrpSpPr>
        <p:grpSpPr>
          <a:xfrm>
            <a:off x="-246165" y="7730909"/>
            <a:ext cx="19048322" cy="2379479"/>
            <a:chOff x="0" y="0"/>
            <a:chExt cx="5016842" cy="626694"/>
          </a:xfrm>
        </p:grpSpPr>
        <p:sp>
          <p:nvSpPr>
            <p:cNvPr id="8" name="Freeform 8"/>
            <p:cNvSpPr/>
            <p:nvPr/>
          </p:nvSpPr>
          <p:spPr>
            <a:xfrm>
              <a:off x="0" y="0"/>
              <a:ext cx="5016842" cy="626694"/>
            </a:xfrm>
            <a:custGeom>
              <a:avLst/>
              <a:gdLst/>
              <a:ahLst/>
              <a:cxnLst/>
              <a:rect l="l" t="t" r="r" b="b"/>
              <a:pathLst>
                <a:path w="5016842" h="626694">
                  <a:moveTo>
                    <a:pt x="0" y="0"/>
                  </a:moveTo>
                  <a:lnTo>
                    <a:pt x="5016842" y="0"/>
                  </a:lnTo>
                  <a:lnTo>
                    <a:pt x="5016842" y="626694"/>
                  </a:lnTo>
                  <a:lnTo>
                    <a:pt x="0" y="626694"/>
                  </a:lnTo>
                  <a:close/>
                </a:path>
              </a:pathLst>
            </a:custGeom>
            <a:solidFill>
              <a:srgbClr val="1C5739"/>
            </a:solidFill>
          </p:spPr>
          <p:txBody>
            <a:bodyPr/>
            <a:lstStyle/>
            <a:p>
              <a:endParaRPr lang="en-US"/>
            </a:p>
          </p:txBody>
        </p:sp>
        <p:sp>
          <p:nvSpPr>
            <p:cNvPr id="9" name="TextBox 9"/>
            <p:cNvSpPr txBox="1"/>
            <p:nvPr/>
          </p:nvSpPr>
          <p:spPr>
            <a:xfrm>
              <a:off x="0" y="-19050"/>
              <a:ext cx="5016842" cy="645744"/>
            </a:xfrm>
            <a:prstGeom prst="rect">
              <a:avLst/>
            </a:prstGeom>
          </p:spPr>
          <p:txBody>
            <a:bodyPr lIns="50800" tIns="50800" rIns="50800" bIns="50800" rtlCol="0" anchor="ctr"/>
            <a:lstStyle/>
            <a:p>
              <a:pPr algn="ctr">
                <a:lnSpc>
                  <a:spcPts val="2859"/>
                </a:lnSpc>
              </a:pPr>
              <a:endParaRPr/>
            </a:p>
          </p:txBody>
        </p:sp>
      </p:grpSp>
      <p:sp>
        <p:nvSpPr>
          <p:cNvPr id="10" name="Freeform 10"/>
          <p:cNvSpPr/>
          <p:nvPr/>
        </p:nvSpPr>
        <p:spPr>
          <a:xfrm>
            <a:off x="16253992" y="8182721"/>
            <a:ext cx="4116356" cy="4116356"/>
          </a:xfrm>
          <a:custGeom>
            <a:avLst/>
            <a:gdLst/>
            <a:ahLst/>
            <a:cxnLst/>
            <a:rect l="l" t="t" r="r" b="b"/>
            <a:pathLst>
              <a:path w="4116356" h="4116356">
                <a:moveTo>
                  <a:pt x="0" y="0"/>
                </a:moveTo>
                <a:lnTo>
                  <a:pt x="4116356" y="0"/>
                </a:lnTo>
                <a:lnTo>
                  <a:pt x="4116356" y="4116355"/>
                </a:lnTo>
                <a:lnTo>
                  <a:pt x="0" y="411635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1" name="Freeform 11"/>
          <p:cNvSpPr/>
          <p:nvPr/>
        </p:nvSpPr>
        <p:spPr>
          <a:xfrm>
            <a:off x="-2320542" y="7024288"/>
            <a:ext cx="3256087" cy="3256087"/>
          </a:xfrm>
          <a:custGeom>
            <a:avLst/>
            <a:gdLst/>
            <a:ahLst/>
            <a:cxnLst/>
            <a:rect l="l" t="t" r="r" b="b"/>
            <a:pathLst>
              <a:path w="3256087" h="3256087">
                <a:moveTo>
                  <a:pt x="0" y="0"/>
                </a:moveTo>
                <a:lnTo>
                  <a:pt x="3256087" y="0"/>
                </a:lnTo>
                <a:lnTo>
                  <a:pt x="3256087" y="3256086"/>
                </a:lnTo>
                <a:lnTo>
                  <a:pt x="0" y="325608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2" name="TextBox 12"/>
          <p:cNvSpPr txBox="1"/>
          <p:nvPr/>
        </p:nvSpPr>
        <p:spPr>
          <a:xfrm>
            <a:off x="4419600" y="9596403"/>
            <a:ext cx="8186908" cy="802079"/>
          </a:xfrm>
          <a:prstGeom prst="rect">
            <a:avLst/>
          </a:prstGeom>
        </p:spPr>
        <p:txBody>
          <a:bodyPr wrap="square" lIns="0" tIns="0" rIns="0" bIns="0" rtlCol="0" anchor="t">
            <a:spAutoFit/>
          </a:bodyPr>
          <a:lstStyle/>
          <a:p>
            <a:pPr>
              <a:lnSpc>
                <a:spcPts val="3185"/>
              </a:lnSpc>
            </a:pPr>
            <a:r>
              <a:rPr lang="en-US" sz="2800" b="1" dirty="0">
                <a:solidFill>
                  <a:schemeClr val="bg1"/>
                </a:solidFill>
              </a:rPr>
              <a:t>IT22262554</a:t>
            </a:r>
            <a:r>
              <a:rPr lang="en-US" sz="2400" b="1" dirty="0">
                <a:solidFill>
                  <a:schemeClr val="bg1"/>
                </a:solidFill>
                <a:latin typeface="DM Sans Bold"/>
                <a:ea typeface="DM Sans Bold"/>
                <a:cs typeface="DM Sans Bold"/>
                <a:sym typeface="DM Sans Bold"/>
              </a:rPr>
              <a:t>  | </a:t>
            </a:r>
            <a:r>
              <a:rPr lang="en-US" sz="2800" b="1" dirty="0">
                <a:solidFill>
                  <a:schemeClr val="bg1"/>
                </a:solidFill>
                <a:latin typeface="DM Sans Bold"/>
                <a:ea typeface="DM Sans Bold"/>
                <a:cs typeface="DM Sans Bold"/>
                <a:sym typeface="DM Sans Bold"/>
              </a:rPr>
              <a:t>Akila</a:t>
            </a:r>
            <a:r>
              <a:rPr lang="en-US" sz="2800" b="1" dirty="0">
                <a:solidFill>
                  <a:schemeClr val="bg1"/>
                </a:solidFill>
              </a:rPr>
              <a:t> Senarathne</a:t>
            </a:r>
            <a:r>
              <a:rPr lang="en-US" sz="2291" b="1" dirty="0">
                <a:solidFill>
                  <a:srgbClr val="FFFFFF"/>
                </a:solidFill>
                <a:latin typeface="DM Sans Bold"/>
                <a:ea typeface="DM Sans Bold"/>
                <a:cs typeface="DM Sans Bold"/>
                <a:sym typeface="DM Sans Bold"/>
              </a:rPr>
              <a:t>  |  </a:t>
            </a:r>
            <a:r>
              <a:rPr lang="en-US" sz="2400" spc="129" dirty="0">
                <a:solidFill>
                  <a:schemeClr val="accent3">
                    <a:lumMod val="40000"/>
                    <a:lumOff val="60000"/>
                  </a:schemeClr>
                </a:solidFill>
                <a:latin typeface="Open Sauce"/>
                <a:ea typeface="Open Sauce"/>
                <a:cs typeface="Open Sauce"/>
                <a:sym typeface="Open Sauce"/>
              </a:rPr>
              <a:t>R26-SE-025</a:t>
            </a:r>
            <a:r>
              <a:rPr lang="en-US" sz="2400" spc="129" dirty="0">
                <a:solidFill>
                  <a:srgbClr val="397D5A"/>
                </a:solidFill>
                <a:latin typeface="Open Sauce"/>
                <a:ea typeface="Open Sauce"/>
                <a:cs typeface="Open Sauce"/>
                <a:sym typeface="Open Sauce"/>
              </a:rPr>
              <a:t> </a:t>
            </a:r>
          </a:p>
          <a:p>
            <a:pPr algn="l">
              <a:lnSpc>
                <a:spcPts val="3185"/>
              </a:lnSpc>
            </a:pPr>
            <a:endParaRPr lang="en-US" sz="2291" b="1" dirty="0">
              <a:solidFill>
                <a:srgbClr val="FFFFFF"/>
              </a:solidFill>
              <a:latin typeface="DM Sans Bold"/>
              <a:ea typeface="DM Sans Bold"/>
              <a:cs typeface="DM Sans Bold"/>
              <a:sym typeface="DM Sans Bold"/>
            </a:endParaRPr>
          </a:p>
        </p:txBody>
      </p:sp>
      <p:sp>
        <p:nvSpPr>
          <p:cNvPr id="13" name="TextBox 13"/>
          <p:cNvSpPr txBox="1"/>
          <p:nvPr/>
        </p:nvSpPr>
        <p:spPr>
          <a:xfrm>
            <a:off x="14020800" y="9672603"/>
            <a:ext cx="2240574" cy="319190"/>
          </a:xfrm>
          <a:prstGeom prst="rect">
            <a:avLst/>
          </a:prstGeom>
        </p:spPr>
        <p:txBody>
          <a:bodyPr wrap="square" lIns="0" tIns="0" rIns="0" bIns="0" rtlCol="0" anchor="t">
            <a:spAutoFit/>
          </a:bodyPr>
          <a:lstStyle/>
          <a:p>
            <a:pPr algn="ctr">
              <a:lnSpc>
                <a:spcPts val="2411"/>
              </a:lnSpc>
              <a:spcBef>
                <a:spcPct val="0"/>
              </a:spcBef>
            </a:pPr>
            <a:r>
              <a:rPr lang="en-US" sz="2411" dirty="0">
                <a:solidFill>
                  <a:srgbClr val="FFFFFF"/>
                </a:solidFill>
                <a:latin typeface="DM Sans"/>
                <a:ea typeface="DM Sans"/>
                <a:cs typeface="DM Sans"/>
                <a:sym typeface="DM Sans"/>
              </a:rPr>
              <a:t>20/10/2026</a:t>
            </a:r>
          </a:p>
        </p:txBody>
      </p:sp>
      <p:grpSp>
        <p:nvGrpSpPr>
          <p:cNvPr id="14" name="Group 14"/>
          <p:cNvGrpSpPr/>
          <p:nvPr/>
        </p:nvGrpSpPr>
        <p:grpSpPr>
          <a:xfrm>
            <a:off x="999203" y="2515240"/>
            <a:ext cx="14312967" cy="2326958"/>
            <a:chOff x="0" y="0"/>
            <a:chExt cx="5260022" cy="855091"/>
          </a:xfrm>
        </p:grpSpPr>
        <p:sp>
          <p:nvSpPr>
            <p:cNvPr id="15" name="Freeform 15"/>
            <p:cNvSpPr/>
            <p:nvPr/>
          </p:nvSpPr>
          <p:spPr>
            <a:xfrm>
              <a:off x="0" y="0"/>
              <a:ext cx="5260022" cy="855091"/>
            </a:xfrm>
            <a:custGeom>
              <a:avLst/>
              <a:gdLst/>
              <a:ahLst/>
              <a:cxnLst/>
              <a:rect l="l" t="t" r="r" b="b"/>
              <a:pathLst>
                <a:path w="5260022" h="855091">
                  <a:moveTo>
                    <a:pt x="5260022" y="32995"/>
                  </a:moveTo>
                  <a:lnTo>
                    <a:pt x="5260022" y="822096"/>
                  </a:lnTo>
                  <a:cubicBezTo>
                    <a:pt x="5260022" y="840319"/>
                    <a:pt x="5245249" y="855091"/>
                    <a:pt x="5227027" y="855091"/>
                  </a:cubicBezTo>
                  <a:lnTo>
                    <a:pt x="32995" y="855091"/>
                  </a:lnTo>
                  <a:cubicBezTo>
                    <a:pt x="24244" y="855091"/>
                    <a:pt x="15852" y="851615"/>
                    <a:pt x="9664" y="845427"/>
                  </a:cubicBezTo>
                  <a:cubicBezTo>
                    <a:pt x="3476" y="839239"/>
                    <a:pt x="0" y="830847"/>
                    <a:pt x="0" y="822096"/>
                  </a:cubicBezTo>
                  <a:lnTo>
                    <a:pt x="0" y="32995"/>
                  </a:lnTo>
                  <a:cubicBezTo>
                    <a:pt x="0" y="24244"/>
                    <a:pt x="3476" y="15852"/>
                    <a:pt x="9664" y="9664"/>
                  </a:cubicBezTo>
                  <a:cubicBezTo>
                    <a:pt x="15852" y="3476"/>
                    <a:pt x="24244" y="0"/>
                    <a:pt x="32995" y="0"/>
                  </a:cubicBezTo>
                  <a:lnTo>
                    <a:pt x="5227027" y="0"/>
                  </a:lnTo>
                  <a:cubicBezTo>
                    <a:pt x="5235777" y="0"/>
                    <a:pt x="5244170" y="3476"/>
                    <a:pt x="5250357" y="9664"/>
                  </a:cubicBezTo>
                  <a:cubicBezTo>
                    <a:pt x="5256545" y="15852"/>
                    <a:pt x="5260022" y="24244"/>
                    <a:pt x="5260022" y="32995"/>
                  </a:cubicBezTo>
                  <a:close/>
                </a:path>
              </a:pathLst>
            </a:custGeom>
            <a:solidFill>
              <a:srgbClr val="1C5739">
                <a:alpha val="14902"/>
              </a:srgbClr>
            </a:solidFill>
          </p:spPr>
          <p:txBody>
            <a:bodyPr/>
            <a:lstStyle/>
            <a:p>
              <a:endParaRPr lang="en-US"/>
            </a:p>
          </p:txBody>
        </p:sp>
        <p:sp>
          <p:nvSpPr>
            <p:cNvPr id="16" name="TextBox 16"/>
            <p:cNvSpPr txBox="1"/>
            <p:nvPr/>
          </p:nvSpPr>
          <p:spPr>
            <a:xfrm>
              <a:off x="0" y="-19050"/>
              <a:ext cx="5260022" cy="874141"/>
            </a:xfrm>
            <a:prstGeom prst="rect">
              <a:avLst/>
            </a:prstGeom>
          </p:spPr>
          <p:txBody>
            <a:bodyPr lIns="50800" tIns="50800" rIns="50800" bIns="50800" rtlCol="0" anchor="ctr"/>
            <a:lstStyle/>
            <a:p>
              <a:pPr algn="ctr">
                <a:lnSpc>
                  <a:spcPts val="2859"/>
                </a:lnSpc>
              </a:pPr>
              <a:endParaRPr/>
            </a:p>
          </p:txBody>
        </p:sp>
      </p:grpSp>
      <p:sp>
        <p:nvSpPr>
          <p:cNvPr id="17" name="TextBox 17"/>
          <p:cNvSpPr txBox="1"/>
          <p:nvPr/>
        </p:nvSpPr>
        <p:spPr>
          <a:xfrm>
            <a:off x="1313962" y="2705100"/>
            <a:ext cx="13742441" cy="1615827"/>
          </a:xfrm>
          <a:prstGeom prst="rect">
            <a:avLst/>
          </a:prstGeom>
        </p:spPr>
        <p:txBody>
          <a:bodyPr lIns="0" tIns="0" rIns="0" bIns="0" rtlCol="0" anchor="t">
            <a:spAutoFit/>
          </a:bodyPr>
          <a:lstStyle/>
          <a:p>
            <a:pPr algn="l">
              <a:lnSpc>
                <a:spcPts val="2745"/>
              </a:lnSpc>
            </a:pPr>
            <a:r>
              <a:rPr lang="en-US" sz="1989" b="1" spc="194" dirty="0">
                <a:solidFill>
                  <a:srgbClr val="231F20"/>
                </a:solidFill>
                <a:latin typeface="Poppins" panose="00000500000000000000" pitchFamily="2" charset="0"/>
                <a:ea typeface="Open Sauce Bold"/>
                <a:cs typeface="Poppins" panose="00000500000000000000" pitchFamily="2" charset="0"/>
                <a:sym typeface="Open Sauce Bold"/>
              </a:rPr>
              <a:t>Brief Description:</a:t>
            </a:r>
          </a:p>
          <a:p>
            <a:pPr algn="l">
              <a:lnSpc>
                <a:spcPts val="2745"/>
              </a:lnSpc>
            </a:pPr>
            <a:endParaRPr lang="en-US" sz="1989" b="1" spc="194" dirty="0">
              <a:solidFill>
                <a:srgbClr val="231F20"/>
              </a:solidFill>
              <a:latin typeface="Poppins" panose="00000500000000000000" pitchFamily="2" charset="0"/>
              <a:ea typeface="Open Sauce Bold"/>
              <a:cs typeface="Poppins" panose="00000500000000000000" pitchFamily="2" charset="0"/>
              <a:sym typeface="Open Sauce Bold"/>
            </a:endParaRPr>
          </a:p>
          <a:p>
            <a:pPr lvl="0">
              <a:spcBef>
                <a:spcPct val="0"/>
              </a:spcBef>
            </a:pPr>
            <a:r>
              <a:rPr lang="en-US" sz="2000" dirty="0">
                <a:latin typeface="Poppins" panose="00000500000000000000" pitchFamily="2" charset="0"/>
                <a:cs typeface="Poppins" panose="00000500000000000000" pitchFamily="2" charset="0"/>
              </a:rPr>
              <a:t>Detects entities/relationships on student-drawn diagrams (YOLO-style detection + OCR on crops), matches structure to a lecturer guideline (ER-style), and grades with </a:t>
            </a:r>
            <a:r>
              <a:rPr lang="en-US" sz="2000" dirty="0" err="1">
                <a:latin typeface="Poppins" panose="00000500000000000000" pitchFamily="2" charset="0"/>
                <a:cs typeface="Poppins" panose="00000500000000000000" pitchFamily="2" charset="0"/>
              </a:rPr>
              <a:t>Groq</a:t>
            </a:r>
            <a:r>
              <a:rPr lang="en-US" sz="2000" dirty="0">
                <a:latin typeface="Poppins" panose="00000500000000000000" pitchFamily="2" charset="0"/>
                <a:cs typeface="Poppins" panose="00000500000000000000" pitchFamily="2" charset="0"/>
              </a:rPr>
              <a:t> against that guideline (default max 20). Relationship labels are relaxed so free-form wording is not punished.</a:t>
            </a:r>
            <a:endParaRPr lang="en-US" sz="1989" spc="194" dirty="0">
              <a:solidFill>
                <a:srgbClr val="231F20"/>
              </a:solidFill>
              <a:latin typeface="Poppins" panose="00000500000000000000" pitchFamily="2" charset="0"/>
              <a:ea typeface="Open Sauce"/>
              <a:cs typeface="Poppins" panose="00000500000000000000" pitchFamily="2" charset="0"/>
              <a:sym typeface="Open Sauce"/>
            </a:endParaRPr>
          </a:p>
        </p:txBody>
      </p:sp>
      <p:grpSp>
        <p:nvGrpSpPr>
          <p:cNvPr id="18" name="Group 18"/>
          <p:cNvGrpSpPr/>
          <p:nvPr/>
        </p:nvGrpSpPr>
        <p:grpSpPr>
          <a:xfrm>
            <a:off x="1028700" y="5130292"/>
            <a:ext cx="14348091" cy="2326958"/>
            <a:chOff x="0" y="0"/>
            <a:chExt cx="5272930" cy="855091"/>
          </a:xfrm>
        </p:grpSpPr>
        <p:sp>
          <p:nvSpPr>
            <p:cNvPr id="19" name="Freeform 19"/>
            <p:cNvSpPr/>
            <p:nvPr/>
          </p:nvSpPr>
          <p:spPr>
            <a:xfrm>
              <a:off x="0" y="0"/>
              <a:ext cx="5272930" cy="855091"/>
            </a:xfrm>
            <a:custGeom>
              <a:avLst/>
              <a:gdLst/>
              <a:ahLst/>
              <a:cxnLst/>
              <a:rect l="l" t="t" r="r" b="b"/>
              <a:pathLst>
                <a:path w="5272930" h="855091">
                  <a:moveTo>
                    <a:pt x="5272930" y="32914"/>
                  </a:moveTo>
                  <a:lnTo>
                    <a:pt x="5272930" y="822177"/>
                  </a:lnTo>
                  <a:cubicBezTo>
                    <a:pt x="5272930" y="830906"/>
                    <a:pt x="5269462" y="839278"/>
                    <a:pt x="5263289" y="845451"/>
                  </a:cubicBezTo>
                  <a:cubicBezTo>
                    <a:pt x="5257117" y="851623"/>
                    <a:pt x="5248745" y="855091"/>
                    <a:pt x="5240015" y="855091"/>
                  </a:cubicBezTo>
                  <a:lnTo>
                    <a:pt x="32914" y="855091"/>
                  </a:lnTo>
                  <a:cubicBezTo>
                    <a:pt x="24185" y="855091"/>
                    <a:pt x="15813" y="851623"/>
                    <a:pt x="9640" y="845451"/>
                  </a:cubicBezTo>
                  <a:cubicBezTo>
                    <a:pt x="3468" y="839278"/>
                    <a:pt x="0" y="830906"/>
                    <a:pt x="0" y="822177"/>
                  </a:cubicBezTo>
                  <a:lnTo>
                    <a:pt x="0" y="32914"/>
                  </a:lnTo>
                  <a:cubicBezTo>
                    <a:pt x="0" y="24185"/>
                    <a:pt x="3468" y="15813"/>
                    <a:pt x="9640" y="9640"/>
                  </a:cubicBezTo>
                  <a:cubicBezTo>
                    <a:pt x="15813" y="3468"/>
                    <a:pt x="24185" y="0"/>
                    <a:pt x="32914" y="0"/>
                  </a:cubicBezTo>
                  <a:lnTo>
                    <a:pt x="5240015" y="0"/>
                  </a:lnTo>
                  <a:cubicBezTo>
                    <a:pt x="5248745" y="0"/>
                    <a:pt x="5257117" y="3468"/>
                    <a:pt x="5263289" y="9640"/>
                  </a:cubicBezTo>
                  <a:cubicBezTo>
                    <a:pt x="5269462" y="15813"/>
                    <a:pt x="5272930" y="24185"/>
                    <a:pt x="5272930" y="32914"/>
                  </a:cubicBezTo>
                  <a:close/>
                </a:path>
              </a:pathLst>
            </a:custGeom>
            <a:solidFill>
              <a:srgbClr val="1C5739">
                <a:alpha val="14902"/>
              </a:srgbClr>
            </a:solidFill>
          </p:spPr>
          <p:txBody>
            <a:bodyPr/>
            <a:lstStyle/>
            <a:p>
              <a:endParaRPr lang="en-US"/>
            </a:p>
          </p:txBody>
        </p:sp>
        <p:sp>
          <p:nvSpPr>
            <p:cNvPr id="20" name="TextBox 20"/>
            <p:cNvSpPr txBox="1"/>
            <p:nvPr/>
          </p:nvSpPr>
          <p:spPr>
            <a:xfrm>
              <a:off x="0" y="-19050"/>
              <a:ext cx="5272930" cy="874141"/>
            </a:xfrm>
            <a:prstGeom prst="rect">
              <a:avLst/>
            </a:prstGeom>
          </p:spPr>
          <p:txBody>
            <a:bodyPr lIns="50800" tIns="50800" rIns="50800" bIns="50800" rtlCol="0" anchor="ctr"/>
            <a:lstStyle/>
            <a:p>
              <a:pPr algn="ctr">
                <a:lnSpc>
                  <a:spcPts val="2859"/>
                </a:lnSpc>
              </a:pPr>
              <a:endParaRPr/>
            </a:p>
          </p:txBody>
        </p:sp>
      </p:grpSp>
      <p:sp>
        <p:nvSpPr>
          <p:cNvPr id="21" name="TextBox 21"/>
          <p:cNvSpPr txBox="1"/>
          <p:nvPr/>
        </p:nvSpPr>
        <p:spPr>
          <a:xfrm>
            <a:off x="1313962" y="5305863"/>
            <a:ext cx="13742441" cy="1308050"/>
          </a:xfrm>
          <a:prstGeom prst="rect">
            <a:avLst/>
          </a:prstGeom>
        </p:spPr>
        <p:txBody>
          <a:bodyPr lIns="0" tIns="0" rIns="0" bIns="0" rtlCol="0" anchor="t">
            <a:spAutoFit/>
          </a:bodyPr>
          <a:lstStyle/>
          <a:p>
            <a:pPr algn="l">
              <a:lnSpc>
                <a:spcPts val="2731"/>
              </a:lnSpc>
            </a:pPr>
            <a:r>
              <a:rPr lang="en-US" sz="1979" b="1" spc="193" dirty="0">
                <a:solidFill>
                  <a:srgbClr val="231F20"/>
                </a:solidFill>
                <a:latin typeface="Poppins" panose="00000500000000000000" pitchFamily="2" charset="0"/>
                <a:ea typeface="Open Sauce Bold"/>
                <a:cs typeface="Poppins" panose="00000500000000000000" pitchFamily="2" charset="0"/>
                <a:sym typeface="Open Sauce Bold"/>
              </a:rPr>
              <a:t>How It Fits the Whole Solution:</a:t>
            </a:r>
          </a:p>
          <a:p>
            <a:pPr algn="l">
              <a:lnSpc>
                <a:spcPts val="2731"/>
              </a:lnSpc>
            </a:pPr>
            <a:endParaRPr lang="en-US" sz="1979" b="1" spc="193" dirty="0">
              <a:solidFill>
                <a:srgbClr val="231F20"/>
              </a:solidFill>
              <a:latin typeface="Poppins" panose="00000500000000000000" pitchFamily="2" charset="0"/>
              <a:ea typeface="Open Sauce Bold"/>
              <a:cs typeface="Poppins" panose="00000500000000000000" pitchFamily="2" charset="0"/>
              <a:sym typeface="Open Sauce Bold"/>
            </a:endParaRPr>
          </a:p>
          <a:p>
            <a:pPr lvl="0">
              <a:spcBef>
                <a:spcPct val="0"/>
              </a:spcBef>
            </a:pPr>
            <a:r>
              <a:rPr lang="en-US" sz="2000" dirty="0">
                <a:latin typeface="Poppins" panose="00000500000000000000" pitchFamily="2" charset="0"/>
                <a:cs typeface="Poppins" panose="00000500000000000000" pitchFamily="2" charset="0"/>
              </a:rPr>
              <a:t>Covers the constructed-response mode that text grading cannot including drawings. Diagram marks join essay totals in analytics.</a:t>
            </a:r>
            <a:endParaRPr lang="en-US" sz="1979" spc="193" dirty="0">
              <a:solidFill>
                <a:srgbClr val="231F20"/>
              </a:solidFill>
              <a:latin typeface="Poppins" panose="00000500000000000000" pitchFamily="2" charset="0"/>
              <a:ea typeface="Open Sauce"/>
              <a:cs typeface="Poppins" panose="00000500000000000000" pitchFamily="2" charset="0"/>
              <a:sym typeface="Open Sauce"/>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246165" y="7730909"/>
            <a:ext cx="19048322" cy="2379479"/>
            <a:chOff x="0" y="0"/>
            <a:chExt cx="5016842" cy="626694"/>
          </a:xfrm>
        </p:grpSpPr>
        <p:sp>
          <p:nvSpPr>
            <p:cNvPr id="4" name="Freeform 4"/>
            <p:cNvSpPr/>
            <p:nvPr/>
          </p:nvSpPr>
          <p:spPr>
            <a:xfrm>
              <a:off x="0" y="0"/>
              <a:ext cx="5016842" cy="626694"/>
            </a:xfrm>
            <a:custGeom>
              <a:avLst/>
              <a:gdLst/>
              <a:ahLst/>
              <a:cxnLst/>
              <a:rect l="l" t="t" r="r" b="b"/>
              <a:pathLst>
                <a:path w="5016842" h="626694">
                  <a:moveTo>
                    <a:pt x="0" y="0"/>
                  </a:moveTo>
                  <a:lnTo>
                    <a:pt x="5016842" y="0"/>
                  </a:lnTo>
                  <a:lnTo>
                    <a:pt x="5016842" y="626694"/>
                  </a:lnTo>
                  <a:lnTo>
                    <a:pt x="0" y="626694"/>
                  </a:lnTo>
                  <a:close/>
                </a:path>
              </a:pathLst>
            </a:custGeom>
            <a:solidFill>
              <a:srgbClr val="1C5739"/>
            </a:solidFill>
          </p:spPr>
          <p:txBody>
            <a:bodyPr/>
            <a:lstStyle/>
            <a:p>
              <a:endParaRPr lang="en-US"/>
            </a:p>
          </p:txBody>
        </p:sp>
        <p:sp>
          <p:nvSpPr>
            <p:cNvPr id="5" name="TextBox 5"/>
            <p:cNvSpPr txBox="1"/>
            <p:nvPr/>
          </p:nvSpPr>
          <p:spPr>
            <a:xfrm>
              <a:off x="0" y="-19050"/>
              <a:ext cx="5016842" cy="645744"/>
            </a:xfrm>
            <a:prstGeom prst="rect">
              <a:avLst/>
            </a:prstGeom>
          </p:spPr>
          <p:txBody>
            <a:bodyPr lIns="50800" tIns="50800" rIns="50800" bIns="50800" rtlCol="0" anchor="ctr"/>
            <a:lstStyle/>
            <a:p>
              <a:pPr algn="ctr">
                <a:lnSpc>
                  <a:spcPts val="2859"/>
                </a:lnSpc>
              </a:pPr>
              <a:endParaRPr/>
            </a:p>
          </p:txBody>
        </p:sp>
      </p:grpSp>
      <p:sp>
        <p:nvSpPr>
          <p:cNvPr id="6" name="Freeform 6"/>
          <p:cNvSpPr/>
          <p:nvPr/>
        </p:nvSpPr>
        <p:spPr>
          <a:xfrm>
            <a:off x="16253992" y="8182721"/>
            <a:ext cx="4116356" cy="4116356"/>
          </a:xfrm>
          <a:custGeom>
            <a:avLst/>
            <a:gdLst/>
            <a:ahLst/>
            <a:cxnLst/>
            <a:rect l="l" t="t" r="r" b="b"/>
            <a:pathLst>
              <a:path w="4116356" h="4116356">
                <a:moveTo>
                  <a:pt x="0" y="0"/>
                </a:moveTo>
                <a:lnTo>
                  <a:pt x="4116356" y="0"/>
                </a:lnTo>
                <a:lnTo>
                  <a:pt x="4116356" y="4116355"/>
                </a:lnTo>
                <a:lnTo>
                  <a:pt x="0" y="41163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2320542" y="7024288"/>
            <a:ext cx="3256087" cy="3256087"/>
          </a:xfrm>
          <a:custGeom>
            <a:avLst/>
            <a:gdLst/>
            <a:ahLst/>
            <a:cxnLst/>
            <a:rect l="l" t="t" r="r" b="b"/>
            <a:pathLst>
              <a:path w="3256087" h="3256087">
                <a:moveTo>
                  <a:pt x="0" y="0"/>
                </a:moveTo>
                <a:lnTo>
                  <a:pt x="3256087" y="0"/>
                </a:lnTo>
                <a:lnTo>
                  <a:pt x="3256087" y="3256086"/>
                </a:lnTo>
                <a:lnTo>
                  <a:pt x="0" y="325608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1" name="Group 11"/>
          <p:cNvGrpSpPr/>
          <p:nvPr/>
        </p:nvGrpSpPr>
        <p:grpSpPr>
          <a:xfrm>
            <a:off x="1028700" y="2453476"/>
            <a:ext cx="14312967" cy="2326958"/>
            <a:chOff x="0" y="0"/>
            <a:chExt cx="5260022" cy="855091"/>
          </a:xfrm>
        </p:grpSpPr>
        <p:sp>
          <p:nvSpPr>
            <p:cNvPr id="12" name="Freeform 12"/>
            <p:cNvSpPr/>
            <p:nvPr/>
          </p:nvSpPr>
          <p:spPr>
            <a:xfrm>
              <a:off x="0" y="0"/>
              <a:ext cx="5260022" cy="855091"/>
            </a:xfrm>
            <a:custGeom>
              <a:avLst/>
              <a:gdLst/>
              <a:ahLst/>
              <a:cxnLst/>
              <a:rect l="l" t="t" r="r" b="b"/>
              <a:pathLst>
                <a:path w="5260022" h="855091">
                  <a:moveTo>
                    <a:pt x="5260022" y="32995"/>
                  </a:moveTo>
                  <a:lnTo>
                    <a:pt x="5260022" y="822096"/>
                  </a:lnTo>
                  <a:cubicBezTo>
                    <a:pt x="5260022" y="840319"/>
                    <a:pt x="5245249" y="855091"/>
                    <a:pt x="5227027" y="855091"/>
                  </a:cubicBezTo>
                  <a:lnTo>
                    <a:pt x="32995" y="855091"/>
                  </a:lnTo>
                  <a:cubicBezTo>
                    <a:pt x="24244" y="855091"/>
                    <a:pt x="15852" y="851615"/>
                    <a:pt x="9664" y="845427"/>
                  </a:cubicBezTo>
                  <a:cubicBezTo>
                    <a:pt x="3476" y="839239"/>
                    <a:pt x="0" y="830847"/>
                    <a:pt x="0" y="822096"/>
                  </a:cubicBezTo>
                  <a:lnTo>
                    <a:pt x="0" y="32995"/>
                  </a:lnTo>
                  <a:cubicBezTo>
                    <a:pt x="0" y="24244"/>
                    <a:pt x="3476" y="15852"/>
                    <a:pt x="9664" y="9664"/>
                  </a:cubicBezTo>
                  <a:cubicBezTo>
                    <a:pt x="15852" y="3476"/>
                    <a:pt x="24244" y="0"/>
                    <a:pt x="32995" y="0"/>
                  </a:cubicBezTo>
                  <a:lnTo>
                    <a:pt x="5227027" y="0"/>
                  </a:lnTo>
                  <a:cubicBezTo>
                    <a:pt x="5235777" y="0"/>
                    <a:pt x="5244170" y="3476"/>
                    <a:pt x="5250357" y="9664"/>
                  </a:cubicBezTo>
                  <a:cubicBezTo>
                    <a:pt x="5256545" y="15852"/>
                    <a:pt x="5260022" y="24244"/>
                    <a:pt x="5260022" y="32995"/>
                  </a:cubicBezTo>
                  <a:close/>
                </a:path>
              </a:pathLst>
            </a:custGeom>
            <a:solidFill>
              <a:srgbClr val="1C5739">
                <a:alpha val="14902"/>
              </a:srgbClr>
            </a:solidFill>
          </p:spPr>
          <p:txBody>
            <a:bodyPr/>
            <a:lstStyle/>
            <a:p>
              <a:endParaRPr lang="en-US"/>
            </a:p>
          </p:txBody>
        </p:sp>
        <p:sp>
          <p:nvSpPr>
            <p:cNvPr id="13" name="TextBox 13"/>
            <p:cNvSpPr txBox="1"/>
            <p:nvPr/>
          </p:nvSpPr>
          <p:spPr>
            <a:xfrm>
              <a:off x="0" y="-19050"/>
              <a:ext cx="5260022" cy="874141"/>
            </a:xfrm>
            <a:prstGeom prst="rect">
              <a:avLst/>
            </a:prstGeom>
          </p:spPr>
          <p:txBody>
            <a:bodyPr lIns="50800" tIns="50800" rIns="50800" bIns="50800" rtlCol="0" anchor="ctr"/>
            <a:lstStyle/>
            <a:p>
              <a:pPr algn="ctr">
                <a:lnSpc>
                  <a:spcPts val="2859"/>
                </a:lnSpc>
              </a:pPr>
              <a:endParaRPr/>
            </a:p>
          </p:txBody>
        </p:sp>
      </p:grpSp>
      <p:grpSp>
        <p:nvGrpSpPr>
          <p:cNvPr id="14" name="Group 14"/>
          <p:cNvGrpSpPr/>
          <p:nvPr/>
        </p:nvGrpSpPr>
        <p:grpSpPr>
          <a:xfrm>
            <a:off x="1028700" y="5063617"/>
            <a:ext cx="14348091" cy="2326958"/>
            <a:chOff x="0" y="0"/>
            <a:chExt cx="5272930" cy="855091"/>
          </a:xfrm>
        </p:grpSpPr>
        <p:sp>
          <p:nvSpPr>
            <p:cNvPr id="15" name="Freeform 15"/>
            <p:cNvSpPr/>
            <p:nvPr/>
          </p:nvSpPr>
          <p:spPr>
            <a:xfrm>
              <a:off x="0" y="0"/>
              <a:ext cx="5272930" cy="855091"/>
            </a:xfrm>
            <a:custGeom>
              <a:avLst/>
              <a:gdLst/>
              <a:ahLst/>
              <a:cxnLst/>
              <a:rect l="l" t="t" r="r" b="b"/>
              <a:pathLst>
                <a:path w="5272930" h="855091">
                  <a:moveTo>
                    <a:pt x="5272930" y="32914"/>
                  </a:moveTo>
                  <a:lnTo>
                    <a:pt x="5272930" y="822177"/>
                  </a:lnTo>
                  <a:cubicBezTo>
                    <a:pt x="5272930" y="830906"/>
                    <a:pt x="5269462" y="839278"/>
                    <a:pt x="5263289" y="845451"/>
                  </a:cubicBezTo>
                  <a:cubicBezTo>
                    <a:pt x="5257117" y="851623"/>
                    <a:pt x="5248745" y="855091"/>
                    <a:pt x="5240015" y="855091"/>
                  </a:cubicBezTo>
                  <a:lnTo>
                    <a:pt x="32914" y="855091"/>
                  </a:lnTo>
                  <a:cubicBezTo>
                    <a:pt x="24185" y="855091"/>
                    <a:pt x="15813" y="851623"/>
                    <a:pt x="9640" y="845451"/>
                  </a:cubicBezTo>
                  <a:cubicBezTo>
                    <a:pt x="3468" y="839278"/>
                    <a:pt x="0" y="830906"/>
                    <a:pt x="0" y="822177"/>
                  </a:cubicBezTo>
                  <a:lnTo>
                    <a:pt x="0" y="32914"/>
                  </a:lnTo>
                  <a:cubicBezTo>
                    <a:pt x="0" y="24185"/>
                    <a:pt x="3468" y="15813"/>
                    <a:pt x="9640" y="9640"/>
                  </a:cubicBezTo>
                  <a:cubicBezTo>
                    <a:pt x="15813" y="3468"/>
                    <a:pt x="24185" y="0"/>
                    <a:pt x="32914" y="0"/>
                  </a:cubicBezTo>
                  <a:lnTo>
                    <a:pt x="5240015" y="0"/>
                  </a:lnTo>
                  <a:cubicBezTo>
                    <a:pt x="5248745" y="0"/>
                    <a:pt x="5257117" y="3468"/>
                    <a:pt x="5263289" y="9640"/>
                  </a:cubicBezTo>
                  <a:cubicBezTo>
                    <a:pt x="5269462" y="15813"/>
                    <a:pt x="5272930" y="24185"/>
                    <a:pt x="5272930" y="32914"/>
                  </a:cubicBezTo>
                  <a:close/>
                </a:path>
              </a:pathLst>
            </a:custGeom>
            <a:solidFill>
              <a:srgbClr val="1C5739">
                <a:alpha val="14902"/>
              </a:srgbClr>
            </a:solidFill>
          </p:spPr>
          <p:txBody>
            <a:bodyPr/>
            <a:lstStyle/>
            <a:p>
              <a:endParaRPr lang="en-US"/>
            </a:p>
          </p:txBody>
        </p:sp>
        <p:sp>
          <p:nvSpPr>
            <p:cNvPr id="16" name="TextBox 16"/>
            <p:cNvSpPr txBox="1"/>
            <p:nvPr/>
          </p:nvSpPr>
          <p:spPr>
            <a:xfrm>
              <a:off x="0" y="-19050"/>
              <a:ext cx="5272930" cy="874141"/>
            </a:xfrm>
            <a:prstGeom prst="rect">
              <a:avLst/>
            </a:prstGeom>
          </p:spPr>
          <p:txBody>
            <a:bodyPr lIns="50800" tIns="50800" rIns="50800" bIns="50800" rtlCol="0" anchor="ctr"/>
            <a:lstStyle/>
            <a:p>
              <a:pPr algn="ctr">
                <a:lnSpc>
                  <a:spcPts val="2859"/>
                </a:lnSpc>
              </a:pPr>
              <a:endParaRPr/>
            </a:p>
          </p:txBody>
        </p:sp>
      </p:grpSp>
      <p:sp>
        <p:nvSpPr>
          <p:cNvPr id="19" name="TextBox 19"/>
          <p:cNvSpPr txBox="1"/>
          <p:nvPr/>
        </p:nvSpPr>
        <p:spPr>
          <a:xfrm>
            <a:off x="5830984" y="9572625"/>
            <a:ext cx="7148030" cy="802079"/>
          </a:xfrm>
          <a:prstGeom prst="rect">
            <a:avLst/>
          </a:prstGeom>
        </p:spPr>
        <p:txBody>
          <a:bodyPr lIns="0" tIns="0" rIns="0" bIns="0" rtlCol="0" anchor="t">
            <a:spAutoFit/>
          </a:bodyPr>
          <a:lstStyle/>
          <a:p>
            <a:pPr>
              <a:lnSpc>
                <a:spcPts val="3185"/>
              </a:lnSpc>
            </a:pPr>
            <a:r>
              <a:rPr lang="en-US" sz="2291" b="1" dirty="0">
                <a:solidFill>
                  <a:srgbClr val="FFFFFF"/>
                </a:solidFill>
                <a:latin typeface="DM Sans Bold"/>
                <a:ea typeface="DM Sans Bold"/>
                <a:cs typeface="DM Sans Bold"/>
                <a:sym typeface="DM Sans Bold"/>
              </a:rPr>
              <a:t>IT22134776  |  Supun </a:t>
            </a:r>
            <a:r>
              <a:rPr lang="en-US" sz="2291" b="1" dirty="0" err="1">
                <a:solidFill>
                  <a:srgbClr val="FFFFFF"/>
                </a:solidFill>
                <a:latin typeface="DM Sans Bold"/>
                <a:ea typeface="DM Sans Bold"/>
                <a:cs typeface="DM Sans Bold"/>
                <a:sym typeface="DM Sans Bold"/>
              </a:rPr>
              <a:t>Hemarathne</a:t>
            </a:r>
            <a:r>
              <a:rPr lang="en-US" sz="2291" b="1" dirty="0">
                <a:solidFill>
                  <a:srgbClr val="FFFFFF"/>
                </a:solidFill>
                <a:latin typeface="DM Sans Bold"/>
                <a:ea typeface="DM Sans Bold"/>
                <a:cs typeface="DM Sans Bold"/>
                <a:sym typeface="DM Sans Bold"/>
              </a:rPr>
              <a:t>  | </a:t>
            </a:r>
            <a:r>
              <a:rPr lang="en-US" sz="2000" spc="129" dirty="0">
                <a:solidFill>
                  <a:schemeClr val="accent3">
                    <a:lumMod val="40000"/>
                    <a:lumOff val="60000"/>
                  </a:schemeClr>
                </a:solidFill>
                <a:latin typeface="Open Sauce"/>
                <a:ea typeface="Open Sauce"/>
                <a:cs typeface="Open Sauce"/>
                <a:sym typeface="Open Sauce"/>
              </a:rPr>
              <a:t>R26-SE-025</a:t>
            </a:r>
            <a:r>
              <a:rPr lang="en-US" sz="2400" spc="129" dirty="0">
                <a:solidFill>
                  <a:srgbClr val="397D5A"/>
                </a:solidFill>
                <a:latin typeface="Open Sauce"/>
                <a:ea typeface="Open Sauce"/>
                <a:cs typeface="Open Sauce"/>
                <a:sym typeface="Open Sauce"/>
              </a:rPr>
              <a:t> </a:t>
            </a:r>
          </a:p>
          <a:p>
            <a:pPr algn="l">
              <a:lnSpc>
                <a:spcPts val="3185"/>
              </a:lnSpc>
            </a:pPr>
            <a:endParaRPr lang="en-US" sz="2291" b="1" dirty="0">
              <a:solidFill>
                <a:srgbClr val="FFFFFF"/>
              </a:solidFill>
              <a:latin typeface="DM Sans Bold"/>
              <a:ea typeface="DM Sans Bold"/>
              <a:cs typeface="DM Sans Bold"/>
              <a:sym typeface="DM Sans Bold"/>
            </a:endParaRPr>
          </a:p>
        </p:txBody>
      </p:sp>
      <p:sp>
        <p:nvSpPr>
          <p:cNvPr id="21" name="TextBox 21"/>
          <p:cNvSpPr txBox="1"/>
          <p:nvPr/>
        </p:nvSpPr>
        <p:spPr>
          <a:xfrm>
            <a:off x="1432672" y="2666885"/>
            <a:ext cx="13742441" cy="1615827"/>
          </a:xfrm>
          <a:prstGeom prst="rect">
            <a:avLst/>
          </a:prstGeom>
        </p:spPr>
        <p:txBody>
          <a:bodyPr lIns="0" tIns="0" rIns="0" bIns="0" rtlCol="0" anchor="t">
            <a:spAutoFit/>
          </a:bodyPr>
          <a:lstStyle/>
          <a:p>
            <a:pPr algn="l">
              <a:lnSpc>
                <a:spcPts val="2745"/>
              </a:lnSpc>
            </a:pPr>
            <a:r>
              <a:rPr lang="en-US" sz="1989" b="1" spc="194" dirty="0">
                <a:solidFill>
                  <a:srgbClr val="231F20"/>
                </a:solidFill>
                <a:latin typeface="Open Sauce Bold"/>
                <a:ea typeface="Open Sauce Bold"/>
                <a:cs typeface="Open Sauce Bold"/>
                <a:sym typeface="Open Sauce Bold"/>
              </a:rPr>
              <a:t>Brief Description:</a:t>
            </a:r>
          </a:p>
          <a:p>
            <a:pPr algn="l">
              <a:lnSpc>
                <a:spcPts val="2745"/>
              </a:lnSpc>
            </a:pPr>
            <a:endParaRPr lang="en-US" sz="1989" b="1" spc="194" dirty="0">
              <a:solidFill>
                <a:srgbClr val="231F20"/>
              </a:solidFill>
              <a:latin typeface="Open Sauce Bold"/>
              <a:ea typeface="Open Sauce Bold"/>
              <a:cs typeface="Open Sauce Bold"/>
              <a:sym typeface="Open Sauce Bold"/>
            </a:endParaRPr>
          </a:p>
          <a:p>
            <a:pPr lvl="0">
              <a:spcBef>
                <a:spcPct val="0"/>
              </a:spcBef>
            </a:pPr>
            <a:r>
              <a:rPr lang="en-US" sz="1989" spc="194" dirty="0" err="1">
                <a:solidFill>
                  <a:srgbClr val="231F20"/>
                </a:solidFill>
                <a:latin typeface="Open Sauce"/>
                <a:ea typeface="Open Sauce"/>
                <a:cs typeface="Open Sauce"/>
                <a:sym typeface="Open Sauce"/>
              </a:rPr>
              <a:t>T</a:t>
            </a:r>
            <a:r>
              <a:rPr lang="en-US" sz="2000" dirty="0" err="1"/>
              <a:t>Materializes</a:t>
            </a:r>
            <a:r>
              <a:rPr lang="en-US" sz="2000" dirty="0"/>
              <a:t> per-student analytics from graded submissions, classifies question semantics (Bloom levels, topics) with a local </a:t>
            </a:r>
            <a:r>
              <a:rPr lang="en-US" sz="2000" dirty="0" err="1"/>
              <a:t>ModernBERT</a:t>
            </a:r>
            <a:r>
              <a:rPr lang="en-US" sz="2000" dirty="0"/>
              <a:t> checkpoint, and serves a lecturer dashboard. Exam Creator builds blueprints, source-grounded question alternatives, and marking-scheme exports from course evidence.</a:t>
            </a:r>
            <a:endParaRPr lang="en-US" sz="1989" spc="194" dirty="0">
              <a:solidFill>
                <a:srgbClr val="231F20"/>
              </a:solidFill>
              <a:latin typeface="Open Sauce"/>
              <a:ea typeface="Open Sauce"/>
              <a:cs typeface="Open Sauce"/>
              <a:sym typeface="Open Sauce"/>
            </a:endParaRPr>
          </a:p>
        </p:txBody>
      </p:sp>
      <p:sp>
        <p:nvSpPr>
          <p:cNvPr id="22" name="TextBox 22"/>
          <p:cNvSpPr txBox="1"/>
          <p:nvPr/>
        </p:nvSpPr>
        <p:spPr>
          <a:xfrm>
            <a:off x="1432672" y="5259781"/>
            <a:ext cx="13742441" cy="1308050"/>
          </a:xfrm>
          <a:prstGeom prst="rect">
            <a:avLst/>
          </a:prstGeom>
        </p:spPr>
        <p:txBody>
          <a:bodyPr lIns="0" tIns="0" rIns="0" bIns="0" rtlCol="0" anchor="t">
            <a:spAutoFit/>
          </a:bodyPr>
          <a:lstStyle/>
          <a:p>
            <a:pPr algn="l">
              <a:lnSpc>
                <a:spcPts val="2731"/>
              </a:lnSpc>
            </a:pPr>
            <a:r>
              <a:rPr lang="en-US" sz="1979" b="1" spc="193" dirty="0">
                <a:solidFill>
                  <a:srgbClr val="231F20"/>
                </a:solidFill>
                <a:latin typeface="Open Sauce Bold"/>
                <a:ea typeface="Open Sauce Bold"/>
                <a:cs typeface="Open Sauce Bold"/>
                <a:sym typeface="Open Sauce Bold"/>
              </a:rPr>
              <a:t>How It Fits the Whole Solution:</a:t>
            </a:r>
          </a:p>
          <a:p>
            <a:pPr algn="l">
              <a:lnSpc>
                <a:spcPts val="2731"/>
              </a:lnSpc>
            </a:pPr>
            <a:endParaRPr lang="en-US" sz="1979" b="1" spc="193" dirty="0">
              <a:solidFill>
                <a:srgbClr val="231F20"/>
              </a:solidFill>
              <a:latin typeface="Open Sauce Bold"/>
              <a:ea typeface="Open Sauce Bold"/>
              <a:cs typeface="Open Sauce Bold"/>
              <a:sym typeface="Open Sauce Bold"/>
            </a:endParaRPr>
          </a:p>
          <a:p>
            <a:pPr lvl="0">
              <a:spcBef>
                <a:spcPct val="0"/>
              </a:spcBef>
            </a:pPr>
            <a:r>
              <a:rPr lang="en-US" sz="2000" dirty="0"/>
              <a:t>Uses essay, diagram, and viva results already saved in </a:t>
            </a:r>
            <a:r>
              <a:rPr lang="en-US" sz="2000" dirty="0" err="1"/>
              <a:t>Gradex</a:t>
            </a:r>
            <a:r>
              <a:rPr lang="en-US" sz="2000" dirty="0"/>
              <a:t>. Turns marks into class insight and the next paper, instead of stopping at a single score.</a:t>
            </a:r>
            <a:endParaRPr lang="en-US" sz="1979" spc="193" dirty="0">
              <a:solidFill>
                <a:srgbClr val="231F20"/>
              </a:solidFill>
              <a:latin typeface="Open Sauce"/>
              <a:ea typeface="Open Sauce"/>
              <a:cs typeface="Open Sauce"/>
              <a:sym typeface="Open Sauce"/>
            </a:endParaRPr>
          </a:p>
        </p:txBody>
      </p:sp>
      <p:sp>
        <p:nvSpPr>
          <p:cNvPr id="9" name="TextBox 2">
            <a:extLst>
              <a:ext uri="{FF2B5EF4-FFF2-40B4-BE49-F238E27FC236}">
                <a16:creationId xmlns:a16="http://schemas.microsoft.com/office/drawing/2014/main" id="{513B291E-491D-2870-9882-E098AF23ECC8}"/>
              </a:ext>
            </a:extLst>
          </p:cNvPr>
          <p:cNvSpPr txBox="1"/>
          <p:nvPr/>
        </p:nvSpPr>
        <p:spPr>
          <a:xfrm>
            <a:off x="1028700" y="527190"/>
            <a:ext cx="13106400" cy="923330"/>
          </a:xfrm>
          <a:prstGeom prst="rect">
            <a:avLst/>
          </a:prstGeom>
        </p:spPr>
        <p:txBody>
          <a:bodyPr wrap="square" lIns="0" tIns="0" rIns="0" bIns="0" rtlCol="0" anchor="t">
            <a:spAutoFit/>
          </a:bodyPr>
          <a:lstStyle/>
          <a:p>
            <a:r>
              <a:rPr lang="en-US" sz="6000" b="1" dirty="0">
                <a:latin typeface="Signika Bold" panose="020B0604020202020204" charset="0"/>
                <a:ea typeface="STXinwei" panose="02010800040101010101" pitchFamily="2" charset="-122"/>
              </a:rPr>
              <a:t>IT22134776 – L. S. B. </a:t>
            </a:r>
            <a:r>
              <a:rPr lang="en-US" sz="6000" b="1" dirty="0" err="1">
                <a:latin typeface="Signika Bold" panose="020B0604020202020204" charset="0"/>
                <a:ea typeface="STXinwei" panose="02010800040101010101" pitchFamily="2" charset="-122"/>
              </a:rPr>
              <a:t>Hemarathne</a:t>
            </a:r>
            <a:endParaRPr lang="en-US" sz="23900" b="1" dirty="0">
              <a:solidFill>
                <a:srgbClr val="000000"/>
              </a:solidFill>
              <a:latin typeface="Signika Bold" panose="020B0604020202020204" charset="0"/>
              <a:ea typeface="STXinwei" panose="02010800040101010101" pitchFamily="2" charset="-122"/>
              <a:cs typeface="Signika Bold"/>
              <a:sym typeface="Signika Bold"/>
            </a:endParaRPr>
          </a:p>
        </p:txBody>
      </p:sp>
      <p:sp>
        <p:nvSpPr>
          <p:cNvPr id="23" name="TextBox 3">
            <a:extLst>
              <a:ext uri="{FF2B5EF4-FFF2-40B4-BE49-F238E27FC236}">
                <a16:creationId xmlns:a16="http://schemas.microsoft.com/office/drawing/2014/main" id="{EDA0DDDF-5E53-6017-C455-F5DE1571C81F}"/>
              </a:ext>
            </a:extLst>
          </p:cNvPr>
          <p:cNvSpPr txBox="1"/>
          <p:nvPr/>
        </p:nvSpPr>
        <p:spPr>
          <a:xfrm>
            <a:off x="1031158" y="1611904"/>
            <a:ext cx="5753100" cy="430887"/>
          </a:xfrm>
          <a:prstGeom prst="rect">
            <a:avLst/>
          </a:prstGeom>
        </p:spPr>
        <p:txBody>
          <a:bodyPr wrap="square" lIns="0" tIns="0" rIns="0" bIns="0" rtlCol="0" anchor="t">
            <a:spAutoFit/>
          </a:bodyPr>
          <a:lstStyle/>
          <a:p>
            <a:r>
              <a:rPr lang="en-US" sz="2800" b="1" dirty="0">
                <a:solidFill>
                  <a:srgbClr val="5C8485"/>
                </a:solidFill>
                <a:latin typeface="DM Sans" pitchFamily="2" charset="0"/>
              </a:rPr>
              <a:t>Adaptive Exam Analytics Engine</a:t>
            </a:r>
            <a:r>
              <a:rPr lang="en-US" sz="2400" b="1" dirty="0">
                <a:solidFill>
                  <a:srgbClr val="5C8485"/>
                </a:solidFill>
                <a:latin typeface="DM Sans" pitchFamily="2" charset="0"/>
                <a:ea typeface="DM Sans Bold"/>
                <a:cs typeface="DM Sans Bold"/>
                <a:sym typeface="DM Sans Bold"/>
              </a:rPr>
              <a:t> </a:t>
            </a:r>
          </a:p>
        </p:txBody>
      </p:sp>
      <p:sp>
        <p:nvSpPr>
          <p:cNvPr id="25" name="TextBox 13">
            <a:extLst>
              <a:ext uri="{FF2B5EF4-FFF2-40B4-BE49-F238E27FC236}">
                <a16:creationId xmlns:a16="http://schemas.microsoft.com/office/drawing/2014/main" id="{DBD2C35C-A546-F069-099E-25F1E6368FA6}"/>
              </a:ext>
            </a:extLst>
          </p:cNvPr>
          <p:cNvSpPr txBox="1"/>
          <p:nvPr/>
        </p:nvSpPr>
        <p:spPr>
          <a:xfrm>
            <a:off x="14020800" y="9672603"/>
            <a:ext cx="2240574" cy="319190"/>
          </a:xfrm>
          <a:prstGeom prst="rect">
            <a:avLst/>
          </a:prstGeom>
        </p:spPr>
        <p:txBody>
          <a:bodyPr wrap="square" lIns="0" tIns="0" rIns="0" bIns="0" rtlCol="0" anchor="t">
            <a:spAutoFit/>
          </a:bodyPr>
          <a:lstStyle/>
          <a:p>
            <a:pPr algn="ctr">
              <a:lnSpc>
                <a:spcPts val="2411"/>
              </a:lnSpc>
              <a:spcBef>
                <a:spcPct val="0"/>
              </a:spcBef>
            </a:pPr>
            <a:r>
              <a:rPr lang="en-US" sz="2411" dirty="0">
                <a:solidFill>
                  <a:srgbClr val="FFFFFF"/>
                </a:solidFill>
                <a:latin typeface="DM Sans"/>
                <a:ea typeface="DM Sans"/>
                <a:cs typeface="DM Sans"/>
                <a:sym typeface="DM Sans"/>
              </a:rPr>
              <a:t>20/10/2026</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5" name="Group 5"/>
          <p:cNvGrpSpPr/>
          <p:nvPr/>
        </p:nvGrpSpPr>
        <p:grpSpPr>
          <a:xfrm>
            <a:off x="-246165" y="7730909"/>
            <a:ext cx="19048322" cy="2379479"/>
            <a:chOff x="0" y="0"/>
            <a:chExt cx="5016842" cy="626694"/>
          </a:xfrm>
        </p:grpSpPr>
        <p:sp>
          <p:nvSpPr>
            <p:cNvPr id="6" name="Freeform 6"/>
            <p:cNvSpPr/>
            <p:nvPr/>
          </p:nvSpPr>
          <p:spPr>
            <a:xfrm>
              <a:off x="0" y="0"/>
              <a:ext cx="5016842" cy="626694"/>
            </a:xfrm>
            <a:custGeom>
              <a:avLst/>
              <a:gdLst/>
              <a:ahLst/>
              <a:cxnLst/>
              <a:rect l="l" t="t" r="r" b="b"/>
              <a:pathLst>
                <a:path w="5016842" h="626694">
                  <a:moveTo>
                    <a:pt x="0" y="0"/>
                  </a:moveTo>
                  <a:lnTo>
                    <a:pt x="5016842" y="0"/>
                  </a:lnTo>
                  <a:lnTo>
                    <a:pt x="5016842" y="626694"/>
                  </a:lnTo>
                  <a:lnTo>
                    <a:pt x="0" y="626694"/>
                  </a:lnTo>
                  <a:close/>
                </a:path>
              </a:pathLst>
            </a:custGeom>
            <a:solidFill>
              <a:srgbClr val="1C5739"/>
            </a:solidFill>
          </p:spPr>
          <p:txBody>
            <a:bodyPr/>
            <a:lstStyle/>
            <a:p>
              <a:endParaRPr lang="en-US"/>
            </a:p>
          </p:txBody>
        </p:sp>
        <p:sp>
          <p:nvSpPr>
            <p:cNvPr id="7" name="TextBox 7"/>
            <p:cNvSpPr txBox="1"/>
            <p:nvPr/>
          </p:nvSpPr>
          <p:spPr>
            <a:xfrm>
              <a:off x="0" y="-19050"/>
              <a:ext cx="5016842" cy="645744"/>
            </a:xfrm>
            <a:prstGeom prst="rect">
              <a:avLst/>
            </a:prstGeom>
          </p:spPr>
          <p:txBody>
            <a:bodyPr lIns="50800" tIns="50800" rIns="50800" bIns="50800" rtlCol="0" anchor="ctr"/>
            <a:lstStyle/>
            <a:p>
              <a:pPr algn="ctr">
                <a:lnSpc>
                  <a:spcPts val="2859"/>
                </a:lnSpc>
              </a:pPr>
              <a:endParaRPr/>
            </a:p>
          </p:txBody>
        </p:sp>
      </p:grpSp>
      <p:sp>
        <p:nvSpPr>
          <p:cNvPr id="8" name="Freeform 8"/>
          <p:cNvSpPr/>
          <p:nvPr/>
        </p:nvSpPr>
        <p:spPr>
          <a:xfrm>
            <a:off x="16253992" y="8182721"/>
            <a:ext cx="4116356" cy="4116356"/>
          </a:xfrm>
          <a:custGeom>
            <a:avLst/>
            <a:gdLst/>
            <a:ahLst/>
            <a:cxnLst/>
            <a:rect l="l" t="t" r="r" b="b"/>
            <a:pathLst>
              <a:path w="4116356" h="4116356">
                <a:moveTo>
                  <a:pt x="0" y="0"/>
                </a:moveTo>
                <a:lnTo>
                  <a:pt x="4116356" y="0"/>
                </a:lnTo>
                <a:lnTo>
                  <a:pt x="4116356" y="4116355"/>
                </a:lnTo>
                <a:lnTo>
                  <a:pt x="0" y="411635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9" name="Freeform 9"/>
          <p:cNvSpPr/>
          <p:nvPr/>
        </p:nvSpPr>
        <p:spPr>
          <a:xfrm>
            <a:off x="-2320542" y="7024288"/>
            <a:ext cx="3256087" cy="3256087"/>
          </a:xfrm>
          <a:custGeom>
            <a:avLst/>
            <a:gdLst/>
            <a:ahLst/>
            <a:cxnLst/>
            <a:rect l="l" t="t" r="r" b="b"/>
            <a:pathLst>
              <a:path w="3256087" h="3256087">
                <a:moveTo>
                  <a:pt x="0" y="0"/>
                </a:moveTo>
                <a:lnTo>
                  <a:pt x="3256087" y="0"/>
                </a:lnTo>
                <a:lnTo>
                  <a:pt x="3256087" y="3256086"/>
                </a:lnTo>
                <a:lnTo>
                  <a:pt x="0" y="325608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0" name="TextBox 10"/>
          <p:cNvSpPr txBox="1"/>
          <p:nvPr/>
        </p:nvSpPr>
        <p:spPr>
          <a:xfrm>
            <a:off x="969236" y="661136"/>
            <a:ext cx="12594364" cy="672364"/>
          </a:xfrm>
          <a:prstGeom prst="rect">
            <a:avLst/>
          </a:prstGeom>
        </p:spPr>
        <p:txBody>
          <a:bodyPr wrap="square" lIns="0" tIns="0" rIns="0" bIns="0" rtlCol="0" anchor="t">
            <a:spAutoFit/>
          </a:bodyPr>
          <a:lstStyle/>
          <a:p>
            <a:pPr algn="l">
              <a:lnSpc>
                <a:spcPts val="4650"/>
              </a:lnSpc>
            </a:pPr>
            <a:r>
              <a:rPr lang="en-US" sz="6000" b="1" dirty="0">
                <a:solidFill>
                  <a:srgbClr val="000000"/>
                </a:solidFill>
                <a:latin typeface="Signika Bold"/>
                <a:ea typeface="Signika Bold"/>
                <a:cs typeface="Signika Bold"/>
                <a:sym typeface="Signika Bold"/>
              </a:rPr>
              <a:t>IT22239198 – Wickramarathne H.I.B </a:t>
            </a:r>
          </a:p>
        </p:txBody>
      </p:sp>
      <p:sp>
        <p:nvSpPr>
          <p:cNvPr id="12" name="TextBox 12"/>
          <p:cNvSpPr txBox="1"/>
          <p:nvPr/>
        </p:nvSpPr>
        <p:spPr>
          <a:xfrm>
            <a:off x="4267200" y="9596403"/>
            <a:ext cx="8516081" cy="391710"/>
          </a:xfrm>
          <a:prstGeom prst="rect">
            <a:avLst/>
          </a:prstGeom>
        </p:spPr>
        <p:txBody>
          <a:bodyPr wrap="square" lIns="0" tIns="0" rIns="0" bIns="0" rtlCol="0" anchor="t">
            <a:spAutoFit/>
          </a:bodyPr>
          <a:lstStyle/>
          <a:p>
            <a:pPr>
              <a:lnSpc>
                <a:spcPts val="3185"/>
              </a:lnSpc>
            </a:pPr>
            <a:r>
              <a:rPr lang="en-US" sz="2291" b="1" dirty="0">
                <a:solidFill>
                  <a:srgbClr val="FFFFFF"/>
                </a:solidFill>
                <a:latin typeface="DM Sans Bold"/>
                <a:ea typeface="DM Sans Bold"/>
                <a:cs typeface="DM Sans Bold"/>
                <a:sym typeface="DM Sans Bold"/>
              </a:rPr>
              <a:t>IT22239198  |  Harithe </a:t>
            </a:r>
            <a:r>
              <a:rPr lang="en-US" sz="2291" b="1" dirty="0" err="1">
                <a:solidFill>
                  <a:srgbClr val="FFFFFF"/>
                </a:solidFill>
                <a:latin typeface="DM Sans Bold"/>
                <a:ea typeface="DM Sans Bold"/>
                <a:cs typeface="DM Sans Bold"/>
                <a:sym typeface="DM Sans Bold"/>
              </a:rPr>
              <a:t>Wickramarathne</a:t>
            </a:r>
            <a:r>
              <a:rPr lang="en-US" sz="2291" b="1" dirty="0">
                <a:solidFill>
                  <a:srgbClr val="FFFFFF"/>
                </a:solidFill>
                <a:latin typeface="DM Sans Bold"/>
                <a:ea typeface="DM Sans Bold"/>
                <a:cs typeface="DM Sans Bold"/>
                <a:sym typeface="DM Sans Bold"/>
              </a:rPr>
              <a:t>  | </a:t>
            </a:r>
            <a:r>
              <a:rPr lang="en-US" sz="2000" spc="129" dirty="0">
                <a:solidFill>
                  <a:schemeClr val="accent3">
                    <a:lumMod val="40000"/>
                    <a:lumOff val="60000"/>
                  </a:schemeClr>
                </a:solidFill>
                <a:latin typeface="Open Sauce"/>
                <a:ea typeface="Open Sauce"/>
                <a:cs typeface="Open Sauce"/>
                <a:sym typeface="Open Sauce"/>
              </a:rPr>
              <a:t>R26-SE-025</a:t>
            </a:r>
            <a:endParaRPr lang="en-US" sz="2291" b="1" dirty="0">
              <a:solidFill>
                <a:srgbClr val="FFFFFF"/>
              </a:solidFill>
              <a:latin typeface="DM Sans Bold"/>
              <a:ea typeface="DM Sans Bold"/>
              <a:cs typeface="DM Sans Bold"/>
              <a:sym typeface="DM Sans Bold"/>
            </a:endParaRPr>
          </a:p>
        </p:txBody>
      </p:sp>
      <p:grpSp>
        <p:nvGrpSpPr>
          <p:cNvPr id="14" name="Group 14"/>
          <p:cNvGrpSpPr/>
          <p:nvPr/>
        </p:nvGrpSpPr>
        <p:grpSpPr>
          <a:xfrm>
            <a:off x="1028700" y="2501101"/>
            <a:ext cx="14312967" cy="2326958"/>
            <a:chOff x="0" y="0"/>
            <a:chExt cx="5260022" cy="855091"/>
          </a:xfrm>
        </p:grpSpPr>
        <p:sp>
          <p:nvSpPr>
            <p:cNvPr id="15" name="Freeform 15"/>
            <p:cNvSpPr/>
            <p:nvPr/>
          </p:nvSpPr>
          <p:spPr>
            <a:xfrm>
              <a:off x="0" y="0"/>
              <a:ext cx="5260022" cy="855091"/>
            </a:xfrm>
            <a:custGeom>
              <a:avLst/>
              <a:gdLst/>
              <a:ahLst/>
              <a:cxnLst/>
              <a:rect l="l" t="t" r="r" b="b"/>
              <a:pathLst>
                <a:path w="5260022" h="855091">
                  <a:moveTo>
                    <a:pt x="5260022" y="32995"/>
                  </a:moveTo>
                  <a:lnTo>
                    <a:pt x="5260022" y="822096"/>
                  </a:lnTo>
                  <a:cubicBezTo>
                    <a:pt x="5260022" y="840319"/>
                    <a:pt x="5245249" y="855091"/>
                    <a:pt x="5227027" y="855091"/>
                  </a:cubicBezTo>
                  <a:lnTo>
                    <a:pt x="32995" y="855091"/>
                  </a:lnTo>
                  <a:cubicBezTo>
                    <a:pt x="24244" y="855091"/>
                    <a:pt x="15852" y="851615"/>
                    <a:pt x="9664" y="845427"/>
                  </a:cubicBezTo>
                  <a:cubicBezTo>
                    <a:pt x="3476" y="839239"/>
                    <a:pt x="0" y="830847"/>
                    <a:pt x="0" y="822096"/>
                  </a:cubicBezTo>
                  <a:lnTo>
                    <a:pt x="0" y="32995"/>
                  </a:lnTo>
                  <a:cubicBezTo>
                    <a:pt x="0" y="24244"/>
                    <a:pt x="3476" y="15852"/>
                    <a:pt x="9664" y="9664"/>
                  </a:cubicBezTo>
                  <a:cubicBezTo>
                    <a:pt x="15852" y="3476"/>
                    <a:pt x="24244" y="0"/>
                    <a:pt x="32995" y="0"/>
                  </a:cubicBezTo>
                  <a:lnTo>
                    <a:pt x="5227027" y="0"/>
                  </a:lnTo>
                  <a:cubicBezTo>
                    <a:pt x="5235777" y="0"/>
                    <a:pt x="5244170" y="3476"/>
                    <a:pt x="5250357" y="9664"/>
                  </a:cubicBezTo>
                  <a:cubicBezTo>
                    <a:pt x="5256545" y="15852"/>
                    <a:pt x="5260022" y="24244"/>
                    <a:pt x="5260022" y="32995"/>
                  </a:cubicBezTo>
                  <a:close/>
                </a:path>
              </a:pathLst>
            </a:custGeom>
            <a:solidFill>
              <a:srgbClr val="1C5739">
                <a:alpha val="14902"/>
              </a:srgbClr>
            </a:solidFill>
          </p:spPr>
          <p:txBody>
            <a:bodyPr/>
            <a:lstStyle/>
            <a:p>
              <a:endParaRPr lang="en-US"/>
            </a:p>
          </p:txBody>
        </p:sp>
        <p:sp>
          <p:nvSpPr>
            <p:cNvPr id="16" name="TextBox 16"/>
            <p:cNvSpPr txBox="1"/>
            <p:nvPr/>
          </p:nvSpPr>
          <p:spPr>
            <a:xfrm>
              <a:off x="0" y="-19050"/>
              <a:ext cx="5260022" cy="874141"/>
            </a:xfrm>
            <a:prstGeom prst="rect">
              <a:avLst/>
            </a:prstGeom>
          </p:spPr>
          <p:txBody>
            <a:bodyPr lIns="50800" tIns="50800" rIns="50800" bIns="50800" rtlCol="0" anchor="ctr"/>
            <a:lstStyle/>
            <a:p>
              <a:pPr algn="ctr">
                <a:lnSpc>
                  <a:spcPts val="2859"/>
                </a:lnSpc>
              </a:pPr>
              <a:endParaRPr/>
            </a:p>
          </p:txBody>
        </p:sp>
      </p:grpSp>
      <p:sp>
        <p:nvSpPr>
          <p:cNvPr id="17" name="TextBox 17"/>
          <p:cNvSpPr txBox="1"/>
          <p:nvPr/>
        </p:nvSpPr>
        <p:spPr>
          <a:xfrm>
            <a:off x="1432672" y="2714510"/>
            <a:ext cx="13742441" cy="1615827"/>
          </a:xfrm>
          <a:prstGeom prst="rect">
            <a:avLst/>
          </a:prstGeom>
        </p:spPr>
        <p:txBody>
          <a:bodyPr lIns="0" tIns="0" rIns="0" bIns="0" rtlCol="0" anchor="t">
            <a:spAutoFit/>
          </a:bodyPr>
          <a:lstStyle/>
          <a:p>
            <a:pPr algn="l">
              <a:lnSpc>
                <a:spcPts val="2745"/>
              </a:lnSpc>
            </a:pPr>
            <a:r>
              <a:rPr lang="en-US" sz="1989" b="1" spc="194" dirty="0">
                <a:solidFill>
                  <a:srgbClr val="231F20"/>
                </a:solidFill>
                <a:latin typeface="Open Sauce Bold"/>
                <a:ea typeface="Open Sauce Bold"/>
                <a:cs typeface="Open Sauce Bold"/>
                <a:sym typeface="Open Sauce Bold"/>
              </a:rPr>
              <a:t>Brief Description:</a:t>
            </a:r>
          </a:p>
          <a:p>
            <a:pPr algn="l">
              <a:lnSpc>
                <a:spcPts val="2745"/>
              </a:lnSpc>
            </a:pPr>
            <a:endParaRPr lang="en-US" sz="1989" b="1" spc="194" dirty="0">
              <a:solidFill>
                <a:srgbClr val="231F20"/>
              </a:solidFill>
              <a:latin typeface="Open Sauce Bold"/>
              <a:ea typeface="Open Sauce Bold"/>
              <a:cs typeface="Open Sauce Bold"/>
              <a:sym typeface="Open Sauce Bold"/>
            </a:endParaRPr>
          </a:p>
          <a:p>
            <a:pPr lvl="0">
              <a:spcBef>
                <a:spcPct val="0"/>
              </a:spcBef>
            </a:pPr>
            <a:r>
              <a:rPr lang="en-US" sz="2000" dirty="0"/>
              <a:t>Takes photographed/scanned scripts, conditions pages, OCR, splits text into per-question answers, retrieves course-scoped lecture context, and grades each answer against the lecturer rubric with an AI modal and fallbacks. Roster match, batch jobs, and lecturer review stay in the shared UI.</a:t>
            </a:r>
            <a:endParaRPr lang="en-US" sz="1989" spc="194" dirty="0">
              <a:solidFill>
                <a:srgbClr val="231F20"/>
              </a:solidFill>
              <a:latin typeface="Open Sauce"/>
              <a:ea typeface="Open Sauce"/>
              <a:cs typeface="Open Sauce"/>
              <a:sym typeface="Open Sauce"/>
            </a:endParaRPr>
          </a:p>
        </p:txBody>
      </p:sp>
      <p:grpSp>
        <p:nvGrpSpPr>
          <p:cNvPr id="18" name="Group 18"/>
          <p:cNvGrpSpPr/>
          <p:nvPr/>
        </p:nvGrpSpPr>
        <p:grpSpPr>
          <a:xfrm>
            <a:off x="1028700" y="5111242"/>
            <a:ext cx="14348091" cy="2326958"/>
            <a:chOff x="0" y="0"/>
            <a:chExt cx="5272930" cy="855091"/>
          </a:xfrm>
        </p:grpSpPr>
        <p:sp>
          <p:nvSpPr>
            <p:cNvPr id="19" name="Freeform 19"/>
            <p:cNvSpPr/>
            <p:nvPr/>
          </p:nvSpPr>
          <p:spPr>
            <a:xfrm>
              <a:off x="0" y="0"/>
              <a:ext cx="5272930" cy="855091"/>
            </a:xfrm>
            <a:custGeom>
              <a:avLst/>
              <a:gdLst/>
              <a:ahLst/>
              <a:cxnLst/>
              <a:rect l="l" t="t" r="r" b="b"/>
              <a:pathLst>
                <a:path w="5272930" h="855091">
                  <a:moveTo>
                    <a:pt x="5272930" y="32914"/>
                  </a:moveTo>
                  <a:lnTo>
                    <a:pt x="5272930" y="822177"/>
                  </a:lnTo>
                  <a:cubicBezTo>
                    <a:pt x="5272930" y="830906"/>
                    <a:pt x="5269462" y="839278"/>
                    <a:pt x="5263289" y="845451"/>
                  </a:cubicBezTo>
                  <a:cubicBezTo>
                    <a:pt x="5257117" y="851623"/>
                    <a:pt x="5248745" y="855091"/>
                    <a:pt x="5240015" y="855091"/>
                  </a:cubicBezTo>
                  <a:lnTo>
                    <a:pt x="32914" y="855091"/>
                  </a:lnTo>
                  <a:cubicBezTo>
                    <a:pt x="24185" y="855091"/>
                    <a:pt x="15813" y="851623"/>
                    <a:pt x="9640" y="845451"/>
                  </a:cubicBezTo>
                  <a:cubicBezTo>
                    <a:pt x="3468" y="839278"/>
                    <a:pt x="0" y="830906"/>
                    <a:pt x="0" y="822177"/>
                  </a:cubicBezTo>
                  <a:lnTo>
                    <a:pt x="0" y="32914"/>
                  </a:lnTo>
                  <a:cubicBezTo>
                    <a:pt x="0" y="24185"/>
                    <a:pt x="3468" y="15813"/>
                    <a:pt x="9640" y="9640"/>
                  </a:cubicBezTo>
                  <a:cubicBezTo>
                    <a:pt x="15813" y="3468"/>
                    <a:pt x="24185" y="0"/>
                    <a:pt x="32914" y="0"/>
                  </a:cubicBezTo>
                  <a:lnTo>
                    <a:pt x="5240015" y="0"/>
                  </a:lnTo>
                  <a:cubicBezTo>
                    <a:pt x="5248745" y="0"/>
                    <a:pt x="5257117" y="3468"/>
                    <a:pt x="5263289" y="9640"/>
                  </a:cubicBezTo>
                  <a:cubicBezTo>
                    <a:pt x="5269462" y="15813"/>
                    <a:pt x="5272930" y="24185"/>
                    <a:pt x="5272930" y="32914"/>
                  </a:cubicBezTo>
                  <a:close/>
                </a:path>
              </a:pathLst>
            </a:custGeom>
            <a:solidFill>
              <a:srgbClr val="1C5739">
                <a:alpha val="14902"/>
              </a:srgbClr>
            </a:solidFill>
          </p:spPr>
          <p:txBody>
            <a:bodyPr/>
            <a:lstStyle/>
            <a:p>
              <a:endParaRPr lang="en-US"/>
            </a:p>
          </p:txBody>
        </p:sp>
        <p:sp>
          <p:nvSpPr>
            <p:cNvPr id="20" name="TextBox 20"/>
            <p:cNvSpPr txBox="1"/>
            <p:nvPr/>
          </p:nvSpPr>
          <p:spPr>
            <a:xfrm>
              <a:off x="0" y="-19050"/>
              <a:ext cx="5272930" cy="874141"/>
            </a:xfrm>
            <a:prstGeom prst="rect">
              <a:avLst/>
            </a:prstGeom>
          </p:spPr>
          <p:txBody>
            <a:bodyPr lIns="50800" tIns="50800" rIns="50800" bIns="50800" rtlCol="0" anchor="ctr"/>
            <a:lstStyle/>
            <a:p>
              <a:pPr algn="ctr">
                <a:lnSpc>
                  <a:spcPts val="2859"/>
                </a:lnSpc>
              </a:pPr>
              <a:endParaRPr/>
            </a:p>
          </p:txBody>
        </p:sp>
      </p:grpSp>
      <p:sp>
        <p:nvSpPr>
          <p:cNvPr id="21" name="TextBox 21"/>
          <p:cNvSpPr txBox="1"/>
          <p:nvPr/>
        </p:nvSpPr>
        <p:spPr>
          <a:xfrm>
            <a:off x="1432672" y="5307406"/>
            <a:ext cx="13742441" cy="1357679"/>
          </a:xfrm>
          <a:prstGeom prst="rect">
            <a:avLst/>
          </a:prstGeom>
        </p:spPr>
        <p:txBody>
          <a:bodyPr lIns="0" tIns="0" rIns="0" bIns="0" rtlCol="0" anchor="t">
            <a:spAutoFit/>
          </a:bodyPr>
          <a:lstStyle/>
          <a:p>
            <a:pPr algn="l">
              <a:lnSpc>
                <a:spcPts val="2731"/>
              </a:lnSpc>
            </a:pPr>
            <a:r>
              <a:rPr lang="en-US" sz="1979" b="1" spc="193" dirty="0">
                <a:solidFill>
                  <a:srgbClr val="231F20"/>
                </a:solidFill>
                <a:latin typeface="Open Sauce Bold"/>
                <a:ea typeface="Open Sauce Bold"/>
                <a:cs typeface="Open Sauce Bold"/>
                <a:sym typeface="Open Sauce Bold"/>
              </a:rPr>
              <a:t>How It Fits the Whole Solution:</a:t>
            </a:r>
          </a:p>
          <a:p>
            <a:pPr algn="l">
              <a:lnSpc>
                <a:spcPts val="2731"/>
              </a:lnSpc>
            </a:pPr>
            <a:endParaRPr lang="en-US" sz="1979" b="1" spc="193" dirty="0">
              <a:solidFill>
                <a:srgbClr val="231F20"/>
              </a:solidFill>
              <a:latin typeface="Open Sauce Bold"/>
              <a:ea typeface="Open Sauce Bold"/>
              <a:cs typeface="Open Sauce Bold"/>
              <a:sym typeface="Open Sauce Bold"/>
            </a:endParaRPr>
          </a:p>
          <a:p>
            <a:pPr lvl="0">
              <a:spcBef>
                <a:spcPct val="0"/>
              </a:spcBef>
            </a:pPr>
            <a:r>
              <a:rPr lang="en-US" sz="2000" dirty="0"/>
              <a:t>Written-assessment stage turns image into inspectable per-question marks. Those marks feed analytics and the student record used by the other engines.</a:t>
            </a:r>
            <a:endParaRPr lang="en-US" sz="1979" spc="193" dirty="0">
              <a:solidFill>
                <a:srgbClr val="231F20"/>
              </a:solidFill>
              <a:latin typeface="Open Sauce"/>
              <a:ea typeface="Open Sauce"/>
              <a:cs typeface="Open Sauce"/>
              <a:sym typeface="Open Sauce"/>
            </a:endParaRPr>
          </a:p>
        </p:txBody>
      </p:sp>
      <p:sp>
        <p:nvSpPr>
          <p:cNvPr id="22" name="TextBox 3">
            <a:extLst>
              <a:ext uri="{FF2B5EF4-FFF2-40B4-BE49-F238E27FC236}">
                <a16:creationId xmlns:a16="http://schemas.microsoft.com/office/drawing/2014/main" id="{92CC86D1-4430-9877-8731-F9D758D86BF4}"/>
              </a:ext>
            </a:extLst>
          </p:cNvPr>
          <p:cNvSpPr txBox="1"/>
          <p:nvPr/>
        </p:nvSpPr>
        <p:spPr>
          <a:xfrm>
            <a:off x="1028700" y="1506582"/>
            <a:ext cx="7886700" cy="434813"/>
          </a:xfrm>
          <a:prstGeom prst="rect">
            <a:avLst/>
          </a:prstGeom>
        </p:spPr>
        <p:txBody>
          <a:bodyPr wrap="square" lIns="0" tIns="0" rIns="0" bIns="0" rtlCol="0" anchor="t">
            <a:spAutoFit/>
          </a:bodyPr>
          <a:lstStyle/>
          <a:p>
            <a:r>
              <a:rPr lang="en-US" sz="2800" b="1" dirty="0">
                <a:solidFill>
                  <a:srgbClr val="5C8485"/>
                </a:solidFill>
                <a:latin typeface="DM Sans" pitchFamily="2" charset="0"/>
              </a:rPr>
              <a:t>Handwritten Essay – Answer Grading Engine</a:t>
            </a:r>
            <a:r>
              <a:rPr lang="en-US" sz="2400" b="1" dirty="0">
                <a:solidFill>
                  <a:srgbClr val="5C8485"/>
                </a:solidFill>
                <a:latin typeface="DM Sans" pitchFamily="2" charset="0"/>
                <a:ea typeface="DM Sans Bold"/>
                <a:cs typeface="DM Sans Bold"/>
                <a:sym typeface="DM Sans Bold"/>
              </a:rPr>
              <a:t> </a:t>
            </a:r>
          </a:p>
        </p:txBody>
      </p:sp>
      <p:sp>
        <p:nvSpPr>
          <p:cNvPr id="24" name="TextBox 13">
            <a:extLst>
              <a:ext uri="{FF2B5EF4-FFF2-40B4-BE49-F238E27FC236}">
                <a16:creationId xmlns:a16="http://schemas.microsoft.com/office/drawing/2014/main" id="{3882AE92-9737-5B33-8B65-F7E1BBBF9B65}"/>
              </a:ext>
            </a:extLst>
          </p:cNvPr>
          <p:cNvSpPr txBox="1"/>
          <p:nvPr/>
        </p:nvSpPr>
        <p:spPr>
          <a:xfrm>
            <a:off x="14020800" y="9672603"/>
            <a:ext cx="2240574" cy="319190"/>
          </a:xfrm>
          <a:prstGeom prst="rect">
            <a:avLst/>
          </a:prstGeom>
        </p:spPr>
        <p:txBody>
          <a:bodyPr wrap="square" lIns="0" tIns="0" rIns="0" bIns="0" rtlCol="0" anchor="t">
            <a:spAutoFit/>
          </a:bodyPr>
          <a:lstStyle/>
          <a:p>
            <a:pPr algn="ctr">
              <a:lnSpc>
                <a:spcPts val="2411"/>
              </a:lnSpc>
              <a:spcBef>
                <a:spcPct val="0"/>
              </a:spcBef>
            </a:pPr>
            <a:r>
              <a:rPr lang="en-US" sz="2411" dirty="0">
                <a:solidFill>
                  <a:srgbClr val="FFFFFF"/>
                </a:solidFill>
                <a:latin typeface="DM Sans"/>
                <a:ea typeface="DM Sans"/>
                <a:cs typeface="DM Sans"/>
                <a:sym typeface="DM Sans"/>
              </a:rPr>
              <a:t>20/10/2026</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246165" y="7730909"/>
            <a:ext cx="19048322" cy="2379479"/>
            <a:chOff x="0" y="0"/>
            <a:chExt cx="5016842" cy="626694"/>
          </a:xfrm>
        </p:grpSpPr>
        <p:sp>
          <p:nvSpPr>
            <p:cNvPr id="4" name="Freeform 4"/>
            <p:cNvSpPr/>
            <p:nvPr/>
          </p:nvSpPr>
          <p:spPr>
            <a:xfrm>
              <a:off x="0" y="0"/>
              <a:ext cx="5016842" cy="626694"/>
            </a:xfrm>
            <a:custGeom>
              <a:avLst/>
              <a:gdLst/>
              <a:ahLst/>
              <a:cxnLst/>
              <a:rect l="l" t="t" r="r" b="b"/>
              <a:pathLst>
                <a:path w="5016842" h="626694">
                  <a:moveTo>
                    <a:pt x="0" y="0"/>
                  </a:moveTo>
                  <a:lnTo>
                    <a:pt x="5016842" y="0"/>
                  </a:lnTo>
                  <a:lnTo>
                    <a:pt x="5016842" y="626694"/>
                  </a:lnTo>
                  <a:lnTo>
                    <a:pt x="0" y="626694"/>
                  </a:lnTo>
                  <a:close/>
                </a:path>
              </a:pathLst>
            </a:custGeom>
            <a:solidFill>
              <a:srgbClr val="1C5739"/>
            </a:solidFill>
          </p:spPr>
          <p:txBody>
            <a:bodyPr/>
            <a:lstStyle/>
            <a:p>
              <a:endParaRPr lang="en-US"/>
            </a:p>
          </p:txBody>
        </p:sp>
        <p:sp>
          <p:nvSpPr>
            <p:cNvPr id="5" name="TextBox 5"/>
            <p:cNvSpPr txBox="1"/>
            <p:nvPr/>
          </p:nvSpPr>
          <p:spPr>
            <a:xfrm>
              <a:off x="0" y="-19050"/>
              <a:ext cx="5016842" cy="645744"/>
            </a:xfrm>
            <a:prstGeom prst="rect">
              <a:avLst/>
            </a:prstGeom>
          </p:spPr>
          <p:txBody>
            <a:bodyPr lIns="50800" tIns="50800" rIns="50800" bIns="50800" rtlCol="0" anchor="ctr"/>
            <a:lstStyle/>
            <a:p>
              <a:pPr algn="ctr">
                <a:lnSpc>
                  <a:spcPts val="2859"/>
                </a:lnSpc>
              </a:pPr>
              <a:endParaRPr/>
            </a:p>
          </p:txBody>
        </p:sp>
      </p:grpSp>
      <p:sp>
        <p:nvSpPr>
          <p:cNvPr id="6" name="Freeform 6"/>
          <p:cNvSpPr/>
          <p:nvPr/>
        </p:nvSpPr>
        <p:spPr>
          <a:xfrm>
            <a:off x="16253992" y="8182721"/>
            <a:ext cx="4116356" cy="4116356"/>
          </a:xfrm>
          <a:custGeom>
            <a:avLst/>
            <a:gdLst/>
            <a:ahLst/>
            <a:cxnLst/>
            <a:rect l="l" t="t" r="r" b="b"/>
            <a:pathLst>
              <a:path w="4116356" h="4116356">
                <a:moveTo>
                  <a:pt x="0" y="0"/>
                </a:moveTo>
                <a:lnTo>
                  <a:pt x="4116356" y="0"/>
                </a:lnTo>
                <a:lnTo>
                  <a:pt x="4116356" y="4116355"/>
                </a:lnTo>
                <a:lnTo>
                  <a:pt x="0" y="41163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2320542" y="7024288"/>
            <a:ext cx="3256087" cy="3256087"/>
          </a:xfrm>
          <a:custGeom>
            <a:avLst/>
            <a:gdLst/>
            <a:ahLst/>
            <a:cxnLst/>
            <a:rect l="l" t="t" r="r" b="b"/>
            <a:pathLst>
              <a:path w="3256087" h="3256087">
                <a:moveTo>
                  <a:pt x="0" y="0"/>
                </a:moveTo>
                <a:lnTo>
                  <a:pt x="3256087" y="0"/>
                </a:lnTo>
                <a:lnTo>
                  <a:pt x="3256087" y="3256086"/>
                </a:lnTo>
                <a:lnTo>
                  <a:pt x="0" y="325608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TextBox 11"/>
          <p:cNvSpPr txBox="1"/>
          <p:nvPr/>
        </p:nvSpPr>
        <p:spPr>
          <a:xfrm>
            <a:off x="6126259" y="9553575"/>
            <a:ext cx="6657022" cy="391710"/>
          </a:xfrm>
          <a:prstGeom prst="rect">
            <a:avLst/>
          </a:prstGeom>
        </p:spPr>
        <p:txBody>
          <a:bodyPr lIns="0" tIns="0" rIns="0" bIns="0" rtlCol="0" anchor="t">
            <a:spAutoFit/>
          </a:bodyPr>
          <a:lstStyle/>
          <a:p>
            <a:pPr>
              <a:lnSpc>
                <a:spcPts val="3185"/>
              </a:lnSpc>
            </a:pPr>
            <a:r>
              <a:rPr lang="en-US" sz="2291" b="1" dirty="0">
                <a:solidFill>
                  <a:srgbClr val="FFFFFF"/>
                </a:solidFill>
                <a:latin typeface="DM Sans Bold"/>
                <a:ea typeface="DM Sans Bold"/>
                <a:cs typeface="DM Sans Bold"/>
                <a:sym typeface="DM Sans Bold"/>
              </a:rPr>
              <a:t>IT22197832  |  </a:t>
            </a:r>
            <a:r>
              <a:rPr lang="en-US" sz="2291" b="1" dirty="0" err="1">
                <a:solidFill>
                  <a:srgbClr val="FFFFFF"/>
                </a:solidFill>
                <a:latin typeface="DM Sans Bold"/>
                <a:ea typeface="DM Sans Bold"/>
                <a:cs typeface="DM Sans Bold"/>
                <a:sym typeface="DM Sans Bold"/>
              </a:rPr>
              <a:t>Budhdhila</a:t>
            </a:r>
            <a:r>
              <a:rPr lang="en-US" sz="2291" b="1" dirty="0">
                <a:solidFill>
                  <a:srgbClr val="FFFFFF"/>
                </a:solidFill>
                <a:latin typeface="DM Sans Bold"/>
                <a:ea typeface="DM Sans Bold"/>
                <a:cs typeface="DM Sans Bold"/>
                <a:sym typeface="DM Sans Bold"/>
              </a:rPr>
              <a:t> Herath  | </a:t>
            </a:r>
            <a:r>
              <a:rPr lang="en-US" sz="2000" spc="129" dirty="0">
                <a:solidFill>
                  <a:schemeClr val="accent3">
                    <a:lumMod val="40000"/>
                    <a:lumOff val="60000"/>
                  </a:schemeClr>
                </a:solidFill>
                <a:latin typeface="Open Sauce"/>
                <a:ea typeface="Open Sauce"/>
                <a:cs typeface="Open Sauce"/>
                <a:sym typeface="Open Sauce"/>
              </a:rPr>
              <a:t>R26-SE-025</a:t>
            </a:r>
            <a:endParaRPr lang="en-US" sz="2291" b="1" dirty="0">
              <a:solidFill>
                <a:srgbClr val="FFFFFF"/>
              </a:solidFill>
              <a:latin typeface="DM Sans Bold"/>
              <a:ea typeface="DM Sans Bold"/>
              <a:cs typeface="DM Sans Bold"/>
              <a:sym typeface="DM Sans Bold"/>
            </a:endParaRPr>
          </a:p>
        </p:txBody>
      </p:sp>
      <p:grpSp>
        <p:nvGrpSpPr>
          <p:cNvPr id="13" name="Group 13"/>
          <p:cNvGrpSpPr/>
          <p:nvPr/>
        </p:nvGrpSpPr>
        <p:grpSpPr>
          <a:xfrm>
            <a:off x="1028700" y="2608276"/>
            <a:ext cx="14312967" cy="2326958"/>
            <a:chOff x="0" y="0"/>
            <a:chExt cx="5260022" cy="855091"/>
          </a:xfrm>
        </p:grpSpPr>
        <p:sp>
          <p:nvSpPr>
            <p:cNvPr id="14" name="Freeform 14"/>
            <p:cNvSpPr/>
            <p:nvPr/>
          </p:nvSpPr>
          <p:spPr>
            <a:xfrm>
              <a:off x="0" y="0"/>
              <a:ext cx="5260022" cy="855091"/>
            </a:xfrm>
            <a:custGeom>
              <a:avLst/>
              <a:gdLst/>
              <a:ahLst/>
              <a:cxnLst/>
              <a:rect l="l" t="t" r="r" b="b"/>
              <a:pathLst>
                <a:path w="5260022" h="855091">
                  <a:moveTo>
                    <a:pt x="5260022" y="32995"/>
                  </a:moveTo>
                  <a:lnTo>
                    <a:pt x="5260022" y="822096"/>
                  </a:lnTo>
                  <a:cubicBezTo>
                    <a:pt x="5260022" y="840319"/>
                    <a:pt x="5245249" y="855091"/>
                    <a:pt x="5227027" y="855091"/>
                  </a:cubicBezTo>
                  <a:lnTo>
                    <a:pt x="32995" y="855091"/>
                  </a:lnTo>
                  <a:cubicBezTo>
                    <a:pt x="24244" y="855091"/>
                    <a:pt x="15852" y="851615"/>
                    <a:pt x="9664" y="845427"/>
                  </a:cubicBezTo>
                  <a:cubicBezTo>
                    <a:pt x="3476" y="839239"/>
                    <a:pt x="0" y="830847"/>
                    <a:pt x="0" y="822096"/>
                  </a:cubicBezTo>
                  <a:lnTo>
                    <a:pt x="0" y="32995"/>
                  </a:lnTo>
                  <a:cubicBezTo>
                    <a:pt x="0" y="24244"/>
                    <a:pt x="3476" y="15852"/>
                    <a:pt x="9664" y="9664"/>
                  </a:cubicBezTo>
                  <a:cubicBezTo>
                    <a:pt x="15852" y="3476"/>
                    <a:pt x="24244" y="0"/>
                    <a:pt x="32995" y="0"/>
                  </a:cubicBezTo>
                  <a:lnTo>
                    <a:pt x="5227027" y="0"/>
                  </a:lnTo>
                  <a:cubicBezTo>
                    <a:pt x="5235777" y="0"/>
                    <a:pt x="5244170" y="3476"/>
                    <a:pt x="5250357" y="9664"/>
                  </a:cubicBezTo>
                  <a:cubicBezTo>
                    <a:pt x="5256545" y="15852"/>
                    <a:pt x="5260022" y="24244"/>
                    <a:pt x="5260022" y="32995"/>
                  </a:cubicBezTo>
                  <a:close/>
                </a:path>
              </a:pathLst>
            </a:custGeom>
            <a:solidFill>
              <a:srgbClr val="1C5739">
                <a:alpha val="14902"/>
              </a:srgbClr>
            </a:solidFill>
          </p:spPr>
          <p:txBody>
            <a:bodyPr/>
            <a:lstStyle/>
            <a:p>
              <a:endParaRPr lang="en-US"/>
            </a:p>
          </p:txBody>
        </p:sp>
        <p:sp>
          <p:nvSpPr>
            <p:cNvPr id="15" name="TextBox 15"/>
            <p:cNvSpPr txBox="1"/>
            <p:nvPr/>
          </p:nvSpPr>
          <p:spPr>
            <a:xfrm>
              <a:off x="0" y="-19050"/>
              <a:ext cx="5260022" cy="874141"/>
            </a:xfrm>
            <a:prstGeom prst="rect">
              <a:avLst/>
            </a:prstGeom>
          </p:spPr>
          <p:txBody>
            <a:bodyPr lIns="50800" tIns="50800" rIns="50800" bIns="50800" rtlCol="0" anchor="ctr"/>
            <a:lstStyle/>
            <a:p>
              <a:pPr algn="ctr">
                <a:lnSpc>
                  <a:spcPts val="2859"/>
                </a:lnSpc>
              </a:pPr>
              <a:endParaRPr/>
            </a:p>
          </p:txBody>
        </p:sp>
      </p:grpSp>
      <p:sp>
        <p:nvSpPr>
          <p:cNvPr id="16" name="TextBox 16"/>
          <p:cNvSpPr txBox="1"/>
          <p:nvPr/>
        </p:nvSpPr>
        <p:spPr>
          <a:xfrm>
            <a:off x="1432672" y="2821684"/>
            <a:ext cx="13742441" cy="1615827"/>
          </a:xfrm>
          <a:prstGeom prst="rect">
            <a:avLst/>
          </a:prstGeom>
        </p:spPr>
        <p:txBody>
          <a:bodyPr lIns="0" tIns="0" rIns="0" bIns="0" rtlCol="0" anchor="t">
            <a:spAutoFit/>
          </a:bodyPr>
          <a:lstStyle/>
          <a:p>
            <a:pPr algn="l">
              <a:lnSpc>
                <a:spcPts val="2745"/>
              </a:lnSpc>
            </a:pPr>
            <a:r>
              <a:rPr lang="en-US" sz="1989" b="1" spc="194" dirty="0">
                <a:solidFill>
                  <a:srgbClr val="231F20"/>
                </a:solidFill>
                <a:latin typeface="Open Sauce Bold"/>
                <a:ea typeface="Open Sauce Bold"/>
                <a:cs typeface="Open Sauce Bold"/>
                <a:sym typeface="Open Sauce Bold"/>
              </a:rPr>
              <a:t>Brief Description:</a:t>
            </a:r>
          </a:p>
          <a:p>
            <a:pPr algn="l">
              <a:lnSpc>
                <a:spcPts val="2745"/>
              </a:lnSpc>
            </a:pPr>
            <a:endParaRPr lang="en-US" sz="1989" b="1" spc="194" dirty="0">
              <a:solidFill>
                <a:srgbClr val="231F20"/>
              </a:solidFill>
              <a:latin typeface="Open Sauce Bold"/>
              <a:ea typeface="Open Sauce Bold"/>
              <a:cs typeface="Open Sauce Bold"/>
              <a:sym typeface="Open Sauce Bold"/>
            </a:endParaRPr>
          </a:p>
          <a:p>
            <a:pPr lvl="0">
              <a:spcBef>
                <a:spcPct val="0"/>
              </a:spcBef>
            </a:pPr>
            <a:r>
              <a:rPr lang="en-US" sz="2000" dirty="0"/>
              <a:t>Scores recorded or live vivas from video/audio: face engagements, gaze/blinks, Whisper transcript, acoustics, speech emotion. Official Stage is three equal families—engagement, audio acoustics, transcript and the rest renormalized. AI narrative/Q&amp;A is feedback only and does not move the mark. Live interviewer copilot uses the same chain.</a:t>
            </a:r>
            <a:endParaRPr lang="en-US" sz="1989" spc="194" dirty="0">
              <a:solidFill>
                <a:srgbClr val="231F20"/>
              </a:solidFill>
              <a:latin typeface="Open Sauce"/>
              <a:ea typeface="Open Sauce"/>
              <a:cs typeface="Open Sauce"/>
              <a:sym typeface="Open Sauce"/>
            </a:endParaRPr>
          </a:p>
        </p:txBody>
      </p:sp>
      <p:grpSp>
        <p:nvGrpSpPr>
          <p:cNvPr id="17" name="Group 17"/>
          <p:cNvGrpSpPr/>
          <p:nvPr/>
        </p:nvGrpSpPr>
        <p:grpSpPr>
          <a:xfrm>
            <a:off x="1028700" y="5218417"/>
            <a:ext cx="14348091" cy="2326958"/>
            <a:chOff x="0" y="0"/>
            <a:chExt cx="5272930" cy="855091"/>
          </a:xfrm>
        </p:grpSpPr>
        <p:sp>
          <p:nvSpPr>
            <p:cNvPr id="18" name="Freeform 18"/>
            <p:cNvSpPr/>
            <p:nvPr/>
          </p:nvSpPr>
          <p:spPr>
            <a:xfrm>
              <a:off x="0" y="0"/>
              <a:ext cx="5272930" cy="855091"/>
            </a:xfrm>
            <a:custGeom>
              <a:avLst/>
              <a:gdLst/>
              <a:ahLst/>
              <a:cxnLst/>
              <a:rect l="l" t="t" r="r" b="b"/>
              <a:pathLst>
                <a:path w="5272930" h="855091">
                  <a:moveTo>
                    <a:pt x="5272930" y="32914"/>
                  </a:moveTo>
                  <a:lnTo>
                    <a:pt x="5272930" y="822177"/>
                  </a:lnTo>
                  <a:cubicBezTo>
                    <a:pt x="5272930" y="830906"/>
                    <a:pt x="5269462" y="839278"/>
                    <a:pt x="5263289" y="845451"/>
                  </a:cubicBezTo>
                  <a:cubicBezTo>
                    <a:pt x="5257117" y="851623"/>
                    <a:pt x="5248745" y="855091"/>
                    <a:pt x="5240015" y="855091"/>
                  </a:cubicBezTo>
                  <a:lnTo>
                    <a:pt x="32914" y="855091"/>
                  </a:lnTo>
                  <a:cubicBezTo>
                    <a:pt x="24185" y="855091"/>
                    <a:pt x="15813" y="851623"/>
                    <a:pt x="9640" y="845451"/>
                  </a:cubicBezTo>
                  <a:cubicBezTo>
                    <a:pt x="3468" y="839278"/>
                    <a:pt x="0" y="830906"/>
                    <a:pt x="0" y="822177"/>
                  </a:cubicBezTo>
                  <a:lnTo>
                    <a:pt x="0" y="32914"/>
                  </a:lnTo>
                  <a:cubicBezTo>
                    <a:pt x="0" y="24185"/>
                    <a:pt x="3468" y="15813"/>
                    <a:pt x="9640" y="9640"/>
                  </a:cubicBezTo>
                  <a:cubicBezTo>
                    <a:pt x="15813" y="3468"/>
                    <a:pt x="24185" y="0"/>
                    <a:pt x="32914" y="0"/>
                  </a:cubicBezTo>
                  <a:lnTo>
                    <a:pt x="5240015" y="0"/>
                  </a:lnTo>
                  <a:cubicBezTo>
                    <a:pt x="5248745" y="0"/>
                    <a:pt x="5257117" y="3468"/>
                    <a:pt x="5263289" y="9640"/>
                  </a:cubicBezTo>
                  <a:cubicBezTo>
                    <a:pt x="5269462" y="15813"/>
                    <a:pt x="5272930" y="24185"/>
                    <a:pt x="5272930" y="32914"/>
                  </a:cubicBezTo>
                  <a:close/>
                </a:path>
              </a:pathLst>
            </a:custGeom>
            <a:solidFill>
              <a:srgbClr val="1C5739">
                <a:alpha val="14902"/>
              </a:srgbClr>
            </a:solidFill>
          </p:spPr>
          <p:txBody>
            <a:bodyPr/>
            <a:lstStyle/>
            <a:p>
              <a:endParaRPr lang="en-US"/>
            </a:p>
          </p:txBody>
        </p:sp>
        <p:sp>
          <p:nvSpPr>
            <p:cNvPr id="19" name="TextBox 19"/>
            <p:cNvSpPr txBox="1"/>
            <p:nvPr/>
          </p:nvSpPr>
          <p:spPr>
            <a:xfrm>
              <a:off x="0" y="-19050"/>
              <a:ext cx="5272930" cy="874141"/>
            </a:xfrm>
            <a:prstGeom prst="rect">
              <a:avLst/>
            </a:prstGeom>
          </p:spPr>
          <p:txBody>
            <a:bodyPr lIns="50800" tIns="50800" rIns="50800" bIns="50800" rtlCol="0" anchor="ctr"/>
            <a:lstStyle/>
            <a:p>
              <a:pPr algn="ctr">
                <a:lnSpc>
                  <a:spcPts val="2859"/>
                </a:lnSpc>
              </a:pPr>
              <a:endParaRPr/>
            </a:p>
          </p:txBody>
        </p:sp>
      </p:grpSp>
      <p:sp>
        <p:nvSpPr>
          <p:cNvPr id="20" name="TextBox 20"/>
          <p:cNvSpPr txBox="1"/>
          <p:nvPr/>
        </p:nvSpPr>
        <p:spPr>
          <a:xfrm>
            <a:off x="1432672" y="5414580"/>
            <a:ext cx="13742441" cy="1011431"/>
          </a:xfrm>
          <a:prstGeom prst="rect">
            <a:avLst/>
          </a:prstGeom>
        </p:spPr>
        <p:txBody>
          <a:bodyPr lIns="0" tIns="0" rIns="0" bIns="0" rtlCol="0" anchor="t">
            <a:spAutoFit/>
          </a:bodyPr>
          <a:lstStyle/>
          <a:p>
            <a:pPr algn="l">
              <a:lnSpc>
                <a:spcPts val="2731"/>
              </a:lnSpc>
            </a:pPr>
            <a:r>
              <a:rPr lang="en-US" sz="1979" b="1" spc="193" dirty="0">
                <a:solidFill>
                  <a:srgbClr val="231F20"/>
                </a:solidFill>
                <a:latin typeface="Open Sauce Bold"/>
                <a:ea typeface="Open Sauce Bold"/>
                <a:cs typeface="Open Sauce Bold"/>
                <a:sym typeface="Open Sauce Bold"/>
              </a:rPr>
              <a:t>How It Fits the Whole Solution:</a:t>
            </a:r>
          </a:p>
          <a:p>
            <a:pPr algn="l">
              <a:lnSpc>
                <a:spcPts val="2731"/>
              </a:lnSpc>
            </a:pPr>
            <a:endParaRPr lang="en-US" sz="1979" b="1" spc="193" dirty="0">
              <a:solidFill>
                <a:srgbClr val="231F20"/>
              </a:solidFill>
              <a:latin typeface="Open Sauce Bold"/>
              <a:ea typeface="Open Sauce Bold"/>
              <a:cs typeface="Open Sauce Bold"/>
              <a:sym typeface="Open Sauce Bold"/>
            </a:endParaRPr>
          </a:p>
          <a:p>
            <a:pPr lvl="0">
              <a:spcBef>
                <a:spcPct val="0"/>
              </a:spcBef>
            </a:pPr>
            <a:r>
              <a:rPr lang="en-US" sz="2000" dirty="0"/>
              <a:t>Oral assessment after written work. Completes the four-mode platform (text, diagram, viva, analytics).</a:t>
            </a:r>
            <a:endParaRPr lang="en-US" sz="1979" spc="193" dirty="0">
              <a:solidFill>
                <a:srgbClr val="231F20"/>
              </a:solidFill>
              <a:latin typeface="Open Sauce"/>
              <a:ea typeface="Open Sauce"/>
              <a:cs typeface="Open Sauce"/>
              <a:sym typeface="Open Sauce"/>
            </a:endParaRPr>
          </a:p>
        </p:txBody>
      </p:sp>
      <p:sp>
        <p:nvSpPr>
          <p:cNvPr id="21" name="TextBox 20">
            <a:extLst>
              <a:ext uri="{FF2B5EF4-FFF2-40B4-BE49-F238E27FC236}">
                <a16:creationId xmlns:a16="http://schemas.microsoft.com/office/drawing/2014/main" id="{F13EFEF4-77CB-8A7A-7DAA-578D5EEBDD22}"/>
              </a:ext>
            </a:extLst>
          </p:cNvPr>
          <p:cNvSpPr txBox="1"/>
          <p:nvPr/>
        </p:nvSpPr>
        <p:spPr>
          <a:xfrm>
            <a:off x="935545" y="1681426"/>
            <a:ext cx="4522369" cy="523220"/>
          </a:xfrm>
          <a:prstGeom prst="rect">
            <a:avLst/>
          </a:prstGeom>
          <a:noFill/>
        </p:spPr>
        <p:txBody>
          <a:bodyPr wrap="square">
            <a:spAutoFit/>
          </a:bodyPr>
          <a:lstStyle/>
          <a:p>
            <a:r>
              <a:rPr lang="en-US" sz="2800" b="1" dirty="0">
                <a:solidFill>
                  <a:srgbClr val="5C8485"/>
                </a:solidFill>
                <a:latin typeface="DM Sans" pitchFamily="2" charset="0"/>
              </a:rPr>
              <a:t>Viva Evaluation Engine</a:t>
            </a:r>
            <a:endParaRPr lang="en-US" sz="2400" b="1" dirty="0">
              <a:solidFill>
                <a:srgbClr val="5C8485"/>
              </a:solidFill>
              <a:latin typeface="DM Sans" pitchFamily="2" charset="0"/>
              <a:ea typeface="DM Sans Bold"/>
              <a:cs typeface="DM Sans Bold"/>
              <a:sym typeface="DM Sans Bold"/>
            </a:endParaRPr>
          </a:p>
        </p:txBody>
      </p:sp>
      <p:sp>
        <p:nvSpPr>
          <p:cNvPr id="23" name="TextBox 10">
            <a:extLst>
              <a:ext uri="{FF2B5EF4-FFF2-40B4-BE49-F238E27FC236}">
                <a16:creationId xmlns:a16="http://schemas.microsoft.com/office/drawing/2014/main" id="{9648A728-6AB7-FACE-74FD-20110E792A54}"/>
              </a:ext>
            </a:extLst>
          </p:cNvPr>
          <p:cNvSpPr txBox="1"/>
          <p:nvPr/>
        </p:nvSpPr>
        <p:spPr>
          <a:xfrm>
            <a:off x="1011211" y="738811"/>
            <a:ext cx="12594364" cy="670889"/>
          </a:xfrm>
          <a:prstGeom prst="rect">
            <a:avLst/>
          </a:prstGeom>
        </p:spPr>
        <p:txBody>
          <a:bodyPr wrap="square" lIns="0" tIns="0" rIns="0" bIns="0" rtlCol="0" anchor="t">
            <a:spAutoFit/>
          </a:bodyPr>
          <a:lstStyle/>
          <a:p>
            <a:pPr algn="l">
              <a:lnSpc>
                <a:spcPts val="4650"/>
              </a:lnSpc>
            </a:pPr>
            <a:r>
              <a:rPr lang="en-US" sz="6000" b="1" dirty="0">
                <a:solidFill>
                  <a:srgbClr val="000000"/>
                </a:solidFill>
                <a:latin typeface="Signika Bold"/>
                <a:ea typeface="Signika Bold"/>
                <a:cs typeface="Signika Bold"/>
                <a:sym typeface="Signika Bold"/>
              </a:rPr>
              <a:t>IT22557056 – Herath B. K. H. M. B. L</a:t>
            </a:r>
          </a:p>
        </p:txBody>
      </p:sp>
      <p:sp>
        <p:nvSpPr>
          <p:cNvPr id="25" name="TextBox 13">
            <a:extLst>
              <a:ext uri="{FF2B5EF4-FFF2-40B4-BE49-F238E27FC236}">
                <a16:creationId xmlns:a16="http://schemas.microsoft.com/office/drawing/2014/main" id="{EC02284A-11F1-9B06-3B90-3FC4256AABD9}"/>
              </a:ext>
            </a:extLst>
          </p:cNvPr>
          <p:cNvSpPr txBox="1"/>
          <p:nvPr/>
        </p:nvSpPr>
        <p:spPr>
          <a:xfrm>
            <a:off x="14020800" y="9672603"/>
            <a:ext cx="2240574" cy="319190"/>
          </a:xfrm>
          <a:prstGeom prst="rect">
            <a:avLst/>
          </a:prstGeom>
        </p:spPr>
        <p:txBody>
          <a:bodyPr wrap="square" lIns="0" tIns="0" rIns="0" bIns="0" rtlCol="0" anchor="t">
            <a:spAutoFit/>
          </a:bodyPr>
          <a:lstStyle/>
          <a:p>
            <a:pPr algn="ctr">
              <a:lnSpc>
                <a:spcPts val="2411"/>
              </a:lnSpc>
              <a:spcBef>
                <a:spcPct val="0"/>
              </a:spcBef>
            </a:pPr>
            <a:r>
              <a:rPr lang="en-US" sz="2411" dirty="0">
                <a:solidFill>
                  <a:srgbClr val="FFFFFF"/>
                </a:solidFill>
                <a:latin typeface="DM Sans"/>
                <a:ea typeface="DM Sans"/>
                <a:cs typeface="DM Sans"/>
                <a:sym typeface="DM Sans"/>
              </a:rPr>
              <a:t>20/10/2026</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9808494" y="5557971"/>
            <a:ext cx="7891439" cy="3865129"/>
            <a:chOff x="0" y="0"/>
            <a:chExt cx="2284547" cy="1118949"/>
          </a:xfrm>
        </p:grpSpPr>
        <p:sp>
          <p:nvSpPr>
            <p:cNvPr id="3" name="Freeform 3"/>
            <p:cNvSpPr/>
            <p:nvPr/>
          </p:nvSpPr>
          <p:spPr>
            <a:xfrm>
              <a:off x="0" y="0"/>
              <a:ext cx="2284547" cy="1118949"/>
            </a:xfrm>
            <a:custGeom>
              <a:avLst/>
              <a:gdLst/>
              <a:ahLst/>
              <a:cxnLst/>
              <a:rect l="l" t="t" r="r" b="b"/>
              <a:pathLst>
                <a:path w="2284547" h="1118949">
                  <a:moveTo>
                    <a:pt x="2284547" y="43166"/>
                  </a:moveTo>
                  <a:lnTo>
                    <a:pt x="2284547" y="1075782"/>
                  </a:lnTo>
                  <a:cubicBezTo>
                    <a:pt x="2284547" y="1099623"/>
                    <a:pt x="2265221" y="1118949"/>
                    <a:pt x="2241381" y="1118949"/>
                  </a:cubicBezTo>
                  <a:lnTo>
                    <a:pt x="43166" y="1118949"/>
                  </a:lnTo>
                  <a:cubicBezTo>
                    <a:pt x="31718" y="1118949"/>
                    <a:pt x="20738" y="1114401"/>
                    <a:pt x="12643" y="1106306"/>
                  </a:cubicBezTo>
                  <a:cubicBezTo>
                    <a:pt x="4548" y="1098210"/>
                    <a:pt x="0" y="1087231"/>
                    <a:pt x="0" y="1075782"/>
                  </a:cubicBezTo>
                  <a:lnTo>
                    <a:pt x="0" y="43166"/>
                  </a:lnTo>
                  <a:cubicBezTo>
                    <a:pt x="0" y="31718"/>
                    <a:pt x="4548" y="20738"/>
                    <a:pt x="12643" y="12643"/>
                  </a:cubicBezTo>
                  <a:cubicBezTo>
                    <a:pt x="20738" y="4548"/>
                    <a:pt x="31718" y="0"/>
                    <a:pt x="43166" y="0"/>
                  </a:cubicBezTo>
                  <a:lnTo>
                    <a:pt x="2241381" y="0"/>
                  </a:lnTo>
                  <a:cubicBezTo>
                    <a:pt x="2252829" y="0"/>
                    <a:pt x="2263809" y="4548"/>
                    <a:pt x="2271904" y="12643"/>
                  </a:cubicBezTo>
                  <a:cubicBezTo>
                    <a:pt x="2279999" y="20738"/>
                    <a:pt x="2284547" y="31718"/>
                    <a:pt x="2284547" y="43166"/>
                  </a:cubicBezTo>
                  <a:close/>
                </a:path>
              </a:pathLst>
            </a:custGeom>
            <a:solidFill>
              <a:srgbClr val="1C5739"/>
            </a:solidFill>
          </p:spPr>
          <p:txBody>
            <a:bodyPr/>
            <a:lstStyle/>
            <a:p>
              <a:endParaRPr lang="en-US"/>
            </a:p>
          </p:txBody>
        </p:sp>
        <p:sp>
          <p:nvSpPr>
            <p:cNvPr id="4" name="TextBox 4"/>
            <p:cNvSpPr txBox="1"/>
            <p:nvPr/>
          </p:nvSpPr>
          <p:spPr>
            <a:xfrm>
              <a:off x="0" y="-19050"/>
              <a:ext cx="2284547" cy="1137999"/>
            </a:xfrm>
            <a:prstGeom prst="rect">
              <a:avLst/>
            </a:prstGeom>
          </p:spPr>
          <p:txBody>
            <a:bodyPr lIns="50800" tIns="50800" rIns="50800" bIns="50800" rtlCol="0" anchor="ctr"/>
            <a:lstStyle/>
            <a:p>
              <a:pPr algn="ctr">
                <a:lnSpc>
                  <a:spcPts val="2859"/>
                </a:lnSpc>
              </a:pPr>
              <a:endParaRPr/>
            </a:p>
          </p:txBody>
        </p:sp>
      </p:grpSp>
      <p:sp>
        <p:nvSpPr>
          <p:cNvPr id="5" name="TextBox 5"/>
          <p:cNvSpPr txBox="1"/>
          <p:nvPr/>
        </p:nvSpPr>
        <p:spPr>
          <a:xfrm>
            <a:off x="10213329" y="5827232"/>
            <a:ext cx="7081769" cy="2042162"/>
          </a:xfrm>
          <a:prstGeom prst="rect">
            <a:avLst/>
          </a:prstGeom>
        </p:spPr>
        <p:txBody>
          <a:bodyPr lIns="0" tIns="0" rIns="0" bIns="0" rtlCol="0" anchor="t">
            <a:spAutoFit/>
          </a:bodyPr>
          <a:lstStyle/>
          <a:p>
            <a:pPr algn="l">
              <a:lnSpc>
                <a:spcPts val="2459"/>
              </a:lnSpc>
            </a:pPr>
            <a:r>
              <a:rPr lang="en-US" sz="1781" spc="174" dirty="0">
                <a:solidFill>
                  <a:srgbClr val="FFFFFF"/>
                </a:solidFill>
                <a:latin typeface="Open Sauce"/>
                <a:ea typeface="Open Sauce"/>
                <a:cs typeface="Open Sauce"/>
                <a:sym typeface="Open Sauce"/>
              </a:rPr>
              <a:t>Future Improvements</a:t>
            </a:r>
          </a:p>
          <a:p>
            <a:pPr algn="l">
              <a:lnSpc>
                <a:spcPts val="2459"/>
              </a:lnSpc>
            </a:pPr>
            <a:endParaRPr lang="en-US" sz="1781" spc="174" dirty="0">
              <a:solidFill>
                <a:srgbClr val="FFFFFF"/>
              </a:solidFill>
              <a:latin typeface="Open Sauce"/>
              <a:ea typeface="Open Sauce"/>
              <a:cs typeface="Open Sauce"/>
              <a:sym typeface="Open Sauce"/>
            </a:endParaRPr>
          </a:p>
          <a:p>
            <a:pPr marL="285750" lvl="0" indent="-285750">
              <a:buFont typeface="Arial" panose="020B0604020202020204" pitchFamily="34" charset="0"/>
              <a:buChar char="•"/>
            </a:pPr>
            <a:r>
              <a:rPr lang="en-US" dirty="0">
                <a:solidFill>
                  <a:schemeClr val="bg1"/>
                </a:solidFill>
              </a:rPr>
              <a:t>Stronger OCR/split on messy multi-page handwriting</a:t>
            </a:r>
          </a:p>
          <a:p>
            <a:pPr marL="285750" lvl="0" indent="-285750">
              <a:buFont typeface="Arial" panose="020B0604020202020204" pitchFamily="34" charset="0"/>
              <a:buChar char="•"/>
            </a:pPr>
            <a:r>
              <a:rPr lang="en-US" dirty="0">
                <a:solidFill>
                  <a:schemeClr val="bg1"/>
                </a:solidFill>
              </a:rPr>
              <a:t>Validated viva CNN-LSTM temporal engagement</a:t>
            </a:r>
          </a:p>
          <a:p>
            <a:pPr marL="285750" lvl="0" indent="-285750">
              <a:buFont typeface="Arial" panose="020B0604020202020204" pitchFamily="34" charset="0"/>
              <a:buChar char="•"/>
            </a:pPr>
            <a:r>
              <a:rPr lang="en-US" dirty="0">
                <a:solidFill>
                  <a:schemeClr val="bg1"/>
                </a:solidFill>
              </a:rPr>
              <a:t>Exam Creator quality vs human papers</a:t>
            </a:r>
          </a:p>
          <a:p>
            <a:pPr marL="285750" lvl="0" indent="-285750">
              <a:buFont typeface="Arial" panose="020B0604020202020204" pitchFamily="34" charset="0"/>
              <a:buChar char="•"/>
            </a:pPr>
            <a:r>
              <a:rPr lang="en-US" dirty="0">
                <a:solidFill>
                  <a:schemeClr val="bg1"/>
                </a:solidFill>
              </a:rPr>
              <a:t>Faster and more accurate engine integration</a:t>
            </a:r>
          </a:p>
          <a:p>
            <a:pPr algn="l">
              <a:lnSpc>
                <a:spcPts val="2459"/>
              </a:lnSpc>
            </a:pPr>
            <a:endParaRPr lang="en-US" sz="1781" spc="174" dirty="0">
              <a:solidFill>
                <a:srgbClr val="FFFFFF"/>
              </a:solidFill>
              <a:latin typeface="Open Sauce"/>
              <a:ea typeface="Open Sauce"/>
              <a:cs typeface="Open Sauce"/>
              <a:sym typeface="Open Sauce"/>
            </a:endParaRPr>
          </a:p>
        </p:txBody>
      </p:sp>
      <p:grpSp>
        <p:nvGrpSpPr>
          <p:cNvPr id="6" name="Group 6"/>
          <p:cNvGrpSpPr/>
          <p:nvPr/>
        </p:nvGrpSpPr>
        <p:grpSpPr>
          <a:xfrm>
            <a:off x="487252" y="5557971"/>
            <a:ext cx="8969524" cy="3865129"/>
            <a:chOff x="0" y="0"/>
            <a:chExt cx="2596649" cy="1118949"/>
          </a:xfrm>
        </p:grpSpPr>
        <p:sp>
          <p:nvSpPr>
            <p:cNvPr id="7" name="Freeform 7"/>
            <p:cNvSpPr/>
            <p:nvPr/>
          </p:nvSpPr>
          <p:spPr>
            <a:xfrm>
              <a:off x="0" y="0"/>
              <a:ext cx="2596649" cy="1118949"/>
            </a:xfrm>
            <a:custGeom>
              <a:avLst/>
              <a:gdLst/>
              <a:ahLst/>
              <a:cxnLst/>
              <a:rect l="l" t="t" r="r" b="b"/>
              <a:pathLst>
                <a:path w="2596649" h="1118949">
                  <a:moveTo>
                    <a:pt x="2596649" y="37978"/>
                  </a:moveTo>
                  <a:lnTo>
                    <a:pt x="2596649" y="1080971"/>
                  </a:lnTo>
                  <a:cubicBezTo>
                    <a:pt x="2596649" y="1101945"/>
                    <a:pt x="2579646" y="1118949"/>
                    <a:pt x="2558671" y="1118949"/>
                  </a:cubicBezTo>
                  <a:lnTo>
                    <a:pt x="37978" y="1118949"/>
                  </a:lnTo>
                  <a:cubicBezTo>
                    <a:pt x="17003" y="1118949"/>
                    <a:pt x="0" y="1101945"/>
                    <a:pt x="0" y="1080971"/>
                  </a:cubicBezTo>
                  <a:lnTo>
                    <a:pt x="0" y="37978"/>
                  </a:lnTo>
                  <a:cubicBezTo>
                    <a:pt x="0" y="17003"/>
                    <a:pt x="17003" y="0"/>
                    <a:pt x="37978" y="0"/>
                  </a:cubicBezTo>
                  <a:lnTo>
                    <a:pt x="2558671" y="0"/>
                  </a:lnTo>
                  <a:cubicBezTo>
                    <a:pt x="2579646" y="0"/>
                    <a:pt x="2596649" y="17003"/>
                    <a:pt x="2596649" y="37978"/>
                  </a:cubicBezTo>
                  <a:close/>
                </a:path>
              </a:pathLst>
            </a:custGeom>
            <a:solidFill>
              <a:srgbClr val="1C5739"/>
            </a:solidFill>
          </p:spPr>
          <p:txBody>
            <a:bodyPr/>
            <a:lstStyle/>
            <a:p>
              <a:endParaRPr lang="en-US"/>
            </a:p>
          </p:txBody>
        </p:sp>
        <p:sp>
          <p:nvSpPr>
            <p:cNvPr id="8" name="TextBox 8"/>
            <p:cNvSpPr txBox="1"/>
            <p:nvPr/>
          </p:nvSpPr>
          <p:spPr>
            <a:xfrm>
              <a:off x="0" y="-19050"/>
              <a:ext cx="2596649" cy="1137999"/>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659866" y="5792823"/>
            <a:ext cx="8624296" cy="1749197"/>
          </a:xfrm>
          <a:prstGeom prst="rect">
            <a:avLst/>
          </a:prstGeom>
        </p:spPr>
        <p:txBody>
          <a:bodyPr lIns="0" tIns="0" rIns="0" bIns="0" rtlCol="0" anchor="t">
            <a:spAutoFit/>
          </a:bodyPr>
          <a:lstStyle/>
          <a:p>
            <a:pPr algn="l">
              <a:lnSpc>
                <a:spcPts val="2459"/>
              </a:lnSpc>
            </a:pPr>
            <a:r>
              <a:rPr lang="en-US" sz="1781" spc="174" dirty="0">
                <a:solidFill>
                  <a:schemeClr val="bg1"/>
                </a:solidFill>
                <a:latin typeface="Open Sauce"/>
                <a:ea typeface="Open Sauce"/>
                <a:cs typeface="Open Sauce"/>
                <a:sym typeface="Open Sauce"/>
              </a:rPr>
              <a:t>Limitations of the System</a:t>
            </a:r>
          </a:p>
          <a:p>
            <a:pPr algn="l">
              <a:lnSpc>
                <a:spcPts val="2459"/>
              </a:lnSpc>
            </a:pPr>
            <a:endParaRPr lang="en-US" sz="1781" spc="174" dirty="0">
              <a:solidFill>
                <a:schemeClr val="bg1"/>
              </a:solidFill>
              <a:latin typeface="Open Sauce"/>
              <a:ea typeface="Open Sauce"/>
              <a:cs typeface="Open Sauce"/>
              <a:sym typeface="Open Sauce"/>
            </a:endParaRPr>
          </a:p>
          <a:p>
            <a:pPr marL="285750" lvl="0" indent="-285750">
              <a:buFont typeface="Arial" panose="020B0604020202020204" pitchFamily="34" charset="0"/>
              <a:buChar char="•"/>
            </a:pPr>
            <a:r>
              <a:rPr lang="en-US" dirty="0">
                <a:solidFill>
                  <a:schemeClr val="bg1"/>
                </a:solidFill>
              </a:rPr>
              <a:t>Grading quality depends on OCR, rubric, and model availability</a:t>
            </a:r>
          </a:p>
          <a:p>
            <a:pPr marL="285750" lvl="0" indent="-285750">
              <a:buFont typeface="Arial" panose="020B0604020202020204" pitchFamily="34" charset="0"/>
              <a:buChar char="•"/>
            </a:pPr>
            <a:r>
              <a:rPr lang="en-US" dirty="0">
                <a:solidFill>
                  <a:schemeClr val="bg1"/>
                </a:solidFill>
              </a:rPr>
              <a:t>Fine-tune corpus is synthetic Software Architecture</a:t>
            </a:r>
          </a:p>
          <a:p>
            <a:pPr marL="285750" lvl="0" indent="-285750">
              <a:buFont typeface="Arial" panose="020B0604020202020204" pitchFamily="34" charset="0"/>
              <a:buChar char="•"/>
            </a:pPr>
            <a:r>
              <a:rPr lang="en-US" dirty="0">
                <a:solidFill>
                  <a:schemeClr val="bg1"/>
                </a:solidFill>
              </a:rPr>
              <a:t>Viva mark ignores LLM “criterion scores”; some sensors are diagnostic only</a:t>
            </a:r>
          </a:p>
          <a:p>
            <a:pPr marL="285750" lvl="0" indent="-285750">
              <a:buFont typeface="Arial" panose="020B0604020202020204" pitchFamily="34" charset="0"/>
              <a:buChar char="•"/>
            </a:pPr>
            <a:r>
              <a:rPr lang="en-US" dirty="0">
                <a:solidFill>
                  <a:schemeClr val="bg1"/>
                </a:solidFill>
              </a:rPr>
              <a:t>Diagram grading depends on detection/OCR of the drawing</a:t>
            </a:r>
          </a:p>
        </p:txBody>
      </p:sp>
      <p:grpSp>
        <p:nvGrpSpPr>
          <p:cNvPr id="10" name="Group 10"/>
          <p:cNvGrpSpPr/>
          <p:nvPr/>
        </p:nvGrpSpPr>
        <p:grpSpPr>
          <a:xfrm>
            <a:off x="2294692" y="1027701"/>
            <a:ext cx="13719093" cy="3971005"/>
            <a:chOff x="0" y="-19050"/>
            <a:chExt cx="4106580" cy="1188561"/>
          </a:xfrm>
        </p:grpSpPr>
        <p:sp>
          <p:nvSpPr>
            <p:cNvPr id="11" name="Freeform 11"/>
            <p:cNvSpPr/>
            <p:nvPr/>
          </p:nvSpPr>
          <p:spPr>
            <a:xfrm>
              <a:off x="6128" y="0"/>
              <a:ext cx="4100452" cy="1169511"/>
            </a:xfrm>
            <a:custGeom>
              <a:avLst/>
              <a:gdLst/>
              <a:ahLst/>
              <a:cxnLst/>
              <a:rect l="l" t="t" r="r" b="b"/>
              <a:pathLst>
                <a:path w="4100452" h="1169511">
                  <a:moveTo>
                    <a:pt x="4100452" y="34475"/>
                  </a:moveTo>
                  <a:lnTo>
                    <a:pt x="4100452" y="1135036"/>
                  </a:lnTo>
                  <a:cubicBezTo>
                    <a:pt x="4100452" y="1144179"/>
                    <a:pt x="4096819" y="1152948"/>
                    <a:pt x="4090354" y="1159414"/>
                  </a:cubicBezTo>
                  <a:cubicBezTo>
                    <a:pt x="4083889" y="1165879"/>
                    <a:pt x="4075120" y="1169511"/>
                    <a:pt x="4065977" y="1169511"/>
                  </a:cubicBezTo>
                  <a:lnTo>
                    <a:pt x="34475" y="1169511"/>
                  </a:lnTo>
                  <a:cubicBezTo>
                    <a:pt x="15435" y="1169511"/>
                    <a:pt x="0" y="1154076"/>
                    <a:pt x="0" y="1135036"/>
                  </a:cubicBezTo>
                  <a:lnTo>
                    <a:pt x="0" y="34475"/>
                  </a:lnTo>
                  <a:cubicBezTo>
                    <a:pt x="0" y="25332"/>
                    <a:pt x="3632" y="16563"/>
                    <a:pt x="10097" y="10097"/>
                  </a:cubicBezTo>
                  <a:cubicBezTo>
                    <a:pt x="16563" y="3632"/>
                    <a:pt x="25332" y="0"/>
                    <a:pt x="34475" y="0"/>
                  </a:cubicBezTo>
                  <a:lnTo>
                    <a:pt x="4065977" y="0"/>
                  </a:lnTo>
                  <a:cubicBezTo>
                    <a:pt x="4075120" y="0"/>
                    <a:pt x="4083889" y="3632"/>
                    <a:pt x="4090354" y="10097"/>
                  </a:cubicBezTo>
                  <a:cubicBezTo>
                    <a:pt x="4096819" y="16563"/>
                    <a:pt x="4100452" y="25332"/>
                    <a:pt x="4100452" y="34475"/>
                  </a:cubicBezTo>
                  <a:close/>
                </a:path>
              </a:pathLst>
            </a:custGeom>
            <a:solidFill>
              <a:srgbClr val="1C5739">
                <a:alpha val="14902"/>
              </a:srgbClr>
            </a:solidFill>
          </p:spPr>
          <p:txBody>
            <a:bodyPr/>
            <a:lstStyle/>
            <a:p>
              <a:endParaRPr lang="en-US"/>
            </a:p>
          </p:txBody>
        </p:sp>
        <p:sp>
          <p:nvSpPr>
            <p:cNvPr id="12" name="TextBox 12"/>
            <p:cNvSpPr txBox="1"/>
            <p:nvPr/>
          </p:nvSpPr>
          <p:spPr>
            <a:xfrm>
              <a:off x="0" y="-19050"/>
              <a:ext cx="4100451" cy="1188561"/>
            </a:xfrm>
            <a:prstGeom prst="rect">
              <a:avLst/>
            </a:prstGeom>
          </p:spPr>
          <p:txBody>
            <a:bodyPr lIns="50800" tIns="50800" rIns="50800" bIns="50800" rtlCol="0" anchor="ctr"/>
            <a:lstStyle/>
            <a:p>
              <a:pPr algn="ctr">
                <a:lnSpc>
                  <a:spcPts val="2859"/>
                </a:lnSpc>
              </a:pPr>
              <a:endParaRPr/>
            </a:p>
          </p:txBody>
        </p:sp>
      </p:grpSp>
      <p:sp>
        <p:nvSpPr>
          <p:cNvPr id="13" name="TextBox 13"/>
          <p:cNvSpPr txBox="1"/>
          <p:nvPr/>
        </p:nvSpPr>
        <p:spPr>
          <a:xfrm>
            <a:off x="2700605" y="1233556"/>
            <a:ext cx="12886790" cy="1008096"/>
          </a:xfrm>
          <a:prstGeom prst="rect">
            <a:avLst/>
          </a:prstGeom>
        </p:spPr>
        <p:txBody>
          <a:bodyPr lIns="0" tIns="0" rIns="0" bIns="0" rtlCol="0" anchor="t">
            <a:spAutoFit/>
          </a:bodyPr>
          <a:lstStyle/>
          <a:p>
            <a:pPr algn="l">
              <a:lnSpc>
                <a:spcPts val="2749"/>
              </a:lnSpc>
            </a:pPr>
            <a:r>
              <a:rPr lang="en-US" sz="1992" b="1" spc="195" dirty="0">
                <a:solidFill>
                  <a:srgbClr val="1C5739"/>
                </a:solidFill>
                <a:latin typeface="Open Sauce Bold"/>
                <a:ea typeface="Open Sauce Bold"/>
                <a:cs typeface="Open Sauce Bold"/>
                <a:sym typeface="Open Sauce Bold"/>
              </a:rPr>
              <a:t>Results &amp; Testimonials</a:t>
            </a:r>
          </a:p>
          <a:p>
            <a:pPr algn="l">
              <a:lnSpc>
                <a:spcPts val="2749"/>
              </a:lnSpc>
            </a:pPr>
            <a:endParaRPr lang="en-US" sz="1992" b="1" spc="195" dirty="0">
              <a:solidFill>
                <a:srgbClr val="1C5739"/>
              </a:solidFill>
              <a:latin typeface="Open Sauce Bold"/>
              <a:ea typeface="Open Sauce Bold"/>
              <a:cs typeface="Open Sauce Bold"/>
              <a:sym typeface="Open Sauce Bold"/>
            </a:endParaRPr>
          </a:p>
          <a:p>
            <a:pPr algn="l">
              <a:lnSpc>
                <a:spcPts val="2749"/>
              </a:lnSpc>
            </a:pPr>
            <a:endParaRPr lang="en-US" sz="1896" spc="185" dirty="0">
              <a:solidFill>
                <a:srgbClr val="1C5739"/>
              </a:solidFill>
              <a:latin typeface="Open Sauce"/>
              <a:ea typeface="Open Sauce"/>
              <a:cs typeface="Open Sauce"/>
              <a:sym typeface="Open Sauce"/>
            </a:endParaRPr>
          </a:p>
        </p:txBody>
      </p:sp>
      <p:sp>
        <p:nvSpPr>
          <p:cNvPr id="14" name="Freeform 14"/>
          <p:cNvSpPr/>
          <p:nvPr/>
        </p:nvSpPr>
        <p:spPr>
          <a:xfrm>
            <a:off x="16080164" y="-1072004"/>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5" name="Group 15"/>
          <p:cNvGrpSpPr/>
          <p:nvPr/>
        </p:nvGrpSpPr>
        <p:grpSpPr>
          <a:xfrm>
            <a:off x="15153296" y="-1557916"/>
            <a:ext cx="2649263" cy="2649263"/>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5739"/>
            </a:solidFill>
            <a:ln cap="sq">
              <a:noFill/>
              <a:prstDash val="solid"/>
              <a:miter/>
            </a:ln>
          </p:spPr>
          <p:txBody>
            <a:bodyPr/>
            <a:lstStyle/>
            <a:p>
              <a:endParaRPr lang="en-US"/>
            </a:p>
          </p:txBody>
        </p:sp>
        <p:sp>
          <p:nvSpPr>
            <p:cNvPr id="17" name="TextBox 17"/>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19" name="TextBox 18">
            <a:extLst>
              <a:ext uri="{FF2B5EF4-FFF2-40B4-BE49-F238E27FC236}">
                <a16:creationId xmlns:a16="http://schemas.microsoft.com/office/drawing/2014/main" id="{A33206B3-8448-097F-3DF5-6893A0A7A7D7}"/>
              </a:ext>
            </a:extLst>
          </p:cNvPr>
          <p:cNvSpPr txBox="1"/>
          <p:nvPr/>
        </p:nvSpPr>
        <p:spPr>
          <a:xfrm>
            <a:off x="2634224" y="1737604"/>
            <a:ext cx="13060500" cy="2862322"/>
          </a:xfrm>
          <a:prstGeom prst="rect">
            <a:avLst/>
          </a:prstGeom>
          <a:noFill/>
        </p:spPr>
        <p:txBody>
          <a:bodyPr wrap="square">
            <a:spAutoFit/>
          </a:bodyPr>
          <a:lstStyle/>
          <a:p>
            <a:r>
              <a:rPr lang="en-US" sz="3600" dirty="0"/>
              <a:t>The Diagram Evaluation Engine, Adaptive Exam Analytics Engine, Handwritten Essay Grading Engine, and Viva Evaluation Engine have been successfully developed and validated by academic experts through user testing to assess their accuracy, reliability, usability, and effectiveness in supporting automated academic assessment.</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10800000">
            <a:off x="-305814" y="-323115"/>
            <a:ext cx="8744064" cy="2511931"/>
          </a:xfrm>
          <a:custGeom>
            <a:avLst/>
            <a:gdLst/>
            <a:ahLst/>
            <a:cxnLst/>
            <a:rect l="l" t="t" r="r" b="b"/>
            <a:pathLst>
              <a:path w="8744064" h="2511931">
                <a:moveTo>
                  <a:pt x="0" y="0"/>
                </a:moveTo>
                <a:lnTo>
                  <a:pt x="8744064" y="0"/>
                </a:lnTo>
                <a:lnTo>
                  <a:pt x="8744064" y="2511931"/>
                </a:lnTo>
                <a:lnTo>
                  <a:pt x="0" y="251193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p:nvPr/>
        </p:nvGrpSpPr>
        <p:grpSpPr>
          <a:xfrm>
            <a:off x="15201900" y="-323115"/>
            <a:ext cx="3086100" cy="11299900"/>
            <a:chOff x="0" y="0"/>
            <a:chExt cx="812800" cy="2976105"/>
          </a:xfrm>
        </p:grpSpPr>
        <p:sp>
          <p:nvSpPr>
            <p:cNvPr id="7" name="Freeform 7"/>
            <p:cNvSpPr/>
            <p:nvPr/>
          </p:nvSpPr>
          <p:spPr>
            <a:xfrm>
              <a:off x="0" y="0"/>
              <a:ext cx="812800" cy="2976105"/>
            </a:xfrm>
            <a:custGeom>
              <a:avLst/>
              <a:gdLst/>
              <a:ahLst/>
              <a:cxnLst/>
              <a:rect l="l" t="t" r="r" b="b"/>
              <a:pathLst>
                <a:path w="812800" h="2976105">
                  <a:moveTo>
                    <a:pt x="0" y="0"/>
                  </a:moveTo>
                  <a:lnTo>
                    <a:pt x="812800" y="0"/>
                  </a:lnTo>
                  <a:lnTo>
                    <a:pt x="812800" y="2976105"/>
                  </a:lnTo>
                  <a:lnTo>
                    <a:pt x="0" y="2976105"/>
                  </a:lnTo>
                  <a:close/>
                </a:path>
              </a:pathLst>
            </a:custGeom>
            <a:solidFill>
              <a:srgbClr val="1C5739"/>
            </a:solidFill>
          </p:spPr>
          <p:txBody>
            <a:bodyPr/>
            <a:lstStyle/>
            <a:p>
              <a:endParaRPr lang="en-US"/>
            </a:p>
          </p:txBody>
        </p:sp>
        <p:sp>
          <p:nvSpPr>
            <p:cNvPr id="8" name="TextBox 8"/>
            <p:cNvSpPr txBox="1"/>
            <p:nvPr/>
          </p:nvSpPr>
          <p:spPr>
            <a:xfrm>
              <a:off x="0" y="-19050"/>
              <a:ext cx="812800" cy="2995155"/>
            </a:xfrm>
            <a:prstGeom prst="rect">
              <a:avLst/>
            </a:prstGeom>
          </p:spPr>
          <p:txBody>
            <a:bodyPr lIns="50800" tIns="50800" rIns="50800" bIns="50800" rtlCol="0" anchor="ctr"/>
            <a:lstStyle/>
            <a:p>
              <a:pPr algn="ctr">
                <a:lnSpc>
                  <a:spcPts val="2859"/>
                </a:lnSpc>
              </a:pPr>
              <a:endParaRPr/>
            </a:p>
          </p:txBody>
        </p:sp>
      </p:grpSp>
      <p:grpSp>
        <p:nvGrpSpPr>
          <p:cNvPr id="9" name="Group 9"/>
          <p:cNvGrpSpPr/>
          <p:nvPr/>
        </p:nvGrpSpPr>
        <p:grpSpPr>
          <a:xfrm>
            <a:off x="17503674" y="0"/>
            <a:ext cx="392266" cy="10287000"/>
            <a:chOff x="0" y="0"/>
            <a:chExt cx="93628" cy="2455363"/>
          </a:xfrm>
        </p:grpSpPr>
        <p:sp>
          <p:nvSpPr>
            <p:cNvPr id="10" name="Freeform 10"/>
            <p:cNvSpPr/>
            <p:nvPr/>
          </p:nvSpPr>
          <p:spPr>
            <a:xfrm>
              <a:off x="0" y="0"/>
              <a:ext cx="93628" cy="2455363"/>
            </a:xfrm>
            <a:custGeom>
              <a:avLst/>
              <a:gdLst/>
              <a:ahLst/>
              <a:cxnLst/>
              <a:rect l="l" t="t" r="r" b="b"/>
              <a:pathLst>
                <a:path w="93628" h="2455363">
                  <a:moveTo>
                    <a:pt x="0" y="0"/>
                  </a:moveTo>
                  <a:lnTo>
                    <a:pt x="93628" y="0"/>
                  </a:lnTo>
                  <a:lnTo>
                    <a:pt x="93628" y="2455363"/>
                  </a:lnTo>
                  <a:lnTo>
                    <a:pt x="0" y="2455363"/>
                  </a:lnTo>
                  <a:close/>
                </a:path>
              </a:pathLst>
            </a:custGeom>
            <a:solidFill>
              <a:srgbClr val="FFFFFF"/>
            </a:solidFill>
          </p:spPr>
          <p:txBody>
            <a:bodyPr/>
            <a:lstStyle/>
            <a:p>
              <a:endParaRPr lang="en-US"/>
            </a:p>
          </p:txBody>
        </p:sp>
        <p:sp>
          <p:nvSpPr>
            <p:cNvPr id="11" name="TextBox 11"/>
            <p:cNvSpPr txBox="1"/>
            <p:nvPr/>
          </p:nvSpPr>
          <p:spPr>
            <a:xfrm>
              <a:off x="0" y="-19050"/>
              <a:ext cx="93628" cy="2474413"/>
            </a:xfrm>
            <a:prstGeom prst="rect">
              <a:avLst/>
            </a:prstGeom>
          </p:spPr>
          <p:txBody>
            <a:bodyPr lIns="50800" tIns="50800" rIns="50800" bIns="50800" rtlCol="0" anchor="ctr"/>
            <a:lstStyle/>
            <a:p>
              <a:pPr algn="ctr">
                <a:lnSpc>
                  <a:spcPts val="2859"/>
                </a:lnSpc>
              </a:pPr>
              <a:endParaRPr/>
            </a:p>
          </p:txBody>
        </p:sp>
      </p:grpSp>
      <p:sp>
        <p:nvSpPr>
          <p:cNvPr id="12" name="Freeform 12"/>
          <p:cNvSpPr/>
          <p:nvPr/>
        </p:nvSpPr>
        <p:spPr>
          <a:xfrm>
            <a:off x="16399025" y="8219432"/>
            <a:ext cx="3777949" cy="2067568"/>
          </a:xfrm>
          <a:custGeom>
            <a:avLst/>
            <a:gdLst/>
            <a:ahLst/>
            <a:cxnLst/>
            <a:rect l="l" t="t" r="r" b="b"/>
            <a:pathLst>
              <a:path w="3777949" h="2067568">
                <a:moveTo>
                  <a:pt x="0" y="0"/>
                </a:moveTo>
                <a:lnTo>
                  <a:pt x="3777950" y="0"/>
                </a:lnTo>
                <a:lnTo>
                  <a:pt x="3777950" y="2067568"/>
                </a:lnTo>
                <a:lnTo>
                  <a:pt x="0" y="20675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5" name="TextBox 14">
            <a:extLst>
              <a:ext uri="{FF2B5EF4-FFF2-40B4-BE49-F238E27FC236}">
                <a16:creationId xmlns:a16="http://schemas.microsoft.com/office/drawing/2014/main" id="{F0F3BC03-9782-2CE2-4F71-1C6BC5709DD3}"/>
              </a:ext>
            </a:extLst>
          </p:cNvPr>
          <p:cNvSpPr txBox="1"/>
          <p:nvPr/>
        </p:nvSpPr>
        <p:spPr>
          <a:xfrm>
            <a:off x="1340303" y="1299412"/>
            <a:ext cx="10242134" cy="1323439"/>
          </a:xfrm>
          <a:prstGeom prst="rect">
            <a:avLst/>
          </a:prstGeom>
          <a:noFill/>
        </p:spPr>
        <p:txBody>
          <a:bodyPr wrap="square">
            <a:spAutoFit/>
          </a:bodyPr>
          <a:lstStyle/>
          <a:p>
            <a:pPr>
              <a:spcBef>
                <a:spcPct val="0"/>
              </a:spcBef>
            </a:pPr>
            <a:r>
              <a:rPr lang="en-US" sz="4400" b="1" dirty="0">
                <a:solidFill>
                  <a:srgbClr val="1C5739"/>
                </a:solidFill>
              </a:rPr>
              <a:t>Multimodal Exam Assessment Platform</a:t>
            </a:r>
            <a:endParaRPr lang="en-US" sz="4400" b="1" spc="44" dirty="0">
              <a:solidFill>
                <a:srgbClr val="1C5739"/>
              </a:solidFill>
              <a:latin typeface="Poppins Semi-Bold"/>
              <a:ea typeface="Poppins Semi-Bold"/>
              <a:cs typeface="Poppins Semi-Bold"/>
              <a:sym typeface="Poppins Semi-Bold"/>
            </a:endParaRPr>
          </a:p>
          <a:p>
            <a:pPr algn="l" rtl="0">
              <a:buNone/>
            </a:pPr>
            <a:r>
              <a:rPr lang="en-US" sz="3600" b="1" i="0" dirty="0">
                <a:solidFill>
                  <a:schemeClr val="tx1"/>
                </a:solidFill>
                <a:effectLst/>
              </a:rPr>
              <a:t>Comments for the PP2</a:t>
            </a:r>
            <a:endParaRPr lang="en-US" sz="2400" dirty="0">
              <a:effectLst/>
            </a:endParaRPr>
          </a:p>
        </p:txBody>
      </p:sp>
      <p:graphicFrame>
        <p:nvGraphicFramePr>
          <p:cNvPr id="4" name="Table 3">
            <a:extLst>
              <a:ext uri="{FF2B5EF4-FFF2-40B4-BE49-F238E27FC236}">
                <a16:creationId xmlns:a16="http://schemas.microsoft.com/office/drawing/2014/main" id="{B4E90DD3-7F37-0ECA-D563-174DB891198D}"/>
              </a:ext>
            </a:extLst>
          </p:cNvPr>
          <p:cNvGraphicFramePr>
            <a:graphicFrameLocks noGrp="1"/>
          </p:cNvGraphicFramePr>
          <p:nvPr>
            <p:extLst>
              <p:ext uri="{D42A27DB-BD31-4B8C-83A1-F6EECF244321}">
                <p14:modId xmlns:p14="http://schemas.microsoft.com/office/powerpoint/2010/main" val="772846380"/>
              </p:ext>
            </p:extLst>
          </p:nvPr>
        </p:nvGraphicFramePr>
        <p:xfrm>
          <a:off x="152399" y="2622851"/>
          <a:ext cx="14935201" cy="7125692"/>
        </p:xfrm>
        <a:graphic>
          <a:graphicData uri="http://schemas.openxmlformats.org/drawingml/2006/table">
            <a:tbl>
              <a:tblPr firstRow="1" bandRow="1">
                <a:tableStyleId>{073A0DAA-6AF3-43AB-8588-CEC1D06C72B9}</a:tableStyleId>
              </a:tblPr>
              <a:tblGrid>
                <a:gridCol w="1512425">
                  <a:extLst>
                    <a:ext uri="{9D8B030D-6E8A-4147-A177-3AD203B41FA5}">
                      <a16:colId xmlns:a16="http://schemas.microsoft.com/office/drawing/2014/main" val="920139944"/>
                    </a:ext>
                  </a:extLst>
                </a:gridCol>
                <a:gridCol w="3856685">
                  <a:extLst>
                    <a:ext uri="{9D8B030D-6E8A-4147-A177-3AD203B41FA5}">
                      <a16:colId xmlns:a16="http://schemas.microsoft.com/office/drawing/2014/main" val="2910902684"/>
                    </a:ext>
                  </a:extLst>
                </a:gridCol>
                <a:gridCol w="4612897">
                  <a:extLst>
                    <a:ext uri="{9D8B030D-6E8A-4147-A177-3AD203B41FA5}">
                      <a16:colId xmlns:a16="http://schemas.microsoft.com/office/drawing/2014/main" val="3945091420"/>
                    </a:ext>
                  </a:extLst>
                </a:gridCol>
                <a:gridCol w="4953194">
                  <a:extLst>
                    <a:ext uri="{9D8B030D-6E8A-4147-A177-3AD203B41FA5}">
                      <a16:colId xmlns:a16="http://schemas.microsoft.com/office/drawing/2014/main" val="169112454"/>
                    </a:ext>
                  </a:extLst>
                </a:gridCol>
              </a:tblGrid>
              <a:tr h="999212">
                <a:tc>
                  <a:txBody>
                    <a:bodyPr/>
                    <a:lstStyle/>
                    <a:p>
                      <a:pPr algn="ctr"/>
                      <a:r>
                        <a:rPr lang="en-US" sz="2400" dirty="0"/>
                        <a:t>IT Number</a:t>
                      </a:r>
                    </a:p>
                  </a:txBody>
                  <a:tcPr anchor="ctr"/>
                </a:tc>
                <a:tc>
                  <a:txBody>
                    <a:bodyPr/>
                    <a:lstStyle/>
                    <a:p>
                      <a:pPr algn="ctr"/>
                      <a:r>
                        <a:rPr lang="en-US" sz="2400" dirty="0"/>
                        <a:t>Comment</a:t>
                      </a:r>
                    </a:p>
                  </a:txBody>
                  <a:tcPr anchor="ctr"/>
                </a:tc>
                <a:tc>
                  <a:txBody>
                    <a:bodyPr/>
                    <a:lstStyle/>
                    <a:p>
                      <a:pPr algn="ctr"/>
                      <a:r>
                        <a:rPr lang="en-US" sz="2400" dirty="0"/>
                        <a:t>Action</a:t>
                      </a:r>
                    </a:p>
                  </a:txBody>
                  <a:tcPr anchor="ctr"/>
                </a:tc>
                <a:tc>
                  <a:txBody>
                    <a:bodyPr/>
                    <a:lstStyle/>
                    <a:p>
                      <a:pPr algn="ctr"/>
                      <a:r>
                        <a:rPr lang="en-US" sz="2400" dirty="0"/>
                        <a:t>Evidence / Outcome</a:t>
                      </a:r>
                    </a:p>
                  </a:txBody>
                  <a:tcPr anchor="ctr"/>
                </a:tc>
                <a:extLst>
                  <a:ext uri="{0D108BD9-81ED-4DB2-BD59-A6C34878D82A}">
                    <a16:rowId xmlns:a16="http://schemas.microsoft.com/office/drawing/2014/main" val="3962803710"/>
                  </a:ext>
                </a:extLst>
              </a:tr>
              <a:tr h="999212">
                <a:tc>
                  <a:txBody>
                    <a:bodyPr/>
                    <a:lstStyle/>
                    <a:p>
                      <a:pPr algn="ctr"/>
                      <a:r>
                        <a:rPr lang="en-US" dirty="0"/>
                        <a:t>IT22262554</a:t>
                      </a:r>
                    </a:p>
                  </a:txBody>
                  <a:tcPr anchor="ctr"/>
                </a:tc>
                <a:tc>
                  <a:txBody>
                    <a:bodyPr/>
                    <a:lstStyle/>
                    <a:p>
                      <a:pPr algn="l"/>
                      <a:r>
                        <a:rPr lang="en-US" dirty="0"/>
                        <a:t>Still, have some unsupported ER annotations and need to evaluate the model with different evaluation metrics.</a:t>
                      </a:r>
                    </a:p>
                  </a:txBody>
                  <a:tcPr anchor="ctr"/>
                </a:tc>
                <a:tc>
                  <a:txBody>
                    <a:bodyPr/>
                    <a:lstStyle/>
                    <a:p>
                      <a:pPr lvl="0" algn="l"/>
                      <a:r>
                        <a:rPr lang="en-US" dirty="0"/>
                        <a:t>Fine-tune the model, automate primary key identification, and implement question-based evaluation metrics.</a:t>
                      </a:r>
                    </a:p>
                  </a:txBody>
                  <a:tcPr anchor="ctr"/>
                </a:tc>
                <a:tc>
                  <a:txBody>
                    <a:bodyPr/>
                    <a:lstStyle/>
                    <a:p>
                      <a:pPr algn="l"/>
                      <a:r>
                        <a:rPr lang="en-US" dirty="0"/>
                        <a:t>System evaluated and validated by an academic expert for accuracy and reliability.</a:t>
                      </a:r>
                    </a:p>
                  </a:txBody>
                  <a:tcPr anchor="ctr"/>
                </a:tc>
                <a:extLst>
                  <a:ext uri="{0D108BD9-81ED-4DB2-BD59-A6C34878D82A}">
                    <a16:rowId xmlns:a16="http://schemas.microsoft.com/office/drawing/2014/main" val="2312872831"/>
                  </a:ext>
                </a:extLst>
              </a:tr>
              <a:tr h="999212">
                <a:tc>
                  <a:txBody>
                    <a:bodyPr/>
                    <a:lstStyle/>
                    <a:p>
                      <a:pPr algn="ctr"/>
                      <a:r>
                        <a:rPr lang="en-US" dirty="0"/>
                        <a:t>IT22134776</a:t>
                      </a:r>
                    </a:p>
                  </a:txBody>
                  <a:tcPr anchor="ctr"/>
                </a:tc>
                <a:tc>
                  <a:txBody>
                    <a:bodyPr/>
                    <a:lstStyle/>
                    <a:p>
                      <a:pPr algn="l"/>
                      <a:r>
                        <a:rPr lang="en-US" dirty="0"/>
                        <a:t>Think how robust is your component when OCR/parsing from handwritten material is wrong or when another component provides low-confidence data? Show an error-propagation or fallback strategy.</a:t>
                      </a:r>
                    </a:p>
                  </a:txBody>
                  <a:tcPr anchor="ctr"/>
                </a:tc>
                <a:tc>
                  <a:txBody>
                    <a:bodyPr/>
                    <a:lstStyle/>
                    <a:p>
                      <a:pPr algn="l"/>
                      <a:r>
                        <a:rPr lang="en-US" dirty="0"/>
                        <a:t>Implemented input validation, review flags for low-confidence Bloom classifications, isolation of invalid submissions, and deterministic recommendations when the LLM is unavailable.</a:t>
                      </a:r>
                    </a:p>
                  </a:txBody>
                  <a:tcPr anchor="ctr"/>
                </a:tc>
                <a:tc>
                  <a:txBody>
                    <a:bodyPr/>
                    <a:lstStyle/>
                    <a:p>
                      <a:pPr algn="l"/>
                      <a:r>
                        <a:rPr lang="en-US" dirty="0"/>
                        <a:t>Repository code and tests cover malformed grading data, individual submission failures, and LLM fallback behavior. Invalid data is rejected instead of treated as zero marks, while valid submissions continue processing.</a:t>
                      </a:r>
                    </a:p>
                  </a:txBody>
                  <a:tcPr anchor="ctr"/>
                </a:tc>
                <a:extLst>
                  <a:ext uri="{0D108BD9-81ED-4DB2-BD59-A6C34878D82A}">
                    <a16:rowId xmlns:a16="http://schemas.microsoft.com/office/drawing/2014/main" val="928962142"/>
                  </a:ext>
                </a:extLst>
              </a:tr>
              <a:tr h="999212">
                <a:tc>
                  <a:txBody>
                    <a:bodyPr/>
                    <a:lstStyle/>
                    <a:p>
                      <a:pPr algn="ctr"/>
                      <a:r>
                        <a:rPr lang="en-US" dirty="0"/>
                        <a:t>IT22557056</a:t>
                      </a:r>
                    </a:p>
                  </a:txBody>
                  <a:tcPr anchor="ctr"/>
                </a:tc>
                <a:tc>
                  <a:txBody>
                    <a:bodyPr/>
                    <a:lstStyle/>
                    <a:p>
                      <a:pPr algn="l"/>
                      <a:r>
                        <a:rPr lang="en-US" dirty="0"/>
                        <a:t>How do you address accent, speaking style, nervousness, disability, camera quality, and demographic bias so that non-content signals do not unfairly determine academic marks?</a:t>
                      </a:r>
                    </a:p>
                  </a:txBody>
                  <a:tcPr anchor="ctr"/>
                </a:tc>
                <a:tc>
                  <a:txBody>
                    <a:bodyPr/>
                    <a:lstStyle/>
                    <a:p>
                      <a:pPr algn="l"/>
                      <a:r>
                        <a:rPr lang="en-US" dirty="0"/>
                        <a:t>Use mobile camera recordings, Whisper-based transcription, content-focused grading, disability accommodations, and demographic bias exclusion, while testing the fine-tuned model on diverse video datasets to ensure fair and reliable academic assessment.</a:t>
                      </a:r>
                    </a:p>
                  </a:txBody>
                  <a:tcPr anchor="ctr"/>
                </a:tc>
                <a:tc>
                  <a:txBody>
                    <a:bodyPr/>
                    <a:lstStyle/>
                    <a:p>
                      <a:pPr algn="l"/>
                      <a:r>
                        <a:rPr lang="en-US" dirty="0"/>
                        <a:t>Conducted user testing with real student viva recordings and validated the system with academic experts to assess grading accuracy, fairness, and reliability across diverse responses.</a:t>
                      </a:r>
                    </a:p>
                  </a:txBody>
                  <a:tcPr anchor="ctr"/>
                </a:tc>
                <a:extLst>
                  <a:ext uri="{0D108BD9-81ED-4DB2-BD59-A6C34878D82A}">
                    <a16:rowId xmlns:a16="http://schemas.microsoft.com/office/drawing/2014/main" val="827724711"/>
                  </a:ext>
                </a:extLst>
              </a:tr>
              <a:tr h="999212">
                <a:tc>
                  <a:txBody>
                    <a:bodyPr/>
                    <a:lstStyle/>
                    <a:p>
                      <a:pPr algn="ctr"/>
                      <a:r>
                        <a:rPr lang="en-US" dirty="0"/>
                        <a:t>IT22239198</a:t>
                      </a:r>
                    </a:p>
                  </a:txBody>
                  <a:tcPr anchor="ctr"/>
                </a:tc>
                <a:tc>
                  <a:txBody>
                    <a:bodyPr/>
                    <a:lstStyle/>
                    <a:p>
                      <a:pPr algn="l"/>
                      <a:r>
                        <a:rPr lang="en-US" dirty="0"/>
                        <a:t>At proposal stage, essay-type grading was suggested. What answer types are supported now-short answers, essays, equations, diagrams-and what remains outside scope?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Modified the AI model prompt to support essay grading, updated the dataset during the initial development phase, and tested the model using essay-based questions to evaluate its performance</a:t>
                      </a:r>
                    </a:p>
                  </a:txBody>
                  <a:tcPr anchor="ctr"/>
                </a:tc>
                <a:tc>
                  <a:txBody>
                    <a:bodyPr/>
                    <a:lstStyle/>
                    <a:p>
                      <a:pPr algn="l"/>
                      <a:r>
                        <a:rPr lang="en-US" dirty="0"/>
                        <a:t>Prepared essay questions and model answers for demonstration and validation purposes, and reviewed the grading results with a subject-matter lecturer to verify the accuracy and relevance of the outcomes</a:t>
                      </a:r>
                    </a:p>
                  </a:txBody>
                  <a:tcPr anchor="ctr"/>
                </a:tc>
                <a:extLst>
                  <a:ext uri="{0D108BD9-81ED-4DB2-BD59-A6C34878D82A}">
                    <a16:rowId xmlns:a16="http://schemas.microsoft.com/office/drawing/2014/main" val="1666190632"/>
                  </a:ext>
                </a:extLst>
              </a:tr>
            </a:tbl>
          </a:graphicData>
        </a:graphic>
      </p:graphicFrame>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txBody>
          <a:bodyPr/>
          <a:lstStyle/>
          <a:p>
            <a:endParaRPr lang="en-US"/>
          </a:p>
        </p:txBody>
      </p:sp>
      <p:sp>
        <p:nvSpPr>
          <p:cNvPr id="3" name="TextBox 3"/>
          <p:cNvSpPr txBox="1"/>
          <p:nvPr/>
        </p:nvSpPr>
        <p:spPr>
          <a:xfrm>
            <a:off x="5251333" y="4687341"/>
            <a:ext cx="9815765" cy="1491616"/>
          </a:xfrm>
          <a:prstGeom prst="rect">
            <a:avLst/>
          </a:prstGeom>
        </p:spPr>
        <p:txBody>
          <a:bodyPr lIns="0" tIns="0" rIns="0" bIns="0" rtlCol="0" anchor="t">
            <a:spAutoFit/>
          </a:bodyPr>
          <a:lstStyle/>
          <a:p>
            <a:pPr marL="0" lvl="0" indent="0" algn="ctr">
              <a:lnSpc>
                <a:spcPts val="10230"/>
              </a:lnSpc>
            </a:pPr>
            <a:r>
              <a:rPr lang="en-US" sz="11000" spc="1188">
                <a:solidFill>
                  <a:srgbClr val="231F20"/>
                </a:solidFill>
                <a:latin typeface="Poppins"/>
                <a:ea typeface="Poppins"/>
                <a:cs typeface="Poppins"/>
                <a:sym typeface="Poppins"/>
              </a:rPr>
              <a:t>THANK YOU</a:t>
            </a:r>
          </a:p>
        </p:txBody>
      </p:sp>
      <p:grpSp>
        <p:nvGrpSpPr>
          <p:cNvPr id="4" name="Group 4"/>
          <p:cNvGrpSpPr/>
          <p:nvPr/>
        </p:nvGrpSpPr>
        <p:grpSpPr>
          <a:xfrm rot="826432">
            <a:off x="-18353104" y="-3567159"/>
            <a:ext cx="21026341" cy="12831921"/>
            <a:chOff x="0" y="0"/>
            <a:chExt cx="5537802" cy="3379601"/>
          </a:xfrm>
        </p:grpSpPr>
        <p:sp>
          <p:nvSpPr>
            <p:cNvPr id="5" name="Freeform 5"/>
            <p:cNvSpPr/>
            <p:nvPr/>
          </p:nvSpPr>
          <p:spPr>
            <a:xfrm>
              <a:off x="0" y="0"/>
              <a:ext cx="5537802" cy="3379601"/>
            </a:xfrm>
            <a:custGeom>
              <a:avLst/>
              <a:gdLst/>
              <a:ahLst/>
              <a:cxnLst/>
              <a:rect l="l" t="t" r="r" b="b"/>
              <a:pathLst>
                <a:path w="5537802" h="3379601">
                  <a:moveTo>
                    <a:pt x="0" y="0"/>
                  </a:moveTo>
                  <a:lnTo>
                    <a:pt x="5537802" y="0"/>
                  </a:lnTo>
                  <a:lnTo>
                    <a:pt x="5537802" y="3379601"/>
                  </a:lnTo>
                  <a:lnTo>
                    <a:pt x="0" y="3379601"/>
                  </a:lnTo>
                  <a:close/>
                </a:path>
              </a:pathLst>
            </a:custGeom>
            <a:solidFill>
              <a:srgbClr val="1C5739"/>
            </a:solidFill>
          </p:spPr>
          <p:txBody>
            <a:bodyPr/>
            <a:lstStyle/>
            <a:p>
              <a:endParaRPr lang="en-US"/>
            </a:p>
          </p:txBody>
        </p:sp>
        <p:sp>
          <p:nvSpPr>
            <p:cNvPr id="6" name="TextBox 6"/>
            <p:cNvSpPr txBox="1"/>
            <p:nvPr/>
          </p:nvSpPr>
          <p:spPr>
            <a:xfrm>
              <a:off x="0" y="-19050"/>
              <a:ext cx="5537802" cy="3398651"/>
            </a:xfrm>
            <a:prstGeom prst="rect">
              <a:avLst/>
            </a:prstGeom>
          </p:spPr>
          <p:txBody>
            <a:bodyPr lIns="50800" tIns="50800" rIns="50800" bIns="50800" rtlCol="0" anchor="ctr"/>
            <a:lstStyle/>
            <a:p>
              <a:pPr algn="ctr">
                <a:lnSpc>
                  <a:spcPts val="2859"/>
                </a:lnSpc>
              </a:pPr>
              <a:endParaRPr/>
            </a:p>
          </p:txBody>
        </p:sp>
      </p:grpSp>
      <p:grpSp>
        <p:nvGrpSpPr>
          <p:cNvPr id="7" name="Group 7"/>
          <p:cNvGrpSpPr/>
          <p:nvPr/>
        </p:nvGrpSpPr>
        <p:grpSpPr>
          <a:xfrm rot="773821">
            <a:off x="17339765" y="5037444"/>
            <a:ext cx="2125236" cy="8482349"/>
            <a:chOff x="0" y="0"/>
            <a:chExt cx="559733" cy="2234034"/>
          </a:xfrm>
        </p:grpSpPr>
        <p:sp>
          <p:nvSpPr>
            <p:cNvPr id="8" name="Freeform 8"/>
            <p:cNvSpPr/>
            <p:nvPr/>
          </p:nvSpPr>
          <p:spPr>
            <a:xfrm>
              <a:off x="0" y="0"/>
              <a:ext cx="559733" cy="2234034"/>
            </a:xfrm>
            <a:custGeom>
              <a:avLst/>
              <a:gdLst/>
              <a:ahLst/>
              <a:cxnLst/>
              <a:rect l="l" t="t" r="r" b="b"/>
              <a:pathLst>
                <a:path w="559733" h="2234034">
                  <a:moveTo>
                    <a:pt x="0" y="0"/>
                  </a:moveTo>
                  <a:lnTo>
                    <a:pt x="559733" y="0"/>
                  </a:lnTo>
                  <a:lnTo>
                    <a:pt x="559733" y="2234034"/>
                  </a:lnTo>
                  <a:lnTo>
                    <a:pt x="0" y="2234034"/>
                  </a:lnTo>
                  <a:close/>
                </a:path>
              </a:pathLst>
            </a:custGeom>
            <a:solidFill>
              <a:srgbClr val="1C5739"/>
            </a:solidFill>
          </p:spPr>
          <p:txBody>
            <a:bodyPr/>
            <a:lstStyle/>
            <a:p>
              <a:endParaRPr lang="en-US"/>
            </a:p>
          </p:txBody>
        </p:sp>
        <p:sp>
          <p:nvSpPr>
            <p:cNvPr id="9" name="TextBox 9"/>
            <p:cNvSpPr txBox="1"/>
            <p:nvPr/>
          </p:nvSpPr>
          <p:spPr>
            <a:xfrm>
              <a:off x="0" y="-19050"/>
              <a:ext cx="559733" cy="2253084"/>
            </a:xfrm>
            <a:prstGeom prst="rect">
              <a:avLst/>
            </a:prstGeom>
          </p:spPr>
          <p:txBody>
            <a:bodyPr lIns="50800" tIns="50800" rIns="50800" bIns="50800" rtlCol="0" anchor="ctr"/>
            <a:lstStyle/>
            <a:p>
              <a:pPr algn="ctr">
                <a:lnSpc>
                  <a:spcPts val="2859"/>
                </a:lnSpc>
              </a:pPr>
              <a:endParaRPr/>
            </a:p>
          </p:txBody>
        </p:sp>
      </p:grpSp>
      <p:grpSp>
        <p:nvGrpSpPr>
          <p:cNvPr id="10" name="Group 10"/>
          <p:cNvGrpSpPr/>
          <p:nvPr/>
        </p:nvGrpSpPr>
        <p:grpSpPr>
          <a:xfrm rot="773821">
            <a:off x="3741572" y="-4834013"/>
            <a:ext cx="313833" cy="8482349"/>
            <a:chOff x="0" y="0"/>
            <a:chExt cx="82656" cy="2234034"/>
          </a:xfrm>
        </p:grpSpPr>
        <p:sp>
          <p:nvSpPr>
            <p:cNvPr id="11" name="Freeform 11"/>
            <p:cNvSpPr/>
            <p:nvPr/>
          </p:nvSpPr>
          <p:spPr>
            <a:xfrm>
              <a:off x="0" y="0"/>
              <a:ext cx="82656" cy="2234034"/>
            </a:xfrm>
            <a:custGeom>
              <a:avLst/>
              <a:gdLst/>
              <a:ahLst/>
              <a:cxnLst/>
              <a:rect l="l" t="t" r="r" b="b"/>
              <a:pathLst>
                <a:path w="82656" h="2234034">
                  <a:moveTo>
                    <a:pt x="0" y="0"/>
                  </a:moveTo>
                  <a:lnTo>
                    <a:pt x="82656" y="0"/>
                  </a:lnTo>
                  <a:lnTo>
                    <a:pt x="82656" y="2234034"/>
                  </a:lnTo>
                  <a:lnTo>
                    <a:pt x="0" y="2234034"/>
                  </a:lnTo>
                  <a:close/>
                </a:path>
              </a:pathLst>
            </a:custGeom>
            <a:solidFill>
              <a:srgbClr val="397D5A"/>
            </a:solidFill>
          </p:spPr>
          <p:txBody>
            <a:bodyPr/>
            <a:lstStyle/>
            <a:p>
              <a:endParaRPr lang="en-US"/>
            </a:p>
          </p:txBody>
        </p:sp>
        <p:sp>
          <p:nvSpPr>
            <p:cNvPr id="12" name="TextBox 12"/>
            <p:cNvSpPr txBox="1"/>
            <p:nvPr/>
          </p:nvSpPr>
          <p:spPr>
            <a:xfrm>
              <a:off x="0" y="-19050"/>
              <a:ext cx="82656" cy="2253084"/>
            </a:xfrm>
            <a:prstGeom prst="rect">
              <a:avLst/>
            </a:prstGeom>
          </p:spPr>
          <p:txBody>
            <a:bodyPr lIns="50800" tIns="50800" rIns="50800" bIns="50800" rtlCol="0" anchor="ctr"/>
            <a:lstStyle/>
            <a:p>
              <a:pPr algn="ctr">
                <a:lnSpc>
                  <a:spcPts val="2859"/>
                </a:lnSpc>
              </a:pPr>
              <a:endParaRPr/>
            </a:p>
          </p:txBody>
        </p:sp>
      </p:grpSp>
      <p:grpSp>
        <p:nvGrpSpPr>
          <p:cNvPr id="13" name="Group 13"/>
          <p:cNvGrpSpPr/>
          <p:nvPr/>
        </p:nvGrpSpPr>
        <p:grpSpPr>
          <a:xfrm rot="773821">
            <a:off x="16723216" y="8165782"/>
            <a:ext cx="330840" cy="4547237"/>
            <a:chOff x="0" y="0"/>
            <a:chExt cx="87135" cy="1197626"/>
          </a:xfrm>
        </p:grpSpPr>
        <p:sp>
          <p:nvSpPr>
            <p:cNvPr id="14" name="Freeform 14"/>
            <p:cNvSpPr/>
            <p:nvPr/>
          </p:nvSpPr>
          <p:spPr>
            <a:xfrm>
              <a:off x="0" y="0"/>
              <a:ext cx="87135" cy="1197626"/>
            </a:xfrm>
            <a:custGeom>
              <a:avLst/>
              <a:gdLst/>
              <a:ahLst/>
              <a:cxnLst/>
              <a:rect l="l" t="t" r="r" b="b"/>
              <a:pathLst>
                <a:path w="87135" h="1197626">
                  <a:moveTo>
                    <a:pt x="0" y="0"/>
                  </a:moveTo>
                  <a:lnTo>
                    <a:pt x="87135" y="0"/>
                  </a:lnTo>
                  <a:lnTo>
                    <a:pt x="87135" y="1197626"/>
                  </a:lnTo>
                  <a:lnTo>
                    <a:pt x="0" y="1197626"/>
                  </a:lnTo>
                  <a:close/>
                </a:path>
              </a:pathLst>
            </a:custGeom>
            <a:solidFill>
              <a:srgbClr val="397D5A"/>
            </a:solidFill>
          </p:spPr>
          <p:txBody>
            <a:bodyPr/>
            <a:lstStyle/>
            <a:p>
              <a:endParaRPr lang="en-US"/>
            </a:p>
          </p:txBody>
        </p:sp>
        <p:sp>
          <p:nvSpPr>
            <p:cNvPr id="15" name="TextBox 15"/>
            <p:cNvSpPr txBox="1"/>
            <p:nvPr/>
          </p:nvSpPr>
          <p:spPr>
            <a:xfrm>
              <a:off x="0" y="-19050"/>
              <a:ext cx="87135" cy="1216676"/>
            </a:xfrm>
            <a:prstGeom prst="rect">
              <a:avLst/>
            </a:prstGeom>
          </p:spPr>
          <p:txBody>
            <a:bodyPr lIns="50800" tIns="50800" rIns="50800" bIns="50800" rtlCol="0" anchor="ctr"/>
            <a:lstStyle/>
            <a:p>
              <a:pPr algn="ctr">
                <a:lnSpc>
                  <a:spcPts val="2859"/>
                </a:lnSpc>
              </a:pPr>
              <a:endParaRPr/>
            </a:p>
          </p:txBody>
        </p:sp>
      </p:gr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210</TotalTime>
  <Words>1041</Words>
  <Application>Microsoft Office PowerPoint</Application>
  <PresentationFormat>Custom</PresentationFormat>
  <Paragraphs>91</Paragraphs>
  <Slides>9</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9</vt:i4>
      </vt:variant>
    </vt:vector>
  </HeadingPairs>
  <TitlesOfParts>
    <vt:vector size="21" baseType="lpstr">
      <vt:lpstr>Open Sauce Bold</vt:lpstr>
      <vt:lpstr>Aptos</vt:lpstr>
      <vt:lpstr>Poppins</vt:lpstr>
      <vt:lpstr>Signika Bold</vt:lpstr>
      <vt:lpstr>Pragmatica</vt:lpstr>
      <vt:lpstr>DM Sans</vt:lpstr>
      <vt:lpstr>Calibri</vt:lpstr>
      <vt:lpstr>Arial</vt:lpstr>
      <vt:lpstr>Poppins Semi-Bold</vt:lpstr>
      <vt:lpstr>DM Sans Bold</vt:lpstr>
      <vt:lpstr>Open Sauce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minimalist professional Business Proposal Presentation</dc:title>
  <dc:creator>User</dc:creator>
  <cp:lastModifiedBy>SENARATHNA A.M it22262554</cp:lastModifiedBy>
  <cp:revision>15</cp:revision>
  <dcterms:created xsi:type="dcterms:W3CDTF">2006-08-16T00:00:00Z</dcterms:created>
  <dcterms:modified xsi:type="dcterms:W3CDTF">2026-10-20T16:06:57Z</dcterms:modified>
  <dc:identifier>DAHYQzWZXoY</dc:identifier>
</cp:coreProperties>
</file>